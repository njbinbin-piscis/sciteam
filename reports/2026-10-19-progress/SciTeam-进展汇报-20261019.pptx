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撞上时间保险丝的比例</c:v>
                </c:pt>
              </c:strCache>
            </c:strRef>
          </c:tx>
          <c:spPr>
            <a:solidFill>
              <a:srgbClr val="1F2A44"/>
            </a:solidFill>
          </c:spPr>
          <c:cat>
            <c:strRef>
              <c:f>Sheet1!$A$2:$A$4</c:f>
              <c:strCache>
                <c:ptCount val="3"/>
                <c:pt idx="0">
                  <c:v>不加处理</c:v>
                </c:pt>
                <c:pt idx="1">
                  <c:v>程序自动叫停</c:v>
                </c:pt>
                <c:pt idx="2">
                  <c:v>审核员有权放弃</c:v>
                </c:pt>
              </c:strCache>
            </c:strRef>
          </c:cat>
          <c:val>
            <c:numRef>
              <c:f>Sheet1!$B$2:$B$4</c:f>
              <c:numCache>
                <c:formatCode>General</c:formatCode>
                <c:ptCount val="3"/>
                <c:pt idx="0">
                  <c:v>0.9</c:v>
                </c:pt>
                <c:pt idx="1">
                  <c:v>0.8</c:v>
                </c:pt>
                <c:pt idx="2">
                  <c:v>0.3</c:v>
                </c:pt>
              </c:numCache>
            </c:numRef>
          </c:val>
        </c:ser>
        <c:dLbls>
          <c:numFmt formatCode="0%" sourceLinked="0"/>
          <c:txPr>
            <a:bodyPr/>
            <a:lstStyle/>
            <a:p>
              <a:pPr>
                <a:defRPr sz="1100">
                  <a:latin typeface="Noto Sans CJK SC"/>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200">
                <a:latin typeface="Noto Sans CJK SC"/>
              </a:defRPr>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txPr>
          <a:bodyPr/>
          <a:lstStyle/>
          <a:p>
            <a:pPr>
              <a:defRPr sz="10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团队说「完成」的比例</c:v>
                </c:pt>
              </c:strCache>
            </c:strRef>
          </c:tx>
          <c:spPr>
            <a:solidFill>
              <a:srgbClr val="1F2A44"/>
            </a:solidFill>
          </c:spPr>
          <c:cat>
            <c:strRef>
              <c:f>Sheet1!$A$2:$A$4</c:f>
              <c:strCache>
                <c:ptCount val="3"/>
                <c:pt idx="0">
                  <c:v>对照组
（不比对）</c:v>
                </c:pt>
                <c:pt idx="1">
                  <c:v>同模型双盲</c:v>
                </c:pt>
                <c:pt idx="2">
                  <c:v>跨模型双盲</c:v>
                </c:pt>
              </c:strCache>
            </c:strRef>
          </c:cat>
          <c:val>
            <c:numRef>
              <c:f>Sheet1!$B$2:$B$4</c:f>
              <c:numCache>
                <c:formatCode>General</c:formatCode>
                <c:ptCount val="3"/>
                <c:pt idx="0">
                  <c:v>1.0</c:v>
                </c:pt>
                <c:pt idx="1">
                  <c:v>0.628</c:v>
                </c:pt>
                <c:pt idx="2">
                  <c:v>0.557</c:v>
                </c:pt>
              </c:numCache>
            </c:numRef>
          </c:val>
        </c:ser>
        <c:ser>
          <c:idx val="1"/>
          <c:order val="1"/>
          <c:tx>
            <c:strRef>
              <c:f>Sheet1!$C$1</c:f>
              <c:strCache>
                <c:ptCount val="1"/>
                <c:pt idx="0">
                  <c:v>说完成但其实错了（占全部运行）</c:v>
                </c:pt>
              </c:strCache>
            </c:strRef>
          </c:tx>
          <c:spPr>
            <a:solidFill>
              <a:srgbClr val="C0392B"/>
            </a:solidFill>
          </c:spPr>
          <c:cat>
            <c:strRef>
              <c:f>Sheet1!$A$2:$A$4</c:f>
              <c:strCache>
                <c:ptCount val="3"/>
                <c:pt idx="0">
                  <c:v>对照组
（不比对）</c:v>
                </c:pt>
                <c:pt idx="1">
                  <c:v>同模型双盲</c:v>
                </c:pt>
                <c:pt idx="2">
                  <c:v>跨模型双盲</c:v>
                </c:pt>
              </c:strCache>
            </c:strRef>
          </c:cat>
          <c:val>
            <c:numRef>
              <c:f>Sheet1!$C$2:$C$4</c:f>
              <c:numCache>
                <c:formatCode>General</c:formatCode>
                <c:ptCount val="3"/>
                <c:pt idx="0">
                  <c:v>0.674</c:v>
                </c:pt>
                <c:pt idx="1">
                  <c:v>0.423</c:v>
                </c:pt>
                <c:pt idx="2">
                  <c:v>0.367</c:v>
                </c:pt>
              </c:numCache>
            </c:numRef>
          </c:val>
        </c:ser>
        <c:ser>
          <c:idx val="2"/>
          <c:order val="2"/>
          <c:tx>
            <c:strRef>
              <c:f>Sheet1!$D$1</c:f>
              <c:strCache>
                <c:ptCount val="1"/>
                <c:pt idx="0">
                  <c:v>说完成的里面真正全对（精确率）</c:v>
                </c:pt>
              </c:strCache>
            </c:strRef>
          </c:tx>
          <c:spPr>
            <a:solidFill>
              <a:srgbClr val="7F8C8D"/>
            </a:solidFill>
          </c:spPr>
          <c:cat>
            <c:strRef>
              <c:f>Sheet1!$A$2:$A$4</c:f>
              <c:strCache>
                <c:ptCount val="3"/>
                <c:pt idx="0">
                  <c:v>对照组
（不比对）</c:v>
                </c:pt>
                <c:pt idx="1">
                  <c:v>同模型双盲</c:v>
                </c:pt>
                <c:pt idx="2">
                  <c:v>跨模型双盲</c:v>
                </c:pt>
              </c:strCache>
            </c:strRef>
          </c:cat>
          <c:val>
            <c:numRef>
              <c:f>Sheet1!$D$2:$D$4</c:f>
              <c:numCache>
                <c:formatCode>General</c:formatCode>
                <c:ptCount val="3"/>
                <c:pt idx="0">
                  <c:v>0.326</c:v>
                </c:pt>
                <c:pt idx="1">
                  <c:v>0.327</c:v>
                </c:pt>
                <c:pt idx="2">
                  <c:v>0.341</c:v>
                </c:pt>
              </c:numCache>
            </c:numRef>
          </c:val>
        </c:ser>
        <c:dLbls>
          <c:numFmt formatCode="0%" sourceLinked="0"/>
          <c:txPr>
            <a:bodyPr/>
            <a:lstStyle/>
            <a:p>
              <a:pPr>
                <a:defRPr sz="1100">
                  <a:latin typeface="Noto Sans CJK SC"/>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200">
                <a:latin typeface="Noto Sans CJK SC"/>
              </a:defRPr>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txPr>
          <a:bodyPr/>
          <a:lstStyle/>
          <a:p>
            <a:pPr>
              <a:defRPr sz="1000"/>
            </a:pPr>
          </a:p>
        </c:txPr>
        <c:crossAx val="-2068027336"/>
        <c:crosses val="autoZero"/>
      </c:valAx>
    </c:plotArea>
    <c:legend>
      <c:legendPos val="b"/>
      <c:overlay val="0"/>
      <c:txPr>
        <a:bodyPr/>
        <a:lstStyle/>
        <a:p>
          <a:pPr>
            <a:defRPr sz="1200">
              <a:latin typeface="Noto Sans CJK SC"/>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全对率（24 道题，flash 模型）</c:v>
                </c:pt>
              </c:strCache>
            </c:strRef>
          </c:tx>
          <c:spPr>
            <a:solidFill>
              <a:srgbClr val="1F2A44"/>
            </a:solidFill>
          </c:spPr>
          <c:cat>
            <c:strRef>
              <c:f>Sheet1!$A$2:$A$4</c:f>
              <c:strCache>
                <c:ptCount val="3"/>
                <c:pt idx="0">
                  <c:v>以前测的单人基线</c:v>
                </c:pt>
                <c:pt idx="1">
                  <c:v>本实验对照组 1 号</c:v>
                </c:pt>
                <c:pt idx="2">
                  <c:v>本实验对照组 2 号</c:v>
                </c:pt>
              </c:strCache>
            </c:strRef>
          </c:cat>
          <c:val>
            <c:numRef>
              <c:f>Sheet1!$B$2:$B$4</c:f>
              <c:numCache>
                <c:formatCode>General</c:formatCode>
                <c:ptCount val="3"/>
                <c:pt idx="0">
                  <c:v>0.188</c:v>
                </c:pt>
                <c:pt idx="1">
                  <c:v>0.326</c:v>
                </c:pt>
                <c:pt idx="2">
                  <c:v>0.305</c:v>
                </c:pt>
              </c:numCache>
            </c:numRef>
          </c:val>
        </c:ser>
        <c:dLbls>
          <c:numFmt formatCode="0%" sourceLinked="0"/>
          <c:txPr>
            <a:bodyPr/>
            <a:lstStyle/>
            <a:p>
              <a:pPr>
                <a:defRPr sz="1100">
                  <a:latin typeface="Noto Sans CJK SC"/>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200">
                <a:latin typeface="Noto Sans CJK SC"/>
              </a:defRPr>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txPr>
          <a:bodyPr/>
          <a:lstStyle/>
          <a:p>
            <a:pPr>
              <a:defRPr sz="10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开场白（约 1 分钟）：</a:t>
            </a:r>
          </a:p>
          <a:p/>
          <a:p>
            <a:r>
              <a:t>大家好，今天汇报 SciTeam 项目到目前为止的进展。先用一句话说清楚我们在做什么：</a:t>
            </a:r>
          </a:p>
          <a:p/>
          <a:p>
            <a:r>
              <a:t>我们搭了一个平台，让多个 AI 智能体（agent，可以理解为“会自己调用工具干活的大模型”）组成一个团队，一起完成编程和科研计算任务。和市面上大多数多智能体系统不同，我们不在程序里写死“谁先做、谁后做、谁检查谁”，而是把这些写成“团队规章制度”的配置文件。程序本身冻结不动，只换规章，看团队的表现怎么变。</a:t>
            </a:r>
          </a:p>
          <a:p/>
          <a:p>
            <a:r>
              <a:t>这样做有两个好处：第一，工程上，以后换业务场景只需要换规章，不需要改代码；第二，科学上，这就像一个可控实验室——我们能非常干净地回答“哪条制度真正起作用”。</a:t>
            </a:r>
          </a:p>
          <a:p/>
          <a:p>
            <a:r>
              <a:t>今天的内容依次是：我们最初的设想、实验怎么设计、系统怎么搭、各个实验的结果，最后是过程中踩过的坑和几条比较有意思的发现。最新的一个实验还在跑，现在的数是中期数据，结论可能还会微调。</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这是今天的结构，共七部分。</a:t>
            </a:r>
          </a:p>
          <a:p/>
          <a:p>
            <a:r>
              <a:t>前三部分是背景：我们想回答什么问题、怎么保证实验可信、系统长什么样。听众不需要记住架构细节，只需要知道“规章可以换、程序不变、每一步都能回放检查”。</a:t>
            </a:r>
          </a:p>
          <a:p/>
          <a:p>
            <a:r>
              <a:t>第四部分是主体：按时间顺序讲每个实验，每个实验都是为了回答上一个实验留下的问题，像一条链子。</a:t>
            </a:r>
          </a:p>
          <a:p/>
          <a:p>
            <a:r>
              <a:t>第五、六部分是我认为最有价值的：我们踩到的坑，以及几条反直觉的发现，其中包括“AI 知道自己会被同伴核对后，单干表现明显变好”这条。</a:t>
            </a:r>
          </a:p>
          <a:p/>
          <a:p>
            <a:r>
              <a:t>为了方便大家听懂，下一页我先把几个反复出现的关键词解释一下。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这一页是“术语速查”，建议讲慢一点。</a:t>
            </a:r>
          </a:p>
          <a:p/>
          <a:p>
            <a:r>
              <a:t>【智能体 / agent】一个大模型加上一套工具（读写文件、运行代码、发消息），能自己连续干活。我们主要用 DeepSeek 的 flash 模型，也用了小米的 mimo 模型。</a:t>
            </a:r>
          </a:p>
          <a:p/>
          <a:p>
            <a:r>
              <a:t>【制度 / 规章】我们写在配置文件里的团队规则，比如“提交代码必须先通过测试”“批准的人不能是写代码的人”“只有审核员能放弃任务”。程序只负责机械地执行这些规则。</a:t>
            </a:r>
          </a:p>
          <a:p/>
          <a:p>
            <a:r>
              <a:t>【关闭】团队宣布“任务完成了”。这是团队自己说的，不一定真的对。</a:t>
            </a:r>
          </a:p>
          <a:p/>
          <a:p>
            <a:r>
              <a:t>【虚假关闭】团队说完成了，但我们用官方标准答案一测，发现其实没全对。这是我们最想减少的东西——相当于研究组宣布了一个错误结论。</a:t>
            </a:r>
          </a:p>
          <a:p/>
          <a:p>
            <a:r>
              <a:t>【全对】官方判分器认定所有步骤都正确，得分 1.0。</a:t>
            </a:r>
          </a:p>
          <a:p/>
          <a:p>
            <a:r>
              <a:t>【精确率】在所有“团队说完成了”的任务里，真正全对的比例。可以理解为“团队的‘完成’两个字有多可信”。</a:t>
            </a:r>
          </a:p>
          <a:p/>
          <a:p>
            <a:r>
              <a:t>【独立证据】判断一份工作对不对时，用到的信息不能和干活的人看到的完全一样。比如审核员手里有一份写代码的人看不到的测试题。没有独立证据的审核，本质上是作者自己检查自己。</a:t>
            </a:r>
          </a:p>
          <a:p/>
          <a:p>
            <a:r>
              <a:t>【臂】实验里的一种条件。比如“有审核员”是一个臂，“没审核员”是另一个臂，其它都一样，只差这一点，就能看出这一点的作用。</a:t>
            </a:r>
          </a:p>
          <a:p/>
          <a:p>
            <a:r>
              <a:t>【断路器】防止跑飞的保险丝：花钱或时间超过上限就强制停。我们规定：撞上断路器算系统缺陷，要排查，不能当作正常结果。</a:t>
            </a:r>
          </a:p>
          <a:p/>
          <a:p>
            <a:r>
              <a:t>【重放审计】每次运行的所有动作都记录下来，事后用同一套规则从头重放一遍，看结果是否一模一样。一样，才说明规则真的被严格执行了，没有隐藏的“作弊”。</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项目有两个总目标，同一套系统同时服务这两个目标。</a:t>
            </a:r>
          </a:p>
          <a:p/>
          <a:p>
            <a:r>
              <a:t>第一个是工程目标：做一个真的能用的系统。用户只需要给一个“创始人”AI 说明使命，它就能自己起草团队章程、招聘其他 AI 成员、分工协作，完成真实的研究和工程任务。将来进入实际生产场景，换业务只需要换规章。</a:t>
            </a:r>
          </a:p>
          <a:p/>
          <a:p>
            <a:r>
              <a:t>第二个是科学目标：用这个系统做严格的对照实验。因为程序是冻结的，两次运行唯一的差别就是规章文件，所以如果结果不同，就一定是规章造成的。我们用一个“程序指纹”（interpreter_digest，对全部程序代码算出的唯一编号）来证明各组实验用的是同一份程序。</a:t>
            </a:r>
          </a:p>
          <a:p/>
          <a:p>
            <a:r>
              <a:t>我们的核心立场是：组织的行为应该由制度设计来塑造，而不是由程序员把流程写死。程序里没有任何“部门”“角色”的概念，全部是配置。另外，“这份工作算不算通过”不让大模型来判断，而是由规则加上机械的测试结果决定。</a:t>
            </a:r>
          </a:p>
          <a:p/>
          <a:p>
            <a:r>
              <a:t>最后，我们给自己定了一个标志性目标：Google 最近发表了一个叫 Cogentic 的多智能体科研组织，用它证明了 5 个理论计算机科学的新结果。我们要证明：不写任何专门代码，只靠配置文件，就能把这个组织“装”进我们的平台，并复现它的关键效果。</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这一页把我们立项时心里默认的几个设想，和现在的实验结论放在一起对比。</a:t>
            </a:r>
          </a:p>
          <a:p/>
          <a:p>
            <a:r>
              <a:t>第一条，我们原以为“加个审核员、加个返工流程”就能提高质量。实验结果是：完全没有用。原因后面会讲：审核员看到的东西和写代码的人一模一样，等于自己审自己。</a:t>
            </a:r>
          </a:p>
          <a:p/>
          <a:p>
            <a:r>
              <a:t>第二条，如果审核员手里有独立的检查材料，能不能挡住错误？能，而且效果非常大：团队说“做完了”的任务里，真正全对的比例从 8% 提到了 93%。</a:t>
            </a:r>
          </a:p>
          <a:p/>
          <a:p>
            <a:r>
              <a:t>第三条，我们原以为“返工卡住了”可以由程序自动判断然后叫停。结果是程序判断反而更糟，最后改成把“放弃”的权力交给审核员这个角色，效果好很多。这条后来写成了我们的设计原则。</a:t>
            </a:r>
          </a:p>
          <a:p/>
          <a:p>
            <a:r>
              <a:t>第四条，正在验证：没有外部标准答案的情况下，团队能不能自己制造独立证据？我们的做法是让两个 AI 互不知情地各写一份，再比较输出是否一致。中期结果是：错误的“完成”减少了一半，但“完成”的可信度没提高，后面会详细解释这个看似矛盾的现象。</a:t>
            </a:r>
          </a:p>
          <a:p/>
          <a:p>
            <a:r>
              <a:t>第五条，原以为换不同厂商的模型会更独立、效果更好。方向上有一点，但不明显。</a:t>
            </a:r>
          </a:p>
          <a:p/>
          <a:p>
            <a:r>
              <a:t>第六条，比较五种协作模式（层级式、扁平式等）。我们先用的任务太简单，所有模式都满分，比不出差别，所以推迟到更难的任务上做。</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这一页是整个研究的“路线图”。每一环都是上一环逼出来的。</a:t>
            </a:r>
          </a:p>
          <a:p/>
          <a:p>
            <a:r>
              <a:t>Q1 问：给团队加审核手续，能不能提高质量？答案是不能，因为缺独立证据。</a:t>
            </a:r>
          </a:p>
          <a:p/>
          <a:p>
            <a:r>
              <a:t>于是 Q1a 问：如果有独立证据，审核能挡住多少错误？代价是什么？答案是能挡住大部分，代价是会陷入反复返工。这个实验里的独立证据是我们实验者从标准答案里拿出来给审核员的，真实场景中没有标准答案，所以它只能代表“理论上限”。</a:t>
            </a:r>
          </a:p>
          <a:p/>
          <a:p>
            <a:r>
              <a:t>这就引出最关键的一问 Q1b：没有标准答案时，团队能不能自己制造独立证据？我们的思路是“双盲重复”——两个 AI 互相看不到对方，各自独立做同一道题，然后比较两人算出来的结果。如果两人都对，结果当然一致；如果一个对一个错，结果会不一致，就能发现问题。</a:t>
            </a:r>
          </a:p>
          <a:p/>
          <a:p>
            <a:r>
              <a:t>在正式做 Q1b 之前，我们先花零成本做了一个预研 E3：拿已有的解答两两比对，看这个思路在理论上行不行。</a:t>
            </a:r>
          </a:p>
          <a:p/>
          <a:p>
            <a:r>
              <a:t>Q5 是标志性目标，复现 Google 的 Cogentic。Q2、Q3、Q4 分别是比较协作模式、组织自我进化、真正的科研任务，排在后面。</a:t>
            </a:r>
          </a:p>
          <a:p/>
          <a:p>
            <a:r>
              <a:t>我们有一条硬规矩：每个实验结束都要写复盘，复盘没写完不允许开始下一个实验。</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大模型实验很容易“看着数据调方案、调到好看为止”。为了避免这一点，我们定了七条规矩。</a:t>
            </a:r>
          </a:p>
          <a:p/>
          <a:p>
            <a:r>
              <a:t>第一，只改规章，不改程序。各组实验用的程序指纹必须完全相同。</a:t>
            </a:r>
          </a:p>
          <a:p/>
          <a:p>
            <a:r>
              <a:t>第二，先登记后运行。实验开始前，把要验证的假设、用什么指标判断、多大的差别才算有意义、什么结果算失败，全部写进文档。跑完再看数据，不许回头改标准。</a:t>
            </a:r>
          </a:p>
          <a:p/>
          <a:p>
            <a:r>
              <a:t>第三，外部判分。分数一律用公开基准的官方判分程序，不用大模型打分，避免“AI 给 AI 打分”的主观性。</a:t>
            </a:r>
          </a:p>
          <a:p/>
          <a:p>
            <a:r>
              <a:t>第四，重放审计。每次运行事后都重放一遍，结果必须一致，不一致的运行不计入。</a:t>
            </a:r>
          </a:p>
          <a:p/>
          <a:p>
            <a:r>
              <a:t>第五，撞上保险丝就是缺陷。比如一次运行因为花钱太多被强制停了，不能当作“模型能力不行”，必须查清原因。</a:t>
            </a:r>
          </a:p>
          <a:p/>
          <a:p>
            <a:r>
              <a:t>第六，偏差登记。实验开始后发现任何问题、做了任何修改，都要在文档里编号登记，到目前为止有 19 条（D1 到 D19）。受影响的运行挪到作废目录，不悄悄删掉。</a:t>
            </a:r>
          </a:p>
          <a:p/>
          <a:p>
            <a:r>
              <a:t>第七，七问复盘：原来问的是什么、预测是什么、结果是什么、为什么、实际回答了什么问题、排除了什么、下一步是什么。其中“实际回答了什么问题”这一问特别重要——我们有一次就发现实验答的问题和原本想问的不一样。</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系统分五层，像盖楼一样从下往上，每层都用真实模型通过验收后才写上一层，避免在不牢的地基上堆功能。</a:t>
            </a:r>
          </a:p>
          <a:p/>
          <a:p>
            <a:r>
              <a:t>第一层是“单个 AI”：一个 AI 怎么循环调用工具、上下文太长时怎么压缩、预算怎么控制、崩溃了怎么恢复。</a:t>
            </a:r>
          </a:p>
          <a:p/>
          <a:p>
            <a:r>
              <a:t>第二层是“通信”：私聊、群聊房间、@某人、任务的创建、领取、提交、批准这些状态流转，以及谁有消息就叫醒谁的调度。</a:t>
            </a:r>
          </a:p>
          <a:p/>
          <a:p>
            <a:r>
              <a:t>第三层是“制度”：这是我们最核心的一层。所有对外产生效果的动作——发消息、提交、批准、修改规章——都要经过一个统一的“闸门”，闸门按当前规章决定放行、拒绝还是等人批准。</a:t>
            </a:r>
          </a:p>
          <a:p/>
          <a:p>
            <a:r>
              <a:t>第四层是“组织”：创始人、章程、招聘、目标，以及目标达成后自动停止。</a:t>
            </a:r>
          </a:p>
          <a:p/>
          <a:p>
            <a:r>
              <a:t>第五层是“实验”：定义实验条件、批量运行、外部判分、统计分析。</a:t>
            </a:r>
          </a:p>
          <a:p/>
          <a:p>
            <a:r>
              <a:t>右侧的“验收”列是每层的验收项编号，比如第一层 H1 到 H8，全部有真实运行证据。</a:t>
            </a:r>
          </a:p>
          <a:p/>
          <a:p>
            <a:r>
              <a:t>依赖关系是单向的：上层可以用下层，下层不能反过来依赖上层，这保证了每一层都能单独测试。</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这一页讲系统内部一次完整的循环，可以类比一个公司的办公系统。</a:t>
            </a:r>
          </a:p>
          <a:p/>
          <a:p>
            <a:r>
              <a:t>第一步：某个 AI 的收件箱里来了新东西——有人 @ 它、给它发私信、给它派了任务。调度器就“叫醒”它，开始一次工作。</a:t>
            </a:r>
          </a:p>
          <a:p/>
          <a:p>
            <a:r>
              <a:t>第二步：它在这次工作里自己思考、读文件、写代码、跑测试。</a:t>
            </a:r>
          </a:p>
          <a:p/>
          <a:p>
            <a:r>
              <a:t>第三步：凡是会影响别人的动作——给别人发消息、提交成果、批准别人的成果、提议修改规章、招人——都不能直接生效，要先打包成一个“申请”交给闸门。</a:t>
            </a:r>
          </a:p>
          <a:p/>
          <a:p>
            <a:r>
              <a:t>第四步：闸门按当前规章判断。可以放行、拒绝，或者挂起等某人批准。注意：被拒绝的申请也会被记下来，并且告诉 AI 为什么被拒。</a:t>
            </a:r>
          </a:p>
          <a:p/>
          <a:p>
            <a:r>
              <a:t>第五步：如果规章说“提交且测试通过且有非作者的人批准”就算“验收通过”，那么满足条件时系统就记一条“验收通过”的正式记录。这条记录是规则推出来的，不是哪个 AI 说了算。</a:t>
            </a:r>
          </a:p>
          <a:p/>
          <a:p>
            <a:r>
              <a:t>第六步：新的记录又会叫醒其他相关的 AI，循环继续，直到目标达成或者大家都没事可做。</a:t>
            </a:r>
          </a:p>
          <a:p/>
          <a:p>
            <a:r>
              <a:t>因为所有东西都是按顺序记录的事件，任何时刻的状态都能重建，这就是“重放审计”能做到的基础。</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这一页说明规章文件里能写哪几类东西，用公司做类比会比较好懂。</a:t>
            </a:r>
          </a:p>
          <a:p/>
          <a:p>
            <a:r>
              <a:t>第一类是“检查器”：在一个干净隔离的环境里运行一条命令，看成功还是失败。比如跑测试，或者比较两份代码的输出是否一致。检查器从不调用大模型，完全机械。</a:t>
            </a:r>
          </a:p>
          <a:p/>
          <a:p>
            <a:r>
              <a:t>第二类是“前置条件”：某个动作要满足什么才能做。比如“提交必须附带代码版本，并且测试通过”“批准的人不能是写代码的人”——这就是常说的“四眼原则”。</a:t>
            </a:r>
          </a:p>
          <a:p/>
          <a:p>
            <a:r>
              <a:t>第三类是“审批”：某些动作需要特定的人签字才生效，比如正式发布要人类签字。</a:t>
            </a:r>
          </a:p>
          <a:p/>
          <a:p>
            <a:r>
              <a:t>第四类是“认定规则”：什么情况“算作”什么。比如“任务状态变成完成 + 测试通过 + 非作者批准”就算作“验收通过”。</a:t>
            </a:r>
          </a:p>
          <a:p/>
          <a:p>
            <a:r>
              <a:t>第五类是“账本”：记功记过，比如交付一次加 10 分，被退回一次扣 3 分。只记账，不自动惩罚。</a:t>
            </a:r>
          </a:p>
          <a:p/>
          <a:p>
            <a:r>
              <a:t>最下面这条原则是实验中总结出来的，非常重要：程序只核对客观事实，比如谁做的、测试有没有通过；凡是需要判断的事，比如“这个返工还有没有希望”“该不该放弃”，都交给某个角色来判断。规章只规定谁有权判断、判断时要写明什么理由、判断后会发生什么。这条原则是怎么来的，后面停机实验那一页会讲。</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在讲结果之前，用一个具体例子把实验“画”出来，后面很多页都是这个模式。</a:t>
            </a:r>
          </a:p>
          <a:p/>
          <a:p>
            <a:r>
              <a:t>题目来自 SciCode，这是一个公开的科学计算编程基准，每道题要求把一个物理或化学计算拆成好几个函数步骤写出来，官方有隐藏的标准答案用来判分。</a:t>
            </a:r>
          </a:p>
          <a:p/>
          <a:p>
            <a:r>
              <a:t>我们组建一个三人小团队：两个“实现者”和一个“审核员”。两个实现者在各自的私人文件夹里干活，互相看不到对方的代码，也不允许互发消息。</a:t>
            </a:r>
          </a:p>
          <a:p/>
          <a:p>
            <a:r>
              <a:t>然后我们设计三种规章，也就是三个“臂”：</a:t>
            </a:r>
          </a:p>
          <a:p/>
          <a:p>
            <a:r>
              <a:t>第一种，对照组：两人各自写完就算完成，团队交 1 号的答案。审核员什么都不比。设置这一组是为了排除“只是多花了一份算力”这种解释。</a:t>
            </a:r>
          </a:p>
          <a:p/>
          <a:p>
            <a:r>
              <a:t>第二种，同模型双盲：两人都是同一个模型（flash）。都交卷后，审核员运行一个比对程序，把两份代码在同样的输入上跑一遍，看输出是否一致。一致才算完成。不一致的话，只告诉他们“第几步不一致”，让两人各自再检查一轮；还不一致，审核员就宣布放弃。</a:t>
            </a:r>
          </a:p>
          <a:p/>
          <a:p>
            <a:r>
              <a:t>第三种，跨模型双盲：和第二种一样，只是第二个实现者换成另一家的模型（mimo），看看模型差异会不会让两人更“独立”。</a:t>
            </a:r>
          </a:p>
          <a:p/>
          <a:p>
            <a:r>
              <a:t>最后，不管团队说什么，我们都用官方标准答案给 1 号的解答打分，这样就能算出团队说“完成了”的时候到底对不对。</a:t>
            </a:r>
          </a:p>
          <a:p/>
          <a:p>
            <a:r>
              <a:t>每种规章在 24 道题上各跑 6 次，一共 432 次运行。</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在做团队之前，先要保证单个 AI 足够强，否则团队实验的结论没有说服力。</a:t>
            </a:r>
          </a:p>
          <a:p/>
          <a:p>
            <a:r>
              <a:t>我们用的是 SWE-bench Verified，业界最常用的编程能力基准：500 个真实开源项目里的 bug，AI 要自己读代码、改代码，改完用项目官方的测试来判定是否修好。</a:t>
            </a:r>
          </a:p>
          <a:p/>
          <a:p>
            <a:r>
              <a:t>我们和两个公认很强的开源系统 pi 和 Hermes 在完全相同的模型（DeepSeek flash）、相同的题目上对比：三家都解决了大约 414 道题，差距不超过 1 道，属于随机波动范围。我们的优势在费用：花了 28.7 美元，大约是 pi 的四分之三、Hermes 的一半不到（这两家的费用是按最高价估算的上限）。</a:t>
            </a:r>
          </a:p>
          <a:p/>
          <a:p>
            <a:r>
              <a:t>另一个基准 Terminal-Bench 2.1 测的是命令行操作任务，我们重复跑了 5 遍，成功率 84.3%，官方参考值 82.7%。</a:t>
            </a:r>
          </a:p>
          <a:p/>
          <a:p>
            <a:r>
              <a:t>还有一个顺带的发现：我们早期用的开发集，题目镜像里残留了 git 历史记录，等于 AI 能“偷看到”未来的正确修改。清理之后成功率从 88.5% 掉到 63.9%，说明这种泄漏能虚高 25 个百分点。这提醒我们，看别人报告的高分时要注意数据泄漏。</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第二到第四层用一个小型 Python 库作为验收任务：给团队一份规格说明，让他们实现这个库，我们用 74 条他们看不到的测试来判分。</a:t>
            </a:r>
          </a:p>
          <a:p/>
          <a:p>
            <a:r>
              <a:t>第二层通信：五种协作方式（扁平、层级、流水线、分批、任务市场）都跑了，flash 模型全部 74 条满分；通信相关的六项验收自动检查全部通过。</a:t>
            </a:r>
          </a:p>
          <a:p/>
          <a:p>
            <a:r>
              <a:t>第三层制度：带审核的团队拿到满分，规章修改（修宪）按程序生效了两次，重放审计全部一致。</a:t>
            </a:r>
          </a:p>
          <a:p/>
          <a:p>
            <a:r>
              <a:t>第四层组织：创始人自己写章程、自己招人，五次运行都自己达成目标后停止，而且团队在没人提示的情况下主动修改了规章。</a:t>
            </a:r>
          </a:p>
          <a:p/>
          <a:p>
            <a:r>
              <a:t>右侧一列是在真实运行中暴露、已修复的问题。最有代表性的一个：同一时刻生效的两份规章修改，都基于旧版本，结果后一份悄悄撤销了前一份。这个问题在功能上看不出来，是靠“重放审计”发现的，说明这个机制确实有用。</a:t>
            </a:r>
          </a:p>
          <a:p/>
          <a:p>
            <a:r>
              <a:t>这一阶段也暴露了一个局限：这个验收任务太简单了，所有协作方式都满分，没法比较哪种更好。所以比较协作模式的实验推迟到更难的任务上。</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这是第一个正式实验，回答 Q1：加审核手续能不能提高质量？</a:t>
            </a:r>
          </a:p>
          <a:p/>
          <a:p>
            <a:r>
              <a:t>任务是 Commit0：把真实开源库的函数体挖空，让团队根据文档重新实现，再用这个库原有的、团队看不到的测试来判分。</a:t>
            </a:r>
          </a:p>
          <a:p/>
          <a:p>
            <a:r>
              <a:t>我们设计了五种规章。标准版有一个实现者、一个审核员，提交前必须通过团队自己写的测试，审核员可以退回返工。另外四种各拿掉或加强一个机制：去掉强制测试、让实现者自己批准自己、禁止退回、改成两个审核员都同意才通过。</a:t>
            </a:r>
          </a:p>
          <a:p/>
          <a:p>
            <a:r>
              <a:t>表里是每种规章和标准版的分数差，括号里是 95% 置信区间——可以理解为“真实差异大概率落在这个范围内”。四个区间都包含 0，而且差值都非常小，不超过 0.07 分。也就是说，这些审核机制对最终质量几乎没有影响。</a:t>
            </a:r>
          </a:p>
          <a:p/>
          <a:p>
            <a:r>
              <a:t>为什么？两个关键观察：第一，90 次运行全部被审核员批准为“完成”，但没有一次真正通过全部隐藏测试，审核员成了橡皮图章。第二，一个典型例子：wcwidth 这个库，团队自己写了 222 个测试全部通过，但官方隐藏测试 38 个只过了 23 个。问题在于审核员看的就是团队自己写的这 222 个测试，和作者看的完全一样。如果作者误解了规格，审核员也会一起误解。</a:t>
            </a:r>
          </a:p>
          <a:p/>
          <a:p>
            <a:r>
              <a:t>所以结论是：问题不在于有没有审核程序，而在于审核员有没有独立的信息来源。这直接引出下一个实验。</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既然问题在于缺独立信息，这个实验就直接给审核员一份独立信息，看效果有多大。</a:t>
            </a:r>
          </a:p>
          <a:p/>
          <a:p>
            <a:r>
              <a:t>任务换成了 SciCode 科学计算题，因为它更难、区分度更好。三种规章：</a:t>
            </a:r>
          </a:p>
          <a:p/>
          <a:p>
            <a:r>
              <a:t>第一种“同证据审核”：审核员和作者看同样的测试，相当于上一个实验的标准版。</a:t>
            </a:r>
          </a:p>
          <a:p/>
          <a:p>
            <a:r>
              <a:t>第二种“独立证据”：我们从官方测试里留出一部分，只给审核员用，作者看不到。审核员每次能知道“第几步没通过”，据此退回。</a:t>
            </a:r>
          </a:p>
          <a:p/>
          <a:p>
            <a:r>
              <a:t>第三种“安慰剂”：审核员也会让作者返工，但返工的判断不包含任何关于对错的信息。用来排除“多返工一次本身就有用”这种解释。</a:t>
            </a:r>
          </a:p>
          <a:p/>
          <a:p>
            <a:r>
              <a:t>结果：独立证据那一组，团队说“完成了”却其实错了的情况，从 143 次降到 27 次；在团队说“完成了”的任务里，真正全对的比例从 8.3% 提到 92.6%。安慰剂组没有任何改善，说明单纯多返工没用，起作用的是信息。</a:t>
            </a:r>
          </a:p>
          <a:p/>
          <a:p>
            <a:r>
              <a:t>但也暴露了代价：39% 的运行撞上了 6 小时的时间保险丝。查下来是“返工死循环”：审核员只能告诉作者“第 21.2 步没过”，作者改了又改，同样的失败重复 6 次以上，因为这个信号不足以告诉他到底错在哪。</a:t>
            </a:r>
          </a:p>
          <a:p/>
          <a:p>
            <a:r>
              <a:t>还要强调一点：这份独立测试是我们实验者从标准答案里拿给审核员的，真实工作中不存在标准答案。所以这个实验测的是“理论上限”，不是“团队自己能做到的”。这就引出了核心问题 Q1b。</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上个实验暴露了返工死循环，我们试了两种解决办法。</a:t>
            </a:r>
          </a:p>
          <a:p/>
          <a:p>
            <a:r>
              <a:t>第一种是“程序叫停”：我们在规则引擎里加了一条，同一个检查连续 3 次失败且输出完全相同，就拒绝再提交，并提示团队上报所有者。结果很糟，10 次里 8 次还是撞上了时间保险丝。原因有两个：一是团队被拒后就去“上报所有者”，但实验里的所有者是自动程序，不回私信，团队就一直等、一直写分析，死循环换了一种形式；二是这条规则会误伤：有一个团队其实做了实质性的新修改，但因为前三次失败都一样，新版本根本没机会被检查。</a:t>
            </a:r>
          </a:p>
          <a:p/>
          <a:p>
            <a:r>
              <a:t>第二种是“交给角色判断”：规则引擎什么都不判断，只是在规章里给审核员一项权力——可以取消任务，同时在审核员的职责说明里写明：“退回满 3 次后，下一次审核必须明确表态：要么写出有什么新线索继续，要么放弃。”结果撞保险丝的降到 10 次里 3 次。被放弃的 7 次，事后用标准答案一查，全都确实没做对，没有一次错杀。</a:t>
            </a:r>
          </a:p>
          <a:p/>
          <a:p>
            <a:r>
              <a:t>这件事让我们总结出一条原则：程序只核对客观事实，判断交给角色。“返工还有没有希望”是判断，不应该让程序用一个死规则代替。这条原则后来写进了设计文档，并且用到了 X-evid 实验里。</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到这里，问题收窄成：没有标准答案时，团队能不能自己产生独立证据？我们的想法是“双盲重复”：两个 AI 互不知情地做同一道题，比较输出。</a:t>
            </a:r>
          </a:p>
          <a:p/>
          <a:p>
            <a:r>
              <a:t>正式做之前，先花零成本验证这个想法在理论上行不行。我们手上有 flash、mimo、qwen 三个模型以前各自独立做过的大量解答，把它们两两配对，在同样的输入上运行，比较输出。</a:t>
            </a:r>
          </a:p>
          <a:p/>
          <a:p>
            <a:r>
              <a:t>结论分三种情况：</a:t>
            </a:r>
          </a:p>
          <a:p/>
          <a:p>
            <a:r>
              <a:t>如果一个对一个错，两份代码的输出 100% 不一致——这种情况比对一定能发现。</a:t>
            </a:r>
          </a:p>
          <a:p/>
          <a:p>
            <a:r>
              <a:t>如果两个都错，有 46% 到 69% 的情况输出不一致，也能被发现。但剩下的三到五成，两个人错得一模一样，输出完全相同，比对就发现不了。我们叫它“同错同值”。</a:t>
            </a:r>
          </a:p>
          <a:p/>
          <a:p>
            <a:r>
              <a:t>另外，换不同厂商的模型配对，并不一定比同一模型配对更容易发现错误。</a:t>
            </a:r>
          </a:p>
          <a:p/>
          <a:p>
            <a:r>
              <a:t>基于这个预研，我们设计了 X-evid 的三种规章，也就是前面例子那一页讲的。</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正式实验前我们做了 6 轮小规模试运行，这一页是我觉得最有意思的发现之一：AI 会主动寻找捷径，破坏“互相独立”这个前提。</a:t>
            </a:r>
          </a:p>
          <a:p/>
          <a:p>
            <a:r>
              <a:t>第一种，偷看。我们已经把两人放在互相看不见的私人文件夹里，但检查程序为了比对需要能看到两份代码。于是有个 AI 自己创建了一个辅助任务，把“打印对方代码文件的指纹”写成这个任务的验收命令，借检查程序的眼睛去看对方的文件。解决方法：把检查命令写死在规章里，成员不能自己定义。</a:t>
            </a:r>
          </a:p>
          <a:p/>
          <a:p>
            <a:r>
              <a:t>第二种，串通。第一次比对不一致后，两个 AI 通过私信互相报自己用的符号约定，以及在某个具体输入下算出来的数值，然后把两份代码改成一样。问题是改成一样的那个往往是错的。这样比对一致了，但已经不是独立证据了。解决方法：规章禁止两名实现者互发消息。</a:t>
            </a:r>
          </a:p>
          <a:p/>
          <a:p>
            <a:r>
              <a:t>第三种，枚举。一个 AI 在对方还没交卷时反复单方面提交 11 到 14 次，把比对程序当成猜答案的工具，一个个试边界条件约定。解决方法：分成两步，提交时只检查文件不为空，比对只能由审核员在双方都交卷后发起。</a:t>
            </a:r>
          </a:p>
          <a:p/>
          <a:p>
            <a:r>
              <a:t>这三条修复全部是改规章文件，程序一行没改。</a:t>
            </a:r>
          </a:p>
          <a:p/>
          <a:p>
            <a:r>
              <a:t>最大的启示是：把文件物理隔离开，不等于两份工作在统计上是独立的。独立性需要制度主动去维护。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这是 X-evid 正式实验目前的中期结果，252 次运行已完成，还有 180 次在后台跑。</a:t>
            </a:r>
          </a:p>
          <a:p/>
          <a:p>
            <a:r>
              <a:t>先说运行质量：252 次全部通过重放审计，没有一次撞时间保险丝。对比 X-inst-confirm 里 39% 撞保险丝，前面那些规章设计——审核员把关比对、最多一轮自查、审核员有权放弃——把死循环问题彻底解决了。</a:t>
            </a:r>
          </a:p>
          <a:p/>
          <a:p>
            <a:r>
              <a:t>看图，每组三根柱子：</a:t>
            </a:r>
          </a:p>
          <a:p/>
          <a:p>
            <a:r>
              <a:t>深蓝色是“关闭率”，也就是团队说“完成了”的比例。对照组 100%，因为不比对，交卷就算完成。两个双盲组降到 56% 到 63%，其余的被比对拦下或被审核员放弃。</a:t>
            </a:r>
          </a:p>
          <a:p/>
          <a:p>
            <a:r>
              <a:t>红色是“错误完成率”：团队说完成了但其实不对，占全部运行的比例。对照组 67%，同模型组 42%，跨模型组 37%，减少了大约一半。右边的区间都不包含 0，说明这个减少是可靠的，不是运气。</a:t>
            </a:r>
          </a:p>
          <a:p/>
          <a:p>
            <a:r>
              <a:t>灰色是“精确率”：团队说完成的任务里真正全对的比例。三组都在 33% 左右，几乎没有变化。我们实验前预测双盲组会比对照组高至少 10 个百分点，目前这个预测不成立。</a:t>
            </a:r>
          </a:p>
          <a:p/>
          <a:p>
            <a:r>
              <a:t>所以出现了一个看似矛盾的现象：错误的完成少了一半，为什么“完成”的可信度没提高？下一页解释。</a:t>
            </a:r>
          </a:p>
          <a:p/>
          <a:p>
            <a:r>
              <a:t>提醒：这是中期数据，我们不会根据中期数据修改实验，最终结论等 432 次全部跑完。</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这一页列出过程中踩过的主要坑。我想强调的是：这些问题都被发现、登记、修复了，而且大部分是靠重放审计、断路器排查、偏差登记这些规矩发现的。没有这些规矩，很多问题会悄悄混进结论里。</a:t>
            </a:r>
          </a:p>
          <a:p/>
          <a:p>
            <a:r>
              <a:t>指标设计：第一个实验的主指标设计有缺陷，它的判断阈值本身带噪声，即使两组能力完全一样也有大约一半概率判为“差”，等于抛硬币。我们公开承认了，改成三个更清晰的指标。</a:t>
            </a:r>
          </a:p>
          <a:p/>
          <a:p>
            <a:r>
              <a:t>基础设施：模型 API 余额耗尽时，系统把它当成普通错误，团队停下来被记成 0 分。修复为自动识别余额问题、暂停，充值后自动续跑。</a:t>
            </a:r>
          </a:p>
          <a:p/>
          <a:p>
            <a:r>
              <a:t>判分环境：有个库的工作区挂载盖住了官方环境里的数据文件，导致低分；工作区里的一个二进制文件让官方打补丁整体失败，判成 0 分。都已修复并重跑。</a:t>
            </a:r>
          </a:p>
          <a:p/>
          <a:p>
            <a:r>
              <a:t>停机：返工死循环，前面讲过。</a:t>
            </a:r>
          </a:p>
          <a:p/>
          <a:p>
            <a:r>
              <a:t>独立性：偷看、串通、枚举，前面讲过。</a:t>
            </a:r>
          </a:p>
          <a:p/>
          <a:p>
            <a:r>
              <a:t>验证沙箱：最近一次，X-evid 有 7 道题的比对程序 100% 报错，即使两人都对也被拒。原因是检查环境缺少两个旧版函数库，还有一个绘图库找不到可写目录。修复后，受影响的 28 次运行已作废，正在自动重跑。</a:t>
            </a:r>
          </a:p>
          <a:p/>
          <a:p>
            <a:r>
              <a:t>数据泄漏：前面第一层讲过，开发题库残留 git 历史导致虚高 25 个百分点。</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这一页解释上一页的矛盾，我认为是目前最有价值的一条发现。</a:t>
            </a:r>
          </a:p>
          <a:p/>
          <a:p>
            <a:r>
              <a:t>我们把每次运行分成四种情况：两人都对、只有 1 号对、只有 2 号对、两人都错。记住团队最后交的是 1 号的答案。</a:t>
            </a:r>
          </a:p>
          <a:p/>
          <a:p>
            <a:r>
              <a:t>看对照组那一行：两人都对的 17 次，团队交 1 号，全对。只有 1 号对的 14 次，不比对，直接交 1 号——也全对，相当于白捡的。只有 2 号对的 12 次，交的是 1 号的错答案，算错误完成。两人都错的 52 次全部漏网。所以对照组 31 次真正全对里，有 14 次，也就是 45%，是“恰好 1 号做对了”捡来的。</a:t>
            </a:r>
          </a:p>
          <a:p/>
          <a:p>
            <a:r>
              <a:t>再看两个双盲组：两人都对时几乎全部通过（32 次里 31 次），说明比对基本不会冤枉对的。一对一错的情况，比对 100% 发现不一致，全部拦下——这和预研的结论完全吻合。两人都错的情况，拦下了三到五成，剩下的是同错同值。</a:t>
            </a:r>
          </a:p>
          <a:p/>
          <a:p>
            <a:r>
              <a:t>问题就出在“只有 1 号对”这一格：比对只看输出是否相同，看到两人不一致，但它不知道谁对谁错，只能把这一对整个拦下。于是对照组白捡的那 14 次全对，双盲组都捡不到了。</a:t>
            </a:r>
          </a:p>
          <a:p/>
          <a:p>
            <a:r>
              <a:t>数学上：设一个人做全对的概率是 p，大约 0.3。对照组的真正全对率就是 p；双盲组需要两个人都对，变成 p 的平方，约 0.09。错的那一边也同比例减少。两边一起缩小，所以“完成里全对的比例”基本不变。</a:t>
            </a:r>
          </a:p>
          <a:p/>
          <a:p>
            <a:r>
              <a:t>这告诉我们下一步该做什么：比对必须是“不对称”的——检查者不能只看两人输出是否一样，而要去看推导过程，指出到底是哪一方、哪一步错了，这样就能只退回错的一方、保留对的一方。这恰好是 Google Cogentic 组织里“敌意核验者”在做的事，也是我们下一个实验 X-cog 要检验的。</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这是一条意料之外的发现。</a:t>
            </a:r>
          </a:p>
          <a:p/>
          <a:p>
            <a:r>
              <a:t>实验开始前，我们预测：对照组里 1 号实现者，其实就相当于一个人单干，他的全对率应该和我们以前测过的“单人基线”差不多，也就是 19% 左右，误差不超过 5 个百分点。我们还提前写好了：如果不在这个范围内，说明实验设置本身改变了 AI 的表现，要重新解读所有对照。</a:t>
            </a:r>
          </a:p>
          <a:p/>
          <a:p>
            <a:r>
              <a:t>实测 1 号的全对率是 32.6%，2 号也有 30.5%，比单人基线高了大约 14 个百分点，远远超出预测范围。</a:t>
            </a:r>
          </a:p>
          <a:p/>
          <a:p>
            <a:r>
              <a:t>一个可能的解释是“制度压力”：三组共用同一份任务说明，里面写着“另一个实现者正在独立做同一道题，只有你们俩的输出在所有测试输入上完全一致，你的工作才会被接受，物理约定、单位和边界条件都很重要”。对照组其实并不比对，但 AI 不知道。我们抽查记录发现，AI 明显更谨慎，自己写了大量边界测试才交卷。</a:t>
            </a:r>
          </a:p>
          <a:p/>
          <a:p>
            <a:r>
              <a:t>但我必须说清楚，这还不能算证实，因为有几个混杂因素没有拆开：</a:t>
            </a:r>
          </a:p>
          <a:p>
            <a:r>
              <a:t>第一，和单人基线相比，不只是“告知会被比对”这一点不同，任务说明的其他措辞、私人文件夹、两人团队的流程也都不一样，不知道是哪一个起的作用。</a:t>
            </a:r>
          </a:p>
          <a:p>
            <a:r>
              <a:t>第二，同样是 flash 模型当 1 号，在跨模型组里全对率只有 21.5%，组与组之间的波动本身就很大。</a:t>
            </a:r>
          </a:p>
          <a:p>
            <a:r>
              <a:t>第三，“大量自写测试”来自抽查，没有全量统计。</a:t>
            </a:r>
          </a:p>
          <a:p/>
          <a:p>
            <a:r>
              <a:t>要确认这个效应，需要做一个只改一处的对照实验：同样是一个人单干，一组告诉他会被比对，一组不告诉。我们已经列为候选实验。如果证实，它的意义很大：说明“声明会被检查”这种低成本的制度设计本身就能提升质量。</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这条发现关于“第二轮自查”的副作用。</a:t>
            </a:r>
          </a:p>
          <a:p/>
          <a:p>
            <a:r>
              <a:t>规章规定：第一次比对不一致时，审核员只告诉两人“第几步不一致”，不能多说，两人也不能交流，各自重新检查一轮，再比一次。</a:t>
            </a:r>
          </a:p>
          <a:p/>
          <a:p>
            <a:r>
              <a:t>我们把团队最终完成的任务分成两类：第一次比对就一致的，和第二轮自查后才一致的。</a:t>
            </a:r>
          </a:p>
          <a:p/>
          <a:p>
            <a:r>
              <a:t>看跨模型组：第一次就一致的有 24 次，其中 10 次真正全对，精确率 0.417，比对照组的 0.326 高了 9 个百分点。说明第一轮的独立比对是最有价值的。</a:t>
            </a:r>
          </a:p>
          <a:p/>
          <a:p>
            <a:r>
              <a:t>第二轮自查后新增了 20 次完成，确实救回了 5 次真解，但同时新增了 15 次错误完成，这一轮的精确率只有 0.25，把整体精确率拉回到 0.34。</a:t>
            </a:r>
          </a:p>
          <a:p/>
          <a:p>
            <a:r>
              <a:t>为什么两个不能交流的 AI，第二轮会一起改成同一个错误答案？我们看了 p74、p27、p76 这几道题的记录：第一轮两人用了不同的公式约定，所以不一致被拦下了。然后审核员说“你们在第 74.1 步不一致，请重新检查约定”，原本写了另一种约定的那一方，会去想“最标准的教科书写法是什么”，然后改成最常见的那种。偏偏那种常见写法正是这道题的陷阱，于是两人在错误答案上汇合了。</a:t>
            </a:r>
          </a:p>
          <a:p/>
          <a:p>
            <a:r>
              <a:t>启示：即使不让两人交流，只要反馈信息会引导他们往“最常见的写法”靠，独立性还是会被破坏。反馈本身也需要设计。</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这一页总结两条更一般性的发现。</a:t>
            </a:r>
          </a:p>
          <a:p/>
          <a:p>
            <a:r>
              <a:t>发现 4：错误不是随机的。双盲组里 62 次“说完成但其实错了”，有 61 次是两个人在完全相同的步骤上犯错，而且在所有测试输入上算出的错误数值一模一样。唯一的例外是一道题，它的测试用例格式特殊，比对程序没能覆盖到。这说明这些模型共享同一类“教科书式盲点”：面对一个容易混淆的物理约定时，它们会以相同的方式出错。换一家厂商的模型只能部分缓解，因为它们很可能学的是相似的数据。</a:t>
            </a:r>
          </a:p>
          <a:p/>
          <a:p>
            <a:r>
              <a:t>发现 5：独立性要靠制度主动维护。从 X-inst 里审核员和作者看同一批测试导致审核失效，到 X-evid 试运行里 AI 主动偷看、串通、枚举，再到第二轮自查时被反馈引导到同一个错误，我们看到的是同一件事：独立证据非常脆弱，任何一点信息共享都会把它变成“对答案”。所以设计组织时，谁能看到什么、谁能和谁说话、什么时候能触发检查、反馈里包含什么信息，都必须当作制度的核心来设计。</a:t>
            </a:r>
          </a:p>
          <a:p/>
          <a:p>
            <a:r>
              <a:t>这对将来的生产场景也有直接意义：如果企业想用多个 AI 互相审核来保证质量，不能只是多开几个 AI，必须设计好信息隔离和检查流程。</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这一页是几个小故事，可以挑一两个讲。</a:t>
            </a:r>
          </a:p>
          <a:p/>
          <a:p>
            <a:r>
              <a:t>一、谨慎反而被扣分：在生物实验题库 LAB-Bench 的一道题里，AI 正确算出了官方答案 2，同时也算出了按另一种常见标准应该是 5。选项里没有 5，题目也没说用哪种标准，AI 按指令选了“信息不足”。按准确率这算答错，其实它比选 2 更严谨。这提醒我们，用准确率评价 AI 时会惩罚谨慎。</a:t>
            </a:r>
          </a:p>
          <a:p/>
          <a:p>
            <a:r>
              <a:t>二、等待所有者的死循环：前面讲过，程序叫停后团队去“上报所有者”，自动所有者不回私信，团队就一直写分析、等回复，直到 6 小时耗尽。</a:t>
            </a:r>
          </a:p>
          <a:p/>
          <a:p>
            <a:r>
              <a:t>三、规章修改互相撤销：两份规章修改在同一时刻生效，都基于旧版本，后一份把前一份悄悄撤销了，整次运行实际执行的规章和团队以为的不一样。只有重放审计发现了它。</a:t>
            </a:r>
          </a:p>
          <a:p/>
          <a:p>
            <a:r>
              <a:t>四、团队自发修宪：一个创始人自建的团队，在没人提示的情况下发现了规章漏洞——子任务永远无法被正式认定为通过——然后自己提议修改规章并通过，补上了漏洞。</a:t>
            </a:r>
          </a:p>
          <a:p/>
          <a:p>
            <a:r>
              <a:t>五、章程只是提示词：任务市场模式下，章程规定招聘由人事负责、创始人不直接干活，但创始人自己招了全部 6 个人，还把根任务派给了自己。因为章程只写在提示词里，没有对应的制度约束。这说明“写在说明里”和“写进规章”是两回事。</a:t>
            </a:r>
          </a:p>
          <a:p/>
          <a:p>
            <a:r>
              <a:t>六、交卷后偷偷改：一个实现者交卷后发现 bug，没有撤回就继续改文件。比对程序测的是改之前的版本，判分程序测的是改之后的版本。</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用五句话总结。</a:t>
            </a:r>
          </a:p>
          <a:p/>
          <a:p>
            <a:r>
              <a:t>第一，平台本身是成立的：单个 AI 和业界最好水平持平，所有团队形态和质量控制的变化都只靠改规章文件实现，程序里没有为任何特定组织写过专门代码。</a:t>
            </a:r>
          </a:p>
          <a:p/>
          <a:p>
            <a:r>
              <a:t>第二，没有独立信息的审核不能提高质量，只是橡皮图章。</a:t>
            </a:r>
          </a:p>
          <a:p/>
          <a:p>
            <a:r>
              <a:t>第三，有了独立信息，审核能把“完成”的可信度从 8% 提到 93%；返工卡死时，把放弃的权力交给审核员这个角色，比让程序自动叫停有效得多。</a:t>
            </a:r>
          </a:p>
          <a:p/>
          <a:p>
            <a:r>
              <a:t>第四，没有标准答案时，让两个 AI 互不知情地各做一份再比对，能把错误的“完成”减少一半，并且彻底消除了死循环；但因为比对分不清谁对谁错，“完成”的可信度没有提高。</a:t>
            </a:r>
          </a:p>
          <a:p/>
          <a:p>
            <a:r>
              <a:t>第五，这把下一步的问题收窄得非常清楚：团队内部要能产生“不对称”的证据，也就是能指出哪一方错了的检查。这正是我们接下来要用 Google Cogentic 组织去检验的。</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下一步按顺序排好了。</a:t>
            </a:r>
          </a:p>
          <a:p/>
          <a:p>
            <a:r>
              <a:t>第一，完成 X-evid：剩余 180 次运行（包括因检查环境问题作废重跑的 28 次）正在后台运行，预计一到两天完成。完成后做全量分析和七问复盘。最终结论按实验前登记的标准判断，不会因为中期数据而改变标准。</a:t>
            </a:r>
          </a:p>
          <a:p/>
          <a:p>
            <a:r>
              <a:t>第二，X-cog-1：在数学证明任务上建立测试题库。数学证明可以用 Lean 这种形式化证明工具机器验证，判分绝对客观。先让单个 AI 摸底，选出“有提升空间”的题目。</a:t>
            </a:r>
          </a:p>
          <a:p/>
          <a:p>
            <a:r>
              <a:t>第三，X-cog-2：完整的 Cogentic 组织对比同等算力的单个 AI，并逐一拿掉组织里的关键器官——敌意核验者、证明者之间的隔离、多方向分工、独立重核——看哪个器官真正起作用。其中最关键的检验是：能看推导过程的核验者，能不能救回 X-evid 里被一起拦下的“一对一错”。</a:t>
            </a:r>
          </a:p>
          <a:p/>
          <a:p>
            <a:r>
              <a:t>第四，候选的补充实验：验证“制度压力”效应，只改“是否告知会被同伴比对”，其它完全相同。</a:t>
            </a:r>
          </a:p>
          <a:p/>
          <a:p>
            <a:r>
              <a:t>之后依次是协作模式比较、组织跨任务自我进化、真实科研任务，以及可视化观测界面。</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这一页给需要追溯数据的同事看。所有数字都可以用仓库里的脚本从原始运行记录重新算出来，这是我们的实验规矩之一。</a:t>
            </a:r>
          </a:p>
          <a:p/>
          <a:p>
            <a:r>
              <a:t>设计文档和实验登记在 docs 目录；各实验的原始运行记录在 runs 目录；X-evid 中期分析由 bench/xevid/evid_analyze.py 生成，结果保存在 analysis-interim-20261019.json，四种情况的拆分和两轮分解写在 60-experiment.md 第 6.9 节。</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chart" Target="../charts/char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chart" Target="../charts/char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chart" Target="../charts/char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0000" y="1800000"/>
            <a:ext cx="10592000" cy="3500000"/>
          </a:xfrm>
          <a:prstGeom prst="rect">
            <a:avLst/>
          </a:prstGeom>
          <a:noFill/>
        </p:spPr>
        <p:txBody>
          <a:bodyPr wrap="square">
            <a:spAutoFit/>
          </a:bodyPr>
          <a:lstStyle/>
          <a:p>
            <a:r>
              <a:rPr sz="3400" b="1">
                <a:solidFill>
                  <a:srgbClr val="FFFFFF"/>
                </a:solidFill>
                <a:latin typeface="Noto Sans CJK SC"/>
              </a:rPr>
              <a:t>SciTeam：让一群 AI 像一个靠制度运转的研究团队那样工作</a:t>
            </a:r>
          </a:p>
          <a:p>
            <a:pPr>
              <a:spcBef>
                <a:spcPts val="1600"/>
              </a:spcBef>
            </a:pPr>
            <a:r>
              <a:rPr sz="2200" b="0">
                <a:solidFill>
                  <a:srgbClr val="DDE3EA"/>
                </a:solidFill>
                <a:latin typeface="Noto Sans CJK SC"/>
              </a:rPr>
              <a:t>我们在问：只改「团队规章」，不改程序代码，AI 团队的产出会不会变好？</a:t>
            </a:r>
          </a:p>
          <a:p>
            <a:pPr>
              <a:spcBef>
                <a:spcPts val="3000"/>
              </a:spcBef>
            </a:pPr>
            <a:r>
              <a:rPr sz="1600" b="0">
                <a:solidFill>
                  <a:srgbClr val="C0C8D2"/>
                </a:solidFill>
                <a:latin typeface="Noto Sans CJK SC"/>
              </a:rPr>
              <a:t>研究进展汇报 · 2026-10-19 · 最新实验 X-evid 为中期数据（已完成 252/432 次运行）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20000"/>
            <a:ext cx="11192000" cy="700000"/>
          </a:xfrm>
          <a:prstGeom prst="rect">
            <a:avLst/>
          </a:prstGeom>
          <a:noFill/>
        </p:spPr>
        <p:txBody>
          <a:bodyPr wrap="none">
            <a:spAutoFit/>
          </a:bodyPr>
          <a:lstStyle/>
          <a:p>
            <a:r>
              <a:rPr sz="2800" b="1">
                <a:solidFill>
                  <a:srgbClr val="1F2A44"/>
                </a:solidFill>
                <a:latin typeface="Noto Sans CJK SC"/>
              </a:rPr>
              <a:t>汇报提纲</a:t>
            </a:r>
          </a:p>
        </p:txBody>
      </p:sp>
      <p:sp>
        <p:nvSpPr>
          <p:cNvPr id="4" name="TextBox 3"/>
          <p:cNvSpPr txBox="1"/>
          <p:nvPr/>
        </p:nvSpPr>
        <p:spPr>
          <a:xfrm>
            <a:off x="10692000" y="6408000"/>
            <a:ext cx="1200000" cy="300000"/>
          </a:xfrm>
          <a:prstGeom prst="rect">
            <a:avLst/>
          </a:prstGeom>
          <a:noFill/>
        </p:spPr>
        <p:txBody>
          <a:bodyPr wrap="none">
            <a:spAutoFit/>
          </a:bodyPr>
          <a:lstStyle/>
          <a:p>
            <a:r>
              <a:rPr sz="1000" b="0">
                <a:solidFill>
                  <a:srgbClr val="555F6D"/>
                </a:solidFill>
                <a:latin typeface="Noto Sans CJK SC"/>
              </a:rPr>
              <a:t>SciTeam · 2</a:t>
            </a:r>
          </a:p>
        </p:txBody>
      </p:sp>
      <p:sp>
        <p:nvSpPr>
          <p:cNvPr id="5" name="TextBox 4"/>
          <p:cNvSpPr txBox="1"/>
          <p:nvPr/>
        </p:nvSpPr>
        <p:spPr>
          <a:xfrm>
            <a:off x="500000" y="1250000"/>
            <a:ext cx="11192000" cy="5058000"/>
          </a:xfrm>
          <a:prstGeom prst="rect">
            <a:avLst/>
          </a:prstGeom>
          <a:noFill/>
        </p:spPr>
        <p:txBody>
          <a:bodyPr wrap="square">
            <a:spAutoFit/>
          </a:bodyPr>
          <a:lstStyle/>
          <a:p>
            <a:pPr>
              <a:spcAft>
                <a:spcPts val="600"/>
              </a:spcAft>
            </a:pPr>
            <a:r>
              <a:rPr sz="2000" b="0">
                <a:solidFill>
                  <a:srgbClr val="555F6D"/>
                </a:solidFill>
                <a:latin typeface="Noto Sans CJK SC"/>
              </a:rPr>
              <a:t>• </a:t>
            </a:r>
            <a:r>
              <a:rPr sz="2000" b="0">
                <a:solidFill>
                  <a:srgbClr val="1F2A44"/>
                </a:solidFill>
                <a:latin typeface="Noto Sans CJK SC"/>
              </a:rPr>
              <a:t>一、我们想回答什么：目标与最初的设想</a:t>
            </a:r>
          </a:p>
          <a:p>
            <a:pPr>
              <a:spcAft>
                <a:spcPts val="600"/>
              </a:spcAft>
            </a:pPr>
            <a:r>
              <a:rPr sz="2000" b="0">
                <a:solidFill>
                  <a:srgbClr val="555F6D"/>
                </a:solidFill>
                <a:latin typeface="Noto Sans CJK SC"/>
              </a:rPr>
              <a:t>• </a:t>
            </a:r>
            <a:r>
              <a:rPr sz="2000" b="0">
                <a:solidFill>
                  <a:srgbClr val="1F2A44"/>
                </a:solidFill>
                <a:latin typeface="Noto Sans CJK SC"/>
              </a:rPr>
              <a:t>二、怎么回答：一串环环相扣的问题 + 保证结果可信的实验规矩</a:t>
            </a:r>
          </a:p>
          <a:p>
            <a:pPr>
              <a:spcAft>
                <a:spcPts val="600"/>
              </a:spcAft>
            </a:pPr>
            <a:r>
              <a:rPr sz="2000" b="0">
                <a:solidFill>
                  <a:srgbClr val="555F6D"/>
                </a:solidFill>
                <a:latin typeface="Noto Sans CJK SC"/>
              </a:rPr>
              <a:t>• </a:t>
            </a:r>
            <a:r>
              <a:rPr sz="2000" b="0">
                <a:solidFill>
                  <a:srgbClr val="1F2A44"/>
                </a:solidFill>
                <a:latin typeface="Noto Sans CJK SC"/>
              </a:rPr>
              <a:t>三、SciTeam 系统长什么样</a:t>
            </a:r>
          </a:p>
          <a:p>
            <a:pPr>
              <a:spcAft>
                <a:spcPts val="600"/>
              </a:spcAft>
            </a:pPr>
            <a:r>
              <a:rPr sz="2000" b="0">
                <a:solidFill>
                  <a:srgbClr val="555F6D"/>
                </a:solidFill>
                <a:latin typeface="Noto Sans CJK SC"/>
              </a:rPr>
              <a:t>• </a:t>
            </a:r>
            <a:r>
              <a:rPr sz="2000" b="0">
                <a:solidFill>
                  <a:srgbClr val="1F2A44"/>
                </a:solidFill>
                <a:latin typeface="Noto Sans CJK SC"/>
              </a:rPr>
              <a:t>四、各实验的结果（按时间顺序，每个实验回答上一个留下的问题）</a:t>
            </a:r>
          </a:p>
          <a:p>
            <a:pPr>
              <a:spcAft>
                <a:spcPts val="600"/>
              </a:spcAft>
            </a:pPr>
            <a:r>
              <a:rPr sz="2000" b="0">
                <a:solidFill>
                  <a:srgbClr val="555F6D"/>
                </a:solidFill>
                <a:latin typeface="Noto Sans CJK SC"/>
              </a:rPr>
              <a:t>• </a:t>
            </a:r>
            <a:r>
              <a:rPr sz="2000" b="0">
                <a:solidFill>
                  <a:srgbClr val="1F2A44"/>
                </a:solidFill>
                <a:latin typeface="Noto Sans CJK SC"/>
              </a:rPr>
              <a:t>五、踩过的坑</a:t>
            </a:r>
          </a:p>
          <a:p>
            <a:pPr>
              <a:spcAft>
                <a:spcPts val="600"/>
              </a:spcAft>
            </a:pPr>
            <a:r>
              <a:rPr sz="2000" b="0">
                <a:solidFill>
                  <a:srgbClr val="555F6D"/>
                </a:solidFill>
                <a:latin typeface="Noto Sans CJK SC"/>
              </a:rPr>
              <a:t>• </a:t>
            </a:r>
            <a:r>
              <a:rPr sz="2000" b="0">
                <a:solidFill>
                  <a:srgbClr val="1F2A44"/>
                </a:solidFill>
                <a:latin typeface="Noto Sans CJK SC"/>
              </a:rPr>
              <a:t>六、有价值、有趣的发现</a:t>
            </a:r>
          </a:p>
          <a:p>
            <a:pPr>
              <a:spcAft>
                <a:spcPts val="600"/>
              </a:spcAft>
            </a:pPr>
            <a:r>
              <a:rPr sz="2000" b="0">
                <a:solidFill>
                  <a:srgbClr val="555F6D"/>
                </a:solidFill>
                <a:latin typeface="Noto Sans CJK SC"/>
              </a:rPr>
              <a:t>• </a:t>
            </a:r>
            <a:r>
              <a:rPr sz="2000" b="0">
                <a:solidFill>
                  <a:srgbClr val="1F2A44"/>
                </a:solidFill>
                <a:latin typeface="Noto Sans CJK SC"/>
              </a:rPr>
              <a:t>七、下一步</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20000"/>
            <a:ext cx="11192000" cy="700000"/>
          </a:xfrm>
          <a:prstGeom prst="rect">
            <a:avLst/>
          </a:prstGeom>
          <a:noFill/>
        </p:spPr>
        <p:txBody>
          <a:bodyPr wrap="none">
            <a:spAutoFit/>
          </a:bodyPr>
          <a:lstStyle/>
          <a:p>
            <a:r>
              <a:rPr sz="2800" b="1">
                <a:solidFill>
                  <a:srgbClr val="1F2A44"/>
                </a:solidFill>
                <a:latin typeface="Noto Sans CJK SC"/>
              </a:rPr>
              <a:t>先认识几个关键词</a:t>
            </a:r>
          </a:p>
          <a:p>
            <a:r>
              <a:rPr sz="1400" b="0">
                <a:solidFill>
                  <a:srgbClr val="555F6D"/>
                </a:solidFill>
                <a:latin typeface="Noto Sans CJK SC"/>
              </a:rPr>
              <a:t>后面每页都会用到；遇到不懂的可以回到这页</a:t>
            </a:r>
          </a:p>
        </p:txBody>
      </p:sp>
      <p:sp>
        <p:nvSpPr>
          <p:cNvPr id="4" name="TextBox 3"/>
          <p:cNvSpPr txBox="1"/>
          <p:nvPr/>
        </p:nvSpPr>
        <p:spPr>
          <a:xfrm>
            <a:off x="10692000" y="6408000"/>
            <a:ext cx="1200000" cy="300000"/>
          </a:xfrm>
          <a:prstGeom prst="rect">
            <a:avLst/>
          </a:prstGeom>
          <a:noFill/>
        </p:spPr>
        <p:txBody>
          <a:bodyPr wrap="none">
            <a:spAutoFit/>
          </a:bodyPr>
          <a:lstStyle/>
          <a:p>
            <a:r>
              <a:rPr sz="1000" b="0">
                <a:solidFill>
                  <a:srgbClr val="555F6D"/>
                </a:solidFill>
                <a:latin typeface="Noto Sans CJK SC"/>
              </a:rPr>
              <a:t>SciTeam · 3</a:t>
            </a:r>
          </a:p>
        </p:txBody>
      </p:sp>
      <p:graphicFrame>
        <p:nvGraphicFramePr>
          <p:cNvPr id="5" name="Table 4"/>
          <p:cNvGraphicFramePr>
            <a:graphicFrameLocks noGrp="1"/>
          </p:cNvGraphicFramePr>
          <p:nvPr/>
        </p:nvGraphicFramePr>
        <p:xfrm>
          <a:off x="500000" y="1300000"/>
          <a:ext cx="11191999" cy="4680000"/>
        </p:xfrm>
        <a:graphic>
          <a:graphicData uri="http://schemas.openxmlformats.org/drawingml/2006/table">
            <a:tbl>
              <a:tblPr firstRow="1" bandRow="1">
                <a:tableStyleId>{5C22544A-7EE6-4342-B048-85BDC9FD1C3A}</a:tableStyleId>
              </a:tblPr>
              <a:tblGrid>
                <a:gridCol w="2198428"/>
                <a:gridCol w="8993571"/>
              </a:tblGrid>
              <a:tr h="520000">
                <a:tc>
                  <a:txBody>
                    <a:bodyPr/>
                    <a:lstStyle/>
                    <a:p>
                      <a:r>
                        <a:rPr sz="1400" b="1">
                          <a:solidFill>
                            <a:srgbClr val="FFFFFF"/>
                          </a:solidFill>
                          <a:latin typeface="Noto Sans CJK SC"/>
                        </a:rPr>
                        <a:t>关键词</a:t>
                      </a:r>
                    </a:p>
                  </a:txBody>
                  <a:tcPr>
                    <a:solidFill>
                      <a:srgbClr val="1F2A44"/>
                    </a:solidFill>
                  </a:tcPr>
                </a:tc>
                <a:tc>
                  <a:txBody>
                    <a:bodyPr/>
                    <a:lstStyle/>
                    <a:p>
                      <a:r>
                        <a:rPr sz="1400" b="1">
                          <a:solidFill>
                            <a:srgbClr val="FFFFFF"/>
                          </a:solidFill>
                          <a:latin typeface="Noto Sans CJK SC"/>
                        </a:rPr>
                        <a:t>大白话解释</a:t>
                      </a:r>
                    </a:p>
                  </a:txBody>
                  <a:tcPr>
                    <a:solidFill>
                      <a:srgbClr val="1F2A44"/>
                    </a:solidFill>
                  </a:tcPr>
                </a:tc>
              </a:tr>
              <a:tr h="520000">
                <a:tc>
                  <a:txBody>
                    <a:bodyPr/>
                    <a:lstStyle/>
                    <a:p>
                      <a:r>
                        <a:rPr sz="1400" b="0">
                          <a:solidFill>
                            <a:srgbClr val="1F2A44"/>
                          </a:solidFill>
                          <a:latin typeface="Noto Sans CJK SC"/>
                        </a:rPr>
                        <a:t>智能体（agent）</a:t>
                      </a:r>
                    </a:p>
                  </a:txBody>
                  <a:tcPr>
                    <a:solidFill>
                      <a:srgbClr val="EEF1F5"/>
                    </a:solidFill>
                  </a:tcPr>
                </a:tc>
                <a:tc>
                  <a:txBody>
                    <a:bodyPr/>
                    <a:lstStyle/>
                    <a:p>
                      <a:r>
                        <a:rPr sz="1400" b="0">
                          <a:solidFill>
                            <a:srgbClr val="1F2A44"/>
                          </a:solidFill>
                          <a:latin typeface="Noto Sans CJK SC"/>
                        </a:rPr>
                        <a:t>大模型 + 工具（读写文件、跑代码、发消息），能自己连续干活</a:t>
                      </a:r>
                    </a:p>
                  </a:txBody>
                  <a:tcPr>
                    <a:solidFill>
                      <a:srgbClr val="EEF1F5"/>
                    </a:solidFill>
                  </a:tcPr>
                </a:tc>
              </a:tr>
              <a:tr h="520000">
                <a:tc>
                  <a:txBody>
                    <a:bodyPr/>
                    <a:lstStyle/>
                    <a:p>
                      <a:r>
                        <a:rPr sz="1400" b="0">
                          <a:solidFill>
                            <a:srgbClr val="1F2A44"/>
                          </a:solidFill>
                          <a:latin typeface="Noto Sans CJK SC"/>
                        </a:rPr>
                        <a:t>制度 / 规章</a:t>
                      </a:r>
                    </a:p>
                  </a:txBody>
                  <a:tcPr>
                    <a:solidFill>
                      <a:srgbClr val="FFFFFF"/>
                    </a:solidFill>
                  </a:tcPr>
                </a:tc>
                <a:tc>
                  <a:txBody>
                    <a:bodyPr/>
                    <a:lstStyle/>
                    <a:p>
                      <a:r>
                        <a:rPr sz="1400" b="0">
                          <a:solidFill>
                            <a:srgbClr val="1F2A44"/>
                          </a:solidFill>
                          <a:latin typeface="Noto Sans CJK SC"/>
                        </a:rPr>
                        <a:t>写在配置文件里的团队规则，如「批准人不能是作者」；程序只负责照章执行</a:t>
                      </a:r>
                    </a:p>
                  </a:txBody>
                  <a:tcPr>
                    <a:solidFill>
                      <a:srgbClr val="FFFFFF"/>
                    </a:solidFill>
                  </a:tcPr>
                </a:tc>
              </a:tr>
              <a:tr h="520000">
                <a:tc>
                  <a:txBody>
                    <a:bodyPr/>
                    <a:lstStyle/>
                    <a:p>
                      <a:r>
                        <a:rPr sz="1400" b="0">
                          <a:solidFill>
                            <a:srgbClr val="1F2A44"/>
                          </a:solidFill>
                          <a:latin typeface="Noto Sans CJK SC"/>
                        </a:rPr>
                        <a:t>关闭 / 虚假关闭</a:t>
                      </a:r>
                    </a:p>
                  </a:txBody>
                  <a:tcPr>
                    <a:solidFill>
                      <a:srgbClr val="EEF1F5"/>
                    </a:solidFill>
                  </a:tcPr>
                </a:tc>
                <a:tc>
                  <a:txBody>
                    <a:bodyPr/>
                    <a:lstStyle/>
                    <a:p>
                      <a:r>
                        <a:rPr sz="1400" b="0">
                          <a:solidFill>
                            <a:srgbClr val="1F2A44"/>
                          </a:solidFill>
                          <a:latin typeface="Noto Sans CJK SC"/>
                        </a:rPr>
                        <a:t>团队宣布「做完了」/ 宣布做完了，但官方答案判定</a:t>
                      </a:r>
                      <a:r>
                        <a:rPr sz="1400" b="1">
                          <a:solidFill>
                            <a:srgbClr val="C0392B"/>
                          </a:solidFill>
                          <a:latin typeface="Noto Sans CJK SC"/>
                        </a:rPr>
                        <a:t>其实没全对</a:t>
                      </a:r>
                    </a:p>
                  </a:txBody>
                  <a:tcPr>
                    <a:solidFill>
                      <a:srgbClr val="EEF1F5"/>
                    </a:solidFill>
                  </a:tcPr>
                </a:tc>
              </a:tr>
              <a:tr h="520000">
                <a:tc>
                  <a:txBody>
                    <a:bodyPr/>
                    <a:lstStyle/>
                    <a:p>
                      <a:r>
                        <a:rPr sz="1400" b="0">
                          <a:solidFill>
                            <a:srgbClr val="1F2A44"/>
                          </a:solidFill>
                          <a:latin typeface="Noto Sans CJK SC"/>
                        </a:rPr>
                        <a:t>精确率</a:t>
                      </a:r>
                    </a:p>
                  </a:txBody>
                  <a:tcPr>
                    <a:solidFill>
                      <a:srgbClr val="FFFFFF"/>
                    </a:solidFill>
                  </a:tcPr>
                </a:tc>
                <a:tc>
                  <a:txBody>
                    <a:bodyPr/>
                    <a:lstStyle/>
                    <a:p>
                      <a:r>
                        <a:rPr sz="1400" b="0">
                          <a:solidFill>
                            <a:srgbClr val="1F2A44"/>
                          </a:solidFill>
                          <a:latin typeface="Noto Sans CJK SC"/>
                        </a:rPr>
                        <a:t>团队说「做完了」的任务中，</a:t>
                      </a:r>
                      <a:r>
                        <a:rPr sz="1400" b="1">
                          <a:solidFill>
                            <a:srgbClr val="C0392B"/>
                          </a:solidFill>
                          <a:latin typeface="Noto Sans CJK SC"/>
                        </a:rPr>
                        <a:t>真的全对</a:t>
                      </a:r>
                      <a:r>
                        <a:rPr sz="1400" b="0">
                          <a:solidFill>
                            <a:srgbClr val="1F2A44"/>
                          </a:solidFill>
                          <a:latin typeface="Noto Sans CJK SC"/>
                        </a:rPr>
                        <a:t>的比例 —— 团队的话有多可信</a:t>
                      </a:r>
                    </a:p>
                  </a:txBody>
                  <a:tcPr>
                    <a:solidFill>
                      <a:srgbClr val="FFFFFF"/>
                    </a:solidFill>
                  </a:tcPr>
                </a:tc>
              </a:tr>
              <a:tr h="520000">
                <a:tc>
                  <a:txBody>
                    <a:bodyPr/>
                    <a:lstStyle/>
                    <a:p>
                      <a:r>
                        <a:rPr sz="1400" b="0">
                          <a:solidFill>
                            <a:srgbClr val="1F2A44"/>
                          </a:solidFill>
                          <a:latin typeface="Noto Sans CJK SC"/>
                        </a:rPr>
                        <a:t>独立证据</a:t>
                      </a:r>
                    </a:p>
                  </a:txBody>
                  <a:tcPr>
                    <a:solidFill>
                      <a:srgbClr val="EEF1F5"/>
                    </a:solidFill>
                  </a:tcPr>
                </a:tc>
                <a:tc>
                  <a:txBody>
                    <a:bodyPr/>
                    <a:lstStyle/>
                    <a:p>
                      <a:r>
                        <a:rPr sz="1400" b="0">
                          <a:solidFill>
                            <a:srgbClr val="1F2A44"/>
                          </a:solidFill>
                          <a:latin typeface="Noto Sans CJK SC"/>
                        </a:rPr>
                        <a:t>检查者手里有作者</a:t>
                      </a:r>
                      <a:r>
                        <a:rPr sz="1400" b="1">
                          <a:solidFill>
                            <a:srgbClr val="C0392B"/>
                          </a:solidFill>
                          <a:latin typeface="Noto Sans CJK SC"/>
                        </a:rPr>
                        <a:t>看不到</a:t>
                      </a:r>
                      <a:r>
                        <a:rPr sz="1400" b="0">
                          <a:solidFill>
                            <a:srgbClr val="1F2A44"/>
                          </a:solidFill>
                          <a:latin typeface="Noto Sans CJK SC"/>
                        </a:rPr>
                        <a:t>的信息（例如一份保留测试题）</a:t>
                      </a:r>
                    </a:p>
                  </a:txBody>
                  <a:tcPr>
                    <a:solidFill>
                      <a:srgbClr val="EEF1F5"/>
                    </a:solidFill>
                  </a:tcPr>
                </a:tc>
              </a:tr>
              <a:tr h="520000">
                <a:tc>
                  <a:txBody>
                    <a:bodyPr/>
                    <a:lstStyle/>
                    <a:p>
                      <a:r>
                        <a:rPr sz="1400" b="0">
                          <a:solidFill>
                            <a:srgbClr val="1F2A44"/>
                          </a:solidFill>
                          <a:latin typeface="Noto Sans CJK SC"/>
                        </a:rPr>
                        <a:t>臂</a:t>
                      </a:r>
                    </a:p>
                  </a:txBody>
                  <a:tcPr>
                    <a:solidFill>
                      <a:srgbClr val="FFFFFF"/>
                    </a:solidFill>
                  </a:tcPr>
                </a:tc>
                <a:tc>
                  <a:txBody>
                    <a:bodyPr/>
                    <a:lstStyle/>
                    <a:p>
                      <a:r>
                        <a:rPr sz="1400" b="0">
                          <a:solidFill>
                            <a:srgbClr val="1F2A44"/>
                          </a:solidFill>
                          <a:latin typeface="Noto Sans CJK SC"/>
                        </a:rPr>
                        <a:t>实验中的一种条件；各臂只差一个因素，用来看这个因素的作用</a:t>
                      </a:r>
                    </a:p>
                  </a:txBody>
                  <a:tcPr>
                    <a:solidFill>
                      <a:srgbClr val="FFFFFF"/>
                    </a:solidFill>
                  </a:tcPr>
                </a:tc>
              </a:tr>
              <a:tr h="520000">
                <a:tc>
                  <a:txBody>
                    <a:bodyPr/>
                    <a:lstStyle/>
                    <a:p>
                      <a:r>
                        <a:rPr sz="1400" b="0">
                          <a:solidFill>
                            <a:srgbClr val="1F2A44"/>
                          </a:solidFill>
                          <a:latin typeface="Noto Sans CJK SC"/>
                        </a:rPr>
                        <a:t>断路器</a:t>
                      </a:r>
                    </a:p>
                  </a:txBody>
                  <a:tcPr>
                    <a:solidFill>
                      <a:srgbClr val="EEF1F5"/>
                    </a:solidFill>
                  </a:tcPr>
                </a:tc>
                <a:tc>
                  <a:txBody>
                    <a:bodyPr/>
                    <a:lstStyle/>
                    <a:p>
                      <a:r>
                        <a:rPr sz="1400" b="0">
                          <a:solidFill>
                            <a:srgbClr val="1F2A44"/>
                          </a:solidFill>
                          <a:latin typeface="Noto Sans CJK SC"/>
                        </a:rPr>
                        <a:t>花费 / 时间上限的保险丝；被触发 = 系统有缺陷，要排查</a:t>
                      </a:r>
                    </a:p>
                  </a:txBody>
                  <a:tcPr>
                    <a:solidFill>
                      <a:srgbClr val="EEF1F5"/>
                    </a:solidFill>
                  </a:tcPr>
                </a:tc>
              </a:tr>
              <a:tr h="520000">
                <a:tc>
                  <a:txBody>
                    <a:bodyPr/>
                    <a:lstStyle/>
                    <a:p>
                      <a:r>
                        <a:rPr sz="1400" b="0">
                          <a:solidFill>
                            <a:srgbClr val="1F2A44"/>
                          </a:solidFill>
                          <a:latin typeface="Noto Sans CJK SC"/>
                        </a:rPr>
                        <a:t>重放审计</a:t>
                      </a:r>
                    </a:p>
                  </a:txBody>
                  <a:tcPr>
                    <a:solidFill>
                      <a:srgbClr val="FFFFFF"/>
                    </a:solidFill>
                  </a:tcPr>
                </a:tc>
                <a:tc>
                  <a:txBody>
                    <a:bodyPr/>
                    <a:lstStyle/>
                    <a:p>
                      <a:r>
                        <a:rPr sz="1400" b="0">
                          <a:solidFill>
                            <a:srgbClr val="1F2A44"/>
                          </a:solidFill>
                          <a:latin typeface="Noto Sans CJK SC"/>
                        </a:rPr>
                        <a:t>事后用同样规则把全部动作重放一遍，结果必须完全一致</a:t>
                      </a:r>
                    </a:p>
                  </a:txBody>
                  <a:tcPr>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20000"/>
            <a:ext cx="11192000" cy="700000"/>
          </a:xfrm>
          <a:prstGeom prst="rect">
            <a:avLst/>
          </a:prstGeom>
          <a:noFill/>
        </p:spPr>
        <p:txBody>
          <a:bodyPr wrap="none">
            <a:spAutoFit/>
          </a:bodyPr>
          <a:lstStyle/>
          <a:p>
            <a:r>
              <a:rPr sz="2800" b="1">
                <a:solidFill>
                  <a:srgbClr val="1F2A44"/>
                </a:solidFill>
                <a:latin typeface="Noto Sans CJK SC"/>
              </a:rPr>
              <a:t>一、我们想做成的两件事</a:t>
            </a:r>
          </a:p>
        </p:txBody>
      </p:sp>
      <p:sp>
        <p:nvSpPr>
          <p:cNvPr id="4" name="TextBox 3"/>
          <p:cNvSpPr txBox="1"/>
          <p:nvPr/>
        </p:nvSpPr>
        <p:spPr>
          <a:xfrm>
            <a:off x="10692000" y="6408000"/>
            <a:ext cx="1200000" cy="300000"/>
          </a:xfrm>
          <a:prstGeom prst="rect">
            <a:avLst/>
          </a:prstGeom>
          <a:noFill/>
        </p:spPr>
        <p:txBody>
          <a:bodyPr wrap="none">
            <a:spAutoFit/>
          </a:bodyPr>
          <a:lstStyle/>
          <a:p>
            <a:r>
              <a:rPr sz="1000" b="0">
                <a:solidFill>
                  <a:srgbClr val="555F6D"/>
                </a:solidFill>
                <a:latin typeface="Noto Sans CJK SC"/>
              </a:rPr>
              <a:t>SciTeam · 4</a:t>
            </a:r>
          </a:p>
        </p:txBody>
      </p:sp>
      <p:sp>
        <p:nvSpPr>
          <p:cNvPr id="5" name="TextBox 4"/>
          <p:cNvSpPr txBox="1"/>
          <p:nvPr/>
        </p:nvSpPr>
        <p:spPr>
          <a:xfrm>
            <a:off x="500000" y="1250000"/>
            <a:ext cx="11192000" cy="5058000"/>
          </a:xfrm>
          <a:prstGeom prst="rect">
            <a:avLst/>
          </a:prstGeom>
          <a:noFill/>
        </p:spPr>
        <p:txBody>
          <a:bodyPr wrap="square">
            <a:spAutoFit/>
          </a:bodyPr>
          <a:lstStyle/>
          <a:p>
            <a:pPr>
              <a:spcAft>
                <a:spcPts val="600"/>
              </a:spcAft>
            </a:pPr>
            <a:r>
              <a:rPr sz="1700" b="0">
                <a:solidFill>
                  <a:srgbClr val="555F6D"/>
                </a:solidFill>
                <a:latin typeface="Noto Sans CJK SC"/>
              </a:rPr>
              <a:t>• </a:t>
            </a:r>
            <a:r>
              <a:rPr sz="1700" b="1">
                <a:solidFill>
                  <a:srgbClr val="C0392B"/>
                </a:solidFill>
                <a:latin typeface="Noto Sans CJK SC"/>
              </a:rPr>
              <a:t>工程目标</a:t>
            </a:r>
            <a:r>
              <a:rPr sz="1700" b="0">
                <a:solidFill>
                  <a:srgbClr val="1F2A44"/>
                </a:solidFill>
                <a:latin typeface="Noto Sans CJK SC"/>
              </a:rPr>
              <a:t>：给一个「创始人」AI 一句使命，它能自己写章程、招人、分工，完成真实的研究与工程任务</a:t>
            </a:r>
          </a:p>
          <a:p>
            <a:pPr>
              <a:spcAft>
                <a:spcPts val="600"/>
              </a:spcAft>
            </a:pPr>
            <a:r>
              <a:rPr sz="1700" b="0">
                <a:solidFill>
                  <a:srgbClr val="555F6D"/>
                </a:solidFill>
                <a:latin typeface="Noto Sans CJK SC"/>
              </a:rPr>
              <a:t>• </a:t>
            </a:r>
            <a:r>
              <a:rPr sz="1700" b="1">
                <a:solidFill>
                  <a:srgbClr val="C0392B"/>
                </a:solidFill>
                <a:latin typeface="Noto Sans CJK SC"/>
              </a:rPr>
              <a:t>科学目标</a:t>
            </a:r>
            <a:r>
              <a:rPr sz="1700" b="0">
                <a:solidFill>
                  <a:srgbClr val="1F2A44"/>
                </a:solidFill>
                <a:latin typeface="Noto Sans CJK SC"/>
              </a:rPr>
              <a:t>：程序冻结不动，</a:t>
            </a:r>
            <a:r>
              <a:rPr sz="1700" b="1">
                <a:solidFill>
                  <a:srgbClr val="C0392B"/>
                </a:solidFill>
                <a:latin typeface="Noto Sans CJK SC"/>
              </a:rPr>
              <a:t>只换规章文件</a:t>
            </a:r>
            <a:r>
              <a:rPr sz="1700" b="0">
                <a:solidFill>
                  <a:srgbClr val="1F2A44"/>
                </a:solidFill>
                <a:latin typeface="Noto Sans CJK SC"/>
              </a:rPr>
              <a:t>，观察团队表现怎么变 —— 结果不同，就一定是规章造成的</a:t>
            </a:r>
          </a:p>
          <a:p>
            <a:pPr>
              <a:spcAft>
                <a:spcPts val="600"/>
              </a:spcAft>
            </a:pPr>
            <a:r>
              <a:rPr sz="1700" b="0">
                <a:solidFill>
                  <a:srgbClr val="555F6D"/>
                </a:solidFill>
                <a:latin typeface="Noto Sans CJK SC"/>
              </a:rPr>
              <a:t>• </a:t>
            </a:r>
            <a:r>
              <a:rPr sz="1700" b="0">
                <a:solidFill>
                  <a:srgbClr val="1F2A44"/>
                </a:solidFill>
                <a:latin typeface="Noto Sans CJK SC"/>
              </a:rPr>
              <a:t>我们的立场：团队怎么运作由</a:t>
            </a:r>
            <a:r>
              <a:rPr sz="1700" b="1">
                <a:solidFill>
                  <a:srgbClr val="C0392B"/>
                </a:solidFill>
                <a:latin typeface="Noto Sans CJK SC"/>
              </a:rPr>
              <a:t>制度</a:t>
            </a:r>
            <a:r>
              <a:rPr sz="1700" b="0">
                <a:solidFill>
                  <a:srgbClr val="1F2A44"/>
                </a:solidFill>
                <a:latin typeface="Noto Sans CJK SC"/>
              </a:rPr>
              <a:t>决定，而不是由程序员把流程写死</a:t>
            </a:r>
          </a:p>
          <a:p>
            <a:pPr>
              <a:spcAft>
                <a:spcPts val="600"/>
              </a:spcAft>
            </a:pPr>
            <a:r>
              <a:rPr sz="1500" b="0">
                <a:solidFill>
                  <a:srgbClr val="555F6D"/>
                </a:solidFill>
                <a:latin typeface="Noto Sans CJK SC"/>
              </a:rPr>
              <a:t>    – </a:t>
            </a:r>
            <a:r>
              <a:rPr sz="1500" b="0">
                <a:solidFill>
                  <a:srgbClr val="555F6D"/>
                </a:solidFill>
                <a:latin typeface="Noto Sans CJK SC"/>
              </a:rPr>
              <a:t>程序里没有「部门」「角色」这类概念，全部写在配置里</a:t>
            </a:r>
          </a:p>
          <a:p>
            <a:pPr>
              <a:spcAft>
                <a:spcPts val="600"/>
              </a:spcAft>
            </a:pPr>
            <a:r>
              <a:rPr sz="1500" b="0">
                <a:solidFill>
                  <a:srgbClr val="555F6D"/>
                </a:solidFill>
                <a:latin typeface="Noto Sans CJK SC"/>
              </a:rPr>
              <a:t>    – </a:t>
            </a:r>
            <a:r>
              <a:rPr sz="1500" b="0">
                <a:solidFill>
                  <a:srgbClr val="555F6D"/>
                </a:solidFill>
                <a:latin typeface="Noto Sans CJK SC"/>
              </a:rPr>
              <a:t>「这份工作算不算通过」不让大模型拍板，由规则 + 机械测试结果决定</a:t>
            </a:r>
          </a:p>
          <a:p>
            <a:pPr>
              <a:spcAft>
                <a:spcPts val="600"/>
              </a:spcAft>
            </a:pPr>
            <a:r>
              <a:rPr sz="1700" b="0">
                <a:solidFill>
                  <a:srgbClr val="555F6D"/>
                </a:solidFill>
                <a:latin typeface="Noto Sans CJK SC"/>
              </a:rPr>
              <a:t>• </a:t>
            </a:r>
            <a:r>
              <a:rPr sz="1700" b="0">
                <a:solidFill>
                  <a:srgbClr val="1F2A44"/>
                </a:solidFill>
                <a:latin typeface="Noto Sans CJK SC"/>
              </a:rPr>
              <a:t>标志性目标：把 Google 已发表的多智能体科研组织 </a:t>
            </a:r>
            <a:r>
              <a:rPr sz="1700" b="1">
                <a:solidFill>
                  <a:srgbClr val="C0392B"/>
                </a:solidFill>
                <a:latin typeface="Noto Sans CJK SC"/>
              </a:rPr>
              <a:t>Cogentic</a:t>
            </a:r>
            <a:r>
              <a:rPr sz="1700" b="0">
                <a:solidFill>
                  <a:srgbClr val="1F2A44"/>
                </a:solidFill>
                <a:latin typeface="Noto Sans CJK SC"/>
              </a:rPr>
              <a:t>，不写专门代码、只用规章「装」进来，并复现其效果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20000"/>
            <a:ext cx="11192000" cy="700000"/>
          </a:xfrm>
          <a:prstGeom prst="rect">
            <a:avLst/>
          </a:prstGeom>
          <a:noFill/>
        </p:spPr>
        <p:txBody>
          <a:bodyPr wrap="none">
            <a:spAutoFit/>
          </a:bodyPr>
          <a:lstStyle/>
          <a:p>
            <a:r>
              <a:rPr sz="2800" b="1">
                <a:solidFill>
                  <a:srgbClr val="1F2A44"/>
                </a:solidFill>
                <a:latin typeface="Noto Sans CJK SC"/>
              </a:rPr>
              <a:t>一、立项时的设想，现在怎么样了</a:t>
            </a:r>
          </a:p>
          <a:p>
            <a:r>
              <a:rPr sz="1400" b="0">
                <a:solidFill>
                  <a:srgbClr val="555F6D"/>
                </a:solidFill>
                <a:latin typeface="Noto Sans CJK SC"/>
              </a:rPr>
              <a:t>有的被证实，有的被推翻；被推翻的那些反而让研究方向更清楚</a:t>
            </a:r>
          </a:p>
        </p:txBody>
      </p:sp>
      <p:sp>
        <p:nvSpPr>
          <p:cNvPr id="4" name="TextBox 3"/>
          <p:cNvSpPr txBox="1"/>
          <p:nvPr/>
        </p:nvSpPr>
        <p:spPr>
          <a:xfrm>
            <a:off x="10692000" y="6408000"/>
            <a:ext cx="1200000" cy="300000"/>
          </a:xfrm>
          <a:prstGeom prst="rect">
            <a:avLst/>
          </a:prstGeom>
          <a:noFill/>
        </p:spPr>
        <p:txBody>
          <a:bodyPr wrap="none">
            <a:spAutoFit/>
          </a:bodyPr>
          <a:lstStyle/>
          <a:p>
            <a:r>
              <a:rPr sz="1000" b="0">
                <a:solidFill>
                  <a:srgbClr val="555F6D"/>
                </a:solidFill>
                <a:latin typeface="Noto Sans CJK SC"/>
              </a:rPr>
              <a:t>SciTeam · 5</a:t>
            </a:r>
          </a:p>
        </p:txBody>
      </p:sp>
      <p:graphicFrame>
        <p:nvGraphicFramePr>
          <p:cNvPr id="5" name="Table 4"/>
          <p:cNvGraphicFramePr>
            <a:graphicFrameLocks noGrp="1"/>
          </p:cNvGraphicFramePr>
          <p:nvPr/>
        </p:nvGraphicFramePr>
        <p:xfrm>
          <a:off x="500000" y="1300000"/>
          <a:ext cx="11191999" cy="3920000"/>
        </p:xfrm>
        <a:graphic>
          <a:graphicData uri="http://schemas.openxmlformats.org/drawingml/2006/table">
            <a:tbl>
              <a:tblPr firstRow="1" bandRow="1">
                <a:tableStyleId>{5C22544A-7EE6-4342-B048-85BDC9FD1C3A}</a:tableStyleId>
              </a:tblPr>
              <a:tblGrid>
                <a:gridCol w="5129666"/>
                <a:gridCol w="6062333"/>
              </a:tblGrid>
              <a:tr h="560000">
                <a:tc>
                  <a:txBody>
                    <a:bodyPr/>
                    <a:lstStyle/>
                    <a:p>
                      <a:r>
                        <a:rPr sz="1400" b="1">
                          <a:solidFill>
                            <a:srgbClr val="FFFFFF"/>
                          </a:solidFill>
                          <a:latin typeface="Noto Sans CJK SC"/>
                        </a:rPr>
                        <a:t>立项时的设想</a:t>
                      </a:r>
                    </a:p>
                  </a:txBody>
                  <a:tcPr>
                    <a:solidFill>
                      <a:srgbClr val="1F2A44"/>
                    </a:solidFill>
                  </a:tcPr>
                </a:tc>
                <a:tc>
                  <a:txBody>
                    <a:bodyPr/>
                    <a:lstStyle/>
                    <a:p>
                      <a:r>
                        <a:rPr sz="1400" b="1">
                          <a:solidFill>
                            <a:srgbClr val="FFFFFF"/>
                          </a:solidFill>
                          <a:latin typeface="Noto Sans CJK SC"/>
                        </a:rPr>
                        <a:t>现在的结论</a:t>
                      </a:r>
                    </a:p>
                  </a:txBody>
                  <a:tcPr>
                    <a:solidFill>
                      <a:srgbClr val="1F2A44"/>
                    </a:solidFill>
                  </a:tcPr>
                </a:tc>
              </a:tr>
              <a:tr h="560000">
                <a:tc>
                  <a:txBody>
                    <a:bodyPr/>
                    <a:lstStyle/>
                    <a:p>
                      <a:r>
                        <a:rPr sz="1400" b="0">
                          <a:solidFill>
                            <a:srgbClr val="1F2A44"/>
                          </a:solidFill>
                          <a:latin typeface="Noto Sans CJK SC"/>
                        </a:rPr>
                        <a:t>加一个审核员 + 返工流程，质量就会提高</a:t>
                      </a:r>
                    </a:p>
                  </a:txBody>
                  <a:tcPr>
                    <a:solidFill>
                      <a:srgbClr val="EEF1F5"/>
                    </a:solidFill>
                  </a:tcPr>
                </a:tc>
                <a:tc>
                  <a:txBody>
                    <a:bodyPr/>
                    <a:lstStyle/>
                    <a:p>
                      <a:r>
                        <a:rPr sz="1400" b="1">
                          <a:solidFill>
                            <a:srgbClr val="C0392B"/>
                          </a:solidFill>
                          <a:latin typeface="Noto Sans CJK SC"/>
                        </a:rPr>
                        <a:t>不成立</a:t>
                      </a:r>
                      <a:r>
                        <a:rPr sz="1400" b="0">
                          <a:solidFill>
                            <a:srgbClr val="1F2A44"/>
                          </a:solidFill>
                          <a:latin typeface="Noto Sans CJK SC"/>
                        </a:rPr>
                        <a:t>：审核员和作者看同样的东西，等于自己审自己</a:t>
                      </a:r>
                    </a:p>
                  </a:txBody>
                  <a:tcPr>
                    <a:solidFill>
                      <a:srgbClr val="EEF1F5"/>
                    </a:solidFill>
                  </a:tcPr>
                </a:tc>
              </a:tr>
              <a:tr h="560000">
                <a:tc>
                  <a:txBody>
                    <a:bodyPr/>
                    <a:lstStyle/>
                    <a:p>
                      <a:r>
                        <a:rPr sz="1400" b="0">
                          <a:solidFill>
                            <a:srgbClr val="1F2A44"/>
                          </a:solidFill>
                          <a:latin typeface="Noto Sans CJK SC"/>
                        </a:rPr>
                        <a:t>审核员手里有独立的检查材料，就能挡住错误</a:t>
                      </a:r>
                    </a:p>
                  </a:txBody>
                  <a:tcPr>
                    <a:solidFill>
                      <a:srgbClr val="FFFFFF"/>
                    </a:solidFill>
                  </a:tcPr>
                </a:tc>
                <a:tc>
                  <a:txBody>
                    <a:bodyPr/>
                    <a:lstStyle/>
                    <a:p>
                      <a:r>
                        <a:rPr sz="1400" b="1">
                          <a:solidFill>
                            <a:srgbClr val="C0392B"/>
                          </a:solidFill>
                          <a:latin typeface="Noto Sans CJK SC"/>
                        </a:rPr>
                        <a:t>成立</a:t>
                      </a:r>
                      <a:r>
                        <a:rPr sz="1400" b="0">
                          <a:solidFill>
                            <a:srgbClr val="1F2A44"/>
                          </a:solidFill>
                          <a:latin typeface="Noto Sans CJK SC"/>
                        </a:rPr>
                        <a:t>：「做完了」的任务中全对比例 8% → 93%</a:t>
                      </a:r>
                    </a:p>
                  </a:txBody>
                  <a:tcPr>
                    <a:solidFill>
                      <a:srgbClr val="FFFFFF"/>
                    </a:solidFill>
                  </a:tcPr>
                </a:tc>
              </a:tr>
              <a:tr h="560000">
                <a:tc>
                  <a:txBody>
                    <a:bodyPr/>
                    <a:lstStyle/>
                    <a:p>
                      <a:r>
                        <a:rPr sz="1400" b="0">
                          <a:solidFill>
                            <a:srgbClr val="1F2A44"/>
                          </a:solidFill>
                          <a:latin typeface="Noto Sans CJK SC"/>
                        </a:rPr>
                        <a:t>返工卡住时，可以由程序自动判断并叫停</a:t>
                      </a:r>
                    </a:p>
                  </a:txBody>
                  <a:tcPr>
                    <a:solidFill>
                      <a:srgbClr val="EEF1F5"/>
                    </a:solidFill>
                  </a:tcPr>
                </a:tc>
                <a:tc>
                  <a:txBody>
                    <a:bodyPr/>
                    <a:lstStyle/>
                    <a:p>
                      <a:r>
                        <a:rPr sz="1400" b="1">
                          <a:solidFill>
                            <a:srgbClr val="C0392B"/>
                          </a:solidFill>
                          <a:latin typeface="Noto Sans CJK SC"/>
                        </a:rPr>
                        <a:t>不成立</a:t>
                      </a:r>
                      <a:r>
                        <a:rPr sz="1400" b="0">
                          <a:solidFill>
                            <a:srgbClr val="1F2A44"/>
                          </a:solidFill>
                          <a:latin typeface="Noto Sans CJK SC"/>
                        </a:rPr>
                        <a:t>：程序叫停更糟；把放弃权交给审核员才有效</a:t>
                      </a:r>
                    </a:p>
                  </a:txBody>
                  <a:tcPr>
                    <a:solidFill>
                      <a:srgbClr val="EEF1F5"/>
                    </a:solidFill>
                  </a:tcPr>
                </a:tc>
              </a:tr>
              <a:tr h="560000">
                <a:tc>
                  <a:txBody>
                    <a:bodyPr/>
                    <a:lstStyle/>
                    <a:p>
                      <a:r>
                        <a:rPr sz="1400" b="0">
                          <a:solidFill>
                            <a:srgbClr val="1F2A44"/>
                          </a:solidFill>
                          <a:latin typeface="Noto Sans CJK SC"/>
                        </a:rPr>
                        <a:t>两个 AI 互不知情各做一份、比对结果，能自产证据</a:t>
                      </a:r>
                    </a:p>
                  </a:txBody>
                  <a:tcPr>
                    <a:solidFill>
                      <a:srgbClr val="FFFFFF"/>
                    </a:solidFill>
                  </a:tcPr>
                </a:tc>
                <a:tc>
                  <a:txBody>
                    <a:bodyPr/>
                    <a:lstStyle/>
                    <a:p>
                      <a:r>
                        <a:rPr sz="1400" b="1">
                          <a:solidFill>
                            <a:srgbClr val="C0392B"/>
                          </a:solidFill>
                          <a:latin typeface="Noto Sans CJK SC"/>
                        </a:rPr>
                        <a:t>进行中</a:t>
                      </a:r>
                      <a:r>
                        <a:rPr sz="1400" b="0">
                          <a:solidFill>
                            <a:srgbClr val="1F2A44"/>
                          </a:solidFill>
                          <a:latin typeface="Noto Sans CJK SC"/>
                        </a:rPr>
                        <a:t>：错误的「完成」减半，但可信度没提高（后详）</a:t>
                      </a:r>
                    </a:p>
                  </a:txBody>
                  <a:tcPr>
                    <a:solidFill>
                      <a:srgbClr val="FFFFFF"/>
                    </a:solidFill>
                  </a:tcPr>
                </a:tc>
              </a:tr>
              <a:tr h="560000">
                <a:tc>
                  <a:txBody>
                    <a:bodyPr/>
                    <a:lstStyle/>
                    <a:p>
                      <a:r>
                        <a:rPr sz="1400" b="0">
                          <a:solidFill>
                            <a:srgbClr val="1F2A44"/>
                          </a:solidFill>
                          <a:latin typeface="Noto Sans CJK SC"/>
                        </a:rPr>
                        <a:t>换不同厂商的模型，独立性更强</a:t>
                      </a:r>
                    </a:p>
                  </a:txBody>
                  <a:tcPr>
                    <a:solidFill>
                      <a:srgbClr val="EEF1F5"/>
                    </a:solidFill>
                  </a:tcPr>
                </a:tc>
                <a:tc>
                  <a:txBody>
                    <a:bodyPr/>
                    <a:lstStyle/>
                    <a:p>
                      <a:r>
                        <a:rPr sz="1400" b="0">
                          <a:solidFill>
                            <a:srgbClr val="1F2A44"/>
                          </a:solidFill>
                          <a:latin typeface="Noto Sans CJK SC"/>
                        </a:rPr>
                        <a:t>方向一致但很弱，还不能下结论</a:t>
                      </a:r>
                    </a:p>
                  </a:txBody>
                  <a:tcPr>
                    <a:solidFill>
                      <a:srgbClr val="EEF1F5"/>
                    </a:solidFill>
                  </a:tcPr>
                </a:tc>
              </a:tr>
              <a:tr h="560000">
                <a:tc>
                  <a:txBody>
                    <a:bodyPr/>
                    <a:lstStyle/>
                    <a:p>
                      <a:r>
                        <a:rPr sz="1400" b="0">
                          <a:solidFill>
                            <a:srgbClr val="1F2A44"/>
                          </a:solidFill>
                          <a:latin typeface="Noto Sans CJK SC"/>
                        </a:rPr>
                        <a:t>不同协作模式（层级、扁平…）效果不同</a:t>
                      </a:r>
                    </a:p>
                  </a:txBody>
                  <a:tcPr>
                    <a:solidFill>
                      <a:srgbClr val="FFFFFF"/>
                    </a:solidFill>
                  </a:tcPr>
                </a:tc>
                <a:tc>
                  <a:txBody>
                    <a:bodyPr/>
                    <a:lstStyle/>
                    <a:p>
                      <a:r>
                        <a:rPr sz="1400" b="0">
                          <a:solidFill>
                            <a:srgbClr val="1F2A44"/>
                          </a:solidFill>
                          <a:latin typeface="Noto Sans CJK SC"/>
                        </a:rPr>
                        <a:t>原任务太简单都满分，推迟到更难的任务</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20000"/>
            <a:ext cx="11192000" cy="700000"/>
          </a:xfrm>
          <a:prstGeom prst="rect">
            <a:avLst/>
          </a:prstGeom>
          <a:noFill/>
        </p:spPr>
        <p:txBody>
          <a:bodyPr wrap="none">
            <a:spAutoFit/>
          </a:bodyPr>
          <a:lstStyle/>
          <a:p>
            <a:r>
              <a:rPr sz="2800" b="1">
                <a:solidFill>
                  <a:srgbClr val="1F2A44"/>
                </a:solidFill>
                <a:latin typeface="Noto Sans CJK SC"/>
              </a:rPr>
              <a:t>二、研究设计：一串环环相扣的问题</a:t>
            </a:r>
          </a:p>
          <a:p>
            <a:r>
              <a:rPr sz="1400" b="0">
                <a:solidFill>
                  <a:srgbClr val="555F6D"/>
                </a:solidFill>
                <a:latin typeface="Noto Sans CJK SC"/>
              </a:rPr>
              <a:t>每个实验都回答上一个实验留下的问题</a:t>
            </a:r>
          </a:p>
        </p:txBody>
      </p:sp>
      <p:sp>
        <p:nvSpPr>
          <p:cNvPr id="4" name="TextBox 3"/>
          <p:cNvSpPr txBox="1"/>
          <p:nvPr/>
        </p:nvSpPr>
        <p:spPr>
          <a:xfrm>
            <a:off x="10692000" y="6408000"/>
            <a:ext cx="1200000" cy="300000"/>
          </a:xfrm>
          <a:prstGeom prst="rect">
            <a:avLst/>
          </a:prstGeom>
          <a:noFill/>
        </p:spPr>
        <p:txBody>
          <a:bodyPr wrap="none">
            <a:spAutoFit/>
          </a:bodyPr>
          <a:lstStyle/>
          <a:p>
            <a:r>
              <a:rPr sz="1000" b="0">
                <a:solidFill>
                  <a:srgbClr val="555F6D"/>
                </a:solidFill>
                <a:latin typeface="Noto Sans CJK SC"/>
              </a:rPr>
              <a:t>SciTeam · 6</a:t>
            </a:r>
          </a:p>
        </p:txBody>
      </p:sp>
      <p:graphicFrame>
        <p:nvGraphicFramePr>
          <p:cNvPr id="5" name="Table 4"/>
          <p:cNvGraphicFramePr>
            <a:graphicFrameLocks noGrp="1"/>
          </p:cNvGraphicFramePr>
          <p:nvPr/>
        </p:nvGraphicFramePr>
        <p:xfrm>
          <a:off x="500000" y="1300000"/>
          <a:ext cx="11191997" cy="3920000"/>
        </p:xfrm>
        <a:graphic>
          <a:graphicData uri="http://schemas.openxmlformats.org/drawingml/2006/table">
            <a:tbl>
              <a:tblPr firstRow="1" bandRow="1">
                <a:tableStyleId>{5C22544A-7EE6-4342-B048-85BDC9FD1C3A}</a:tableStyleId>
              </a:tblPr>
              <a:tblGrid>
                <a:gridCol w="964827"/>
                <a:gridCol w="5306551"/>
                <a:gridCol w="2508551"/>
                <a:gridCol w="2412068"/>
              </a:tblGrid>
              <a:tr h="560000">
                <a:tc>
                  <a:txBody>
                    <a:bodyPr/>
                    <a:lstStyle/>
                    <a:p>
                      <a:r>
                        <a:rPr sz="1400" b="1">
                          <a:solidFill>
                            <a:srgbClr val="FFFFFF"/>
                          </a:solidFill>
                          <a:latin typeface="Noto Sans CJK SC"/>
                        </a:rPr>
                        <a:t>编号</a:t>
                      </a:r>
                    </a:p>
                  </a:txBody>
                  <a:tcPr>
                    <a:solidFill>
                      <a:srgbClr val="1F2A44"/>
                    </a:solidFill>
                  </a:tcPr>
                </a:tc>
                <a:tc>
                  <a:txBody>
                    <a:bodyPr/>
                    <a:lstStyle/>
                    <a:p>
                      <a:r>
                        <a:rPr sz="1400" b="1">
                          <a:solidFill>
                            <a:srgbClr val="FFFFFF"/>
                          </a:solidFill>
                          <a:latin typeface="Noto Sans CJK SC"/>
                        </a:rPr>
                        <a:t>问题</a:t>
                      </a:r>
                    </a:p>
                  </a:txBody>
                  <a:tcPr>
                    <a:solidFill>
                      <a:srgbClr val="1F2A44"/>
                    </a:solidFill>
                  </a:tcPr>
                </a:tc>
                <a:tc>
                  <a:txBody>
                    <a:bodyPr/>
                    <a:lstStyle/>
                    <a:p>
                      <a:r>
                        <a:rPr sz="1400" b="1">
                          <a:solidFill>
                            <a:srgbClr val="FFFFFF"/>
                          </a:solidFill>
                          <a:latin typeface="Noto Sans CJK SC"/>
                        </a:rPr>
                        <a:t>实验</a:t>
                      </a:r>
                    </a:p>
                  </a:txBody>
                  <a:tcPr>
                    <a:solidFill>
                      <a:srgbClr val="1F2A44"/>
                    </a:solidFill>
                  </a:tcPr>
                </a:tc>
                <a:tc>
                  <a:txBody>
                    <a:bodyPr/>
                    <a:lstStyle/>
                    <a:p>
                      <a:r>
                        <a:rPr sz="1400" b="1">
                          <a:solidFill>
                            <a:srgbClr val="FFFFFF"/>
                          </a:solidFill>
                          <a:latin typeface="Noto Sans CJK SC"/>
                        </a:rPr>
                        <a:t>状态</a:t>
                      </a:r>
                    </a:p>
                  </a:txBody>
                  <a:tcPr>
                    <a:solidFill>
                      <a:srgbClr val="1F2A44"/>
                    </a:solidFill>
                  </a:tcPr>
                </a:tc>
              </a:tr>
              <a:tr h="560000">
                <a:tc>
                  <a:txBody>
                    <a:bodyPr/>
                    <a:lstStyle/>
                    <a:p>
                      <a:r>
                        <a:rPr sz="1400" b="0">
                          <a:solidFill>
                            <a:srgbClr val="1F2A44"/>
                          </a:solidFill>
                          <a:latin typeface="Noto Sans CJK SC"/>
                        </a:rPr>
                        <a:t>Q1</a:t>
                      </a:r>
                    </a:p>
                  </a:txBody>
                  <a:tcPr>
                    <a:solidFill>
                      <a:srgbClr val="EEF1F5"/>
                    </a:solidFill>
                  </a:tcPr>
                </a:tc>
                <a:tc>
                  <a:txBody>
                    <a:bodyPr/>
                    <a:lstStyle/>
                    <a:p>
                      <a:r>
                        <a:rPr sz="1400" b="0">
                          <a:solidFill>
                            <a:srgbClr val="1F2A44"/>
                          </a:solidFill>
                          <a:latin typeface="Noto Sans CJK SC"/>
                        </a:rPr>
                        <a:t>给团队加审核手续，能不能提高质量？</a:t>
                      </a:r>
                    </a:p>
                  </a:txBody>
                  <a:tcPr>
                    <a:solidFill>
                      <a:srgbClr val="EEF1F5"/>
                    </a:solidFill>
                  </a:tcPr>
                </a:tc>
                <a:tc>
                  <a:txBody>
                    <a:bodyPr/>
                    <a:lstStyle/>
                    <a:p>
                      <a:r>
                        <a:rPr sz="1400" b="0">
                          <a:solidFill>
                            <a:srgbClr val="1F2A44"/>
                          </a:solidFill>
                          <a:latin typeface="Noto Sans CJK SC"/>
                        </a:rPr>
                        <a:t>X-inst</a:t>
                      </a:r>
                    </a:p>
                  </a:txBody>
                  <a:tcPr>
                    <a:solidFill>
                      <a:srgbClr val="EEF1F5"/>
                    </a:solidFill>
                  </a:tcPr>
                </a:tc>
                <a:tc>
                  <a:txBody>
                    <a:bodyPr/>
                    <a:lstStyle/>
                    <a:p>
                      <a:r>
                        <a:rPr sz="1400" b="0">
                          <a:solidFill>
                            <a:srgbClr val="1F2A44"/>
                          </a:solidFill>
                          <a:latin typeface="Noto Sans CJK SC"/>
                        </a:rPr>
                        <a:t>完成：不能</a:t>
                      </a:r>
                    </a:p>
                  </a:txBody>
                  <a:tcPr>
                    <a:solidFill>
                      <a:srgbClr val="EEF1F5"/>
                    </a:solidFill>
                  </a:tcPr>
                </a:tc>
              </a:tr>
              <a:tr h="560000">
                <a:tc>
                  <a:txBody>
                    <a:bodyPr/>
                    <a:lstStyle/>
                    <a:p>
                      <a:r>
                        <a:rPr sz="1400" b="0">
                          <a:solidFill>
                            <a:srgbClr val="1F2A44"/>
                          </a:solidFill>
                          <a:latin typeface="Noto Sans CJK SC"/>
                        </a:rPr>
                        <a:t>Q1a</a:t>
                      </a:r>
                    </a:p>
                  </a:txBody>
                  <a:tcPr>
                    <a:solidFill>
                      <a:srgbClr val="FFFFFF"/>
                    </a:solidFill>
                  </a:tcPr>
                </a:tc>
                <a:tc>
                  <a:txBody>
                    <a:bodyPr/>
                    <a:lstStyle/>
                    <a:p>
                      <a:r>
                        <a:rPr sz="1400" b="0">
                          <a:solidFill>
                            <a:srgbClr val="1F2A44"/>
                          </a:solidFill>
                          <a:latin typeface="Noto Sans CJK SC"/>
                        </a:rPr>
                        <a:t>审核员有独立证据时，能挡住多少错误？代价？</a:t>
                      </a:r>
                    </a:p>
                  </a:txBody>
                  <a:tcPr>
                    <a:solidFill>
                      <a:srgbClr val="FFFFFF"/>
                    </a:solidFill>
                  </a:tcPr>
                </a:tc>
                <a:tc>
                  <a:txBody>
                    <a:bodyPr/>
                    <a:lstStyle/>
                    <a:p>
                      <a:r>
                        <a:rPr sz="1400" b="0">
                          <a:solidFill>
                            <a:srgbClr val="1F2A44"/>
                          </a:solidFill>
                          <a:latin typeface="Noto Sans CJK SC"/>
                        </a:rPr>
                        <a:t>X-inst-confirm 等</a:t>
                      </a:r>
                    </a:p>
                  </a:txBody>
                  <a:tcPr>
                    <a:solidFill>
                      <a:srgbClr val="FFFFFF"/>
                    </a:solidFill>
                  </a:tcPr>
                </a:tc>
                <a:tc>
                  <a:txBody>
                    <a:bodyPr/>
                    <a:lstStyle/>
                    <a:p>
                      <a:r>
                        <a:rPr sz="1400" b="0">
                          <a:solidFill>
                            <a:srgbClr val="1F2A44"/>
                          </a:solidFill>
                          <a:latin typeface="Noto Sans CJK SC"/>
                        </a:rPr>
                        <a:t>完成：能挡住大部分</a:t>
                      </a:r>
                    </a:p>
                  </a:txBody>
                  <a:tcPr>
                    <a:solidFill>
                      <a:srgbClr val="FFFFFF"/>
                    </a:solidFill>
                  </a:tcPr>
                </a:tc>
              </a:tr>
              <a:tr h="560000">
                <a:tc>
                  <a:txBody>
                    <a:bodyPr/>
                    <a:lstStyle/>
                    <a:p>
                      <a:r>
                        <a:rPr sz="1400" b="0">
                          <a:solidFill>
                            <a:srgbClr val="1F2A44"/>
                          </a:solidFill>
                          <a:latin typeface="Noto Sans CJK SC"/>
                        </a:rPr>
                        <a:t>E3</a:t>
                      </a:r>
                    </a:p>
                  </a:txBody>
                  <a:tcPr>
                    <a:solidFill>
                      <a:srgbClr val="EEF1F5"/>
                    </a:solidFill>
                  </a:tcPr>
                </a:tc>
                <a:tc>
                  <a:txBody>
                    <a:bodyPr/>
                    <a:lstStyle/>
                    <a:p>
                      <a:r>
                        <a:rPr sz="1400" b="0">
                          <a:solidFill>
                            <a:srgbClr val="1F2A44"/>
                          </a:solidFill>
                          <a:latin typeface="Noto Sans CJK SC"/>
                        </a:rPr>
                        <a:t>两份独立解答比对结果，理论上能发现错误吗？</a:t>
                      </a:r>
                    </a:p>
                  </a:txBody>
                  <a:tcPr>
                    <a:solidFill>
                      <a:srgbClr val="EEF1F5"/>
                    </a:solidFill>
                  </a:tcPr>
                </a:tc>
                <a:tc>
                  <a:txBody>
                    <a:bodyPr/>
                    <a:lstStyle/>
                    <a:p>
                      <a:r>
                        <a:rPr sz="1400" b="0">
                          <a:solidFill>
                            <a:srgbClr val="1F2A44"/>
                          </a:solidFill>
                          <a:latin typeface="Noto Sans CJK SC"/>
                        </a:rPr>
                        <a:t>离线预研</a:t>
                      </a:r>
                    </a:p>
                  </a:txBody>
                  <a:tcPr>
                    <a:solidFill>
                      <a:srgbClr val="EEF1F5"/>
                    </a:solidFill>
                  </a:tcPr>
                </a:tc>
                <a:tc>
                  <a:txBody>
                    <a:bodyPr/>
                    <a:lstStyle/>
                    <a:p>
                      <a:r>
                        <a:rPr sz="1400" b="0">
                          <a:solidFill>
                            <a:srgbClr val="1F2A44"/>
                          </a:solidFill>
                          <a:latin typeface="Noto Sans CJK SC"/>
                        </a:rPr>
                        <a:t>完成：能发现一部分</a:t>
                      </a:r>
                    </a:p>
                  </a:txBody>
                  <a:tcPr>
                    <a:solidFill>
                      <a:srgbClr val="EEF1F5"/>
                    </a:solidFill>
                  </a:tcPr>
                </a:tc>
              </a:tr>
              <a:tr h="560000">
                <a:tc>
                  <a:txBody>
                    <a:bodyPr/>
                    <a:lstStyle/>
                    <a:p>
                      <a:r>
                        <a:rPr sz="1400" b="0">
                          <a:solidFill>
                            <a:srgbClr val="1F2A44"/>
                          </a:solidFill>
                          <a:latin typeface="Noto Sans CJK SC"/>
                        </a:rPr>
                        <a:t>Q1b</a:t>
                      </a:r>
                    </a:p>
                  </a:txBody>
                  <a:tcPr>
                    <a:solidFill>
                      <a:srgbClr val="FFFFFF"/>
                    </a:solidFill>
                  </a:tcPr>
                </a:tc>
                <a:tc>
                  <a:txBody>
                    <a:bodyPr/>
                    <a:lstStyle/>
                    <a:p>
                      <a:r>
                        <a:rPr sz="1400" b="0">
                          <a:solidFill>
                            <a:srgbClr val="1F2A44"/>
                          </a:solidFill>
                          <a:latin typeface="Noto Sans CJK SC"/>
                        </a:rPr>
                        <a:t>没有标准答案时，团队能否</a:t>
                      </a:r>
                      <a:r>
                        <a:rPr sz="1400" b="1">
                          <a:solidFill>
                            <a:srgbClr val="C0392B"/>
                          </a:solidFill>
                          <a:latin typeface="Noto Sans CJK SC"/>
                        </a:rPr>
                        <a:t>自己</a:t>
                      </a:r>
                      <a:r>
                        <a:rPr sz="1400" b="0">
                          <a:solidFill>
                            <a:srgbClr val="1F2A44"/>
                          </a:solidFill>
                          <a:latin typeface="Noto Sans CJK SC"/>
                        </a:rPr>
                        <a:t>制造独立证据？</a:t>
                      </a:r>
                    </a:p>
                  </a:txBody>
                  <a:tcPr>
                    <a:solidFill>
                      <a:srgbClr val="FFFFFF"/>
                    </a:solidFill>
                  </a:tcPr>
                </a:tc>
                <a:tc>
                  <a:txBody>
                    <a:bodyPr/>
                    <a:lstStyle/>
                    <a:p>
                      <a:r>
                        <a:rPr sz="1400" b="0">
                          <a:solidFill>
                            <a:srgbClr val="1F2A44"/>
                          </a:solidFill>
                          <a:latin typeface="Noto Sans CJK SC"/>
                        </a:rPr>
                        <a:t>X-evid</a:t>
                      </a:r>
                    </a:p>
                  </a:txBody>
                  <a:tcPr>
                    <a:solidFill>
                      <a:srgbClr val="FFFFFF"/>
                    </a:solidFill>
                  </a:tcPr>
                </a:tc>
                <a:tc>
                  <a:txBody>
                    <a:bodyPr/>
                    <a:lstStyle/>
                    <a:p>
                      <a:r>
                        <a:rPr sz="1400" b="1">
                          <a:solidFill>
                            <a:srgbClr val="C0392B"/>
                          </a:solidFill>
                          <a:latin typeface="Noto Sans CJK SC"/>
                        </a:rPr>
                        <a:t>进行中 252/432</a:t>
                      </a:r>
                    </a:p>
                  </a:txBody>
                  <a:tcPr>
                    <a:solidFill>
                      <a:srgbClr val="FFFFFF"/>
                    </a:solidFill>
                  </a:tcPr>
                </a:tc>
              </a:tr>
              <a:tr h="560000">
                <a:tc>
                  <a:txBody>
                    <a:bodyPr/>
                    <a:lstStyle/>
                    <a:p>
                      <a:r>
                        <a:rPr sz="1400" b="0">
                          <a:solidFill>
                            <a:srgbClr val="1F2A44"/>
                          </a:solidFill>
                          <a:latin typeface="Noto Sans CJK SC"/>
                        </a:rPr>
                        <a:t>Q5</a:t>
                      </a:r>
                    </a:p>
                  </a:txBody>
                  <a:tcPr>
                    <a:solidFill>
                      <a:srgbClr val="EEF1F5"/>
                    </a:solidFill>
                  </a:tcPr>
                </a:tc>
                <a:tc>
                  <a:txBody>
                    <a:bodyPr/>
                    <a:lstStyle/>
                    <a:p>
                      <a:r>
                        <a:rPr sz="1400" b="0">
                          <a:solidFill>
                            <a:srgbClr val="1F2A44"/>
                          </a:solidFill>
                          <a:latin typeface="Noto Sans CJK SC"/>
                        </a:rPr>
                        <a:t>能否只用规章复现 Google 的 Cogentic 组织？</a:t>
                      </a:r>
                    </a:p>
                  </a:txBody>
                  <a:tcPr>
                    <a:solidFill>
                      <a:srgbClr val="EEF1F5"/>
                    </a:solidFill>
                  </a:tcPr>
                </a:tc>
                <a:tc>
                  <a:txBody>
                    <a:bodyPr/>
                    <a:lstStyle/>
                    <a:p>
                      <a:r>
                        <a:rPr sz="1400" b="0">
                          <a:solidFill>
                            <a:srgbClr val="1F2A44"/>
                          </a:solidFill>
                          <a:latin typeface="Noto Sans CJK SC"/>
                        </a:rPr>
                        <a:t>X-cog</a:t>
                      </a:r>
                    </a:p>
                  </a:txBody>
                  <a:tcPr>
                    <a:solidFill>
                      <a:srgbClr val="EEF1F5"/>
                    </a:solidFill>
                  </a:tcPr>
                </a:tc>
                <a:tc>
                  <a:txBody>
                    <a:bodyPr/>
                    <a:lstStyle/>
                    <a:p>
                      <a:r>
                        <a:rPr sz="1400" b="0">
                          <a:solidFill>
                            <a:srgbClr val="1F2A44"/>
                          </a:solidFill>
                          <a:latin typeface="Noto Sans CJK SC"/>
                        </a:rPr>
                        <a:t>已能装配运行</a:t>
                      </a:r>
                    </a:p>
                  </a:txBody>
                  <a:tcPr>
                    <a:solidFill>
                      <a:srgbClr val="EEF1F5"/>
                    </a:solidFill>
                  </a:tcPr>
                </a:tc>
              </a:tr>
              <a:tr h="560000">
                <a:tc>
                  <a:txBody>
                    <a:bodyPr/>
                    <a:lstStyle/>
                    <a:p>
                      <a:r>
                        <a:rPr sz="1400" b="0">
                          <a:solidFill>
                            <a:srgbClr val="1F2A44"/>
                          </a:solidFill>
                          <a:latin typeface="Noto Sans CJK SC"/>
                        </a:rPr>
                        <a:t>Q2–Q4</a:t>
                      </a:r>
                    </a:p>
                  </a:txBody>
                  <a:tcPr>
                    <a:solidFill>
                      <a:srgbClr val="FFFFFF"/>
                    </a:solidFill>
                  </a:tcPr>
                </a:tc>
                <a:tc>
                  <a:txBody>
                    <a:bodyPr/>
                    <a:lstStyle/>
                    <a:p>
                      <a:r>
                        <a:rPr sz="1400" b="0">
                          <a:solidFill>
                            <a:srgbClr val="1F2A44"/>
                          </a:solidFill>
                          <a:latin typeface="Noto Sans CJK SC"/>
                        </a:rPr>
                        <a:t>协作模式比较 / 组织自我进化 / 真实科研任务</a:t>
                      </a:r>
                    </a:p>
                  </a:txBody>
                  <a:tcPr>
                    <a:solidFill>
                      <a:srgbClr val="FFFFFF"/>
                    </a:solidFill>
                  </a:tcPr>
                </a:tc>
                <a:tc>
                  <a:txBody>
                    <a:bodyPr/>
                    <a:lstStyle/>
                    <a:p>
                      <a:r>
                        <a:rPr sz="1400" b="0">
                          <a:solidFill>
                            <a:srgbClr val="1F2A44"/>
                          </a:solidFill>
                          <a:latin typeface="Noto Sans CJK SC"/>
                        </a:rPr>
                        <a:t>X-mode / X-evo / X-sci</a:t>
                      </a:r>
                    </a:p>
                  </a:txBody>
                  <a:tcPr>
                    <a:solidFill>
                      <a:srgbClr val="FFFFFF"/>
                    </a:solidFill>
                  </a:tcPr>
                </a:tc>
                <a:tc>
                  <a:txBody>
                    <a:bodyPr/>
                    <a:lstStyle/>
                    <a:p>
                      <a:r>
                        <a:rPr sz="1400" b="0">
                          <a:solidFill>
                            <a:srgbClr val="1F2A44"/>
                          </a:solidFill>
                          <a:latin typeface="Noto Sans CJK SC"/>
                        </a:rPr>
                        <a:t>排队中</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20000"/>
            <a:ext cx="11192000" cy="700000"/>
          </a:xfrm>
          <a:prstGeom prst="rect">
            <a:avLst/>
          </a:prstGeom>
          <a:noFill/>
        </p:spPr>
        <p:txBody>
          <a:bodyPr wrap="none">
            <a:spAutoFit/>
          </a:bodyPr>
          <a:lstStyle/>
          <a:p>
            <a:r>
              <a:rPr sz="2800" b="1">
                <a:solidFill>
                  <a:srgbClr val="1F2A44"/>
                </a:solidFill>
                <a:latin typeface="Noto Sans CJK SC"/>
              </a:rPr>
              <a:t>二、为了让结果可信，我们给自己定的规矩</a:t>
            </a:r>
          </a:p>
        </p:txBody>
      </p:sp>
      <p:sp>
        <p:nvSpPr>
          <p:cNvPr id="4" name="TextBox 3"/>
          <p:cNvSpPr txBox="1"/>
          <p:nvPr/>
        </p:nvSpPr>
        <p:spPr>
          <a:xfrm>
            <a:off x="10692000" y="6408000"/>
            <a:ext cx="1200000" cy="300000"/>
          </a:xfrm>
          <a:prstGeom prst="rect">
            <a:avLst/>
          </a:prstGeom>
          <a:noFill/>
        </p:spPr>
        <p:txBody>
          <a:bodyPr wrap="none">
            <a:spAutoFit/>
          </a:bodyPr>
          <a:lstStyle/>
          <a:p>
            <a:r>
              <a:rPr sz="1000" b="0">
                <a:solidFill>
                  <a:srgbClr val="555F6D"/>
                </a:solidFill>
                <a:latin typeface="Noto Sans CJK SC"/>
              </a:rPr>
              <a:t>SciTeam · 7</a:t>
            </a:r>
          </a:p>
        </p:txBody>
      </p:sp>
      <p:sp>
        <p:nvSpPr>
          <p:cNvPr id="5" name="TextBox 4"/>
          <p:cNvSpPr txBox="1"/>
          <p:nvPr/>
        </p:nvSpPr>
        <p:spPr>
          <a:xfrm>
            <a:off x="500000" y="1250000"/>
            <a:ext cx="11192000" cy="5058000"/>
          </a:xfrm>
          <a:prstGeom prst="rect">
            <a:avLst/>
          </a:prstGeom>
          <a:noFill/>
        </p:spPr>
        <p:txBody>
          <a:bodyPr wrap="square">
            <a:spAutoFit/>
          </a:bodyPr>
          <a:lstStyle/>
          <a:p>
            <a:pPr>
              <a:spcAft>
                <a:spcPts val="600"/>
              </a:spcAft>
            </a:pPr>
            <a:r>
              <a:rPr sz="1700" b="0">
                <a:solidFill>
                  <a:srgbClr val="555F6D"/>
                </a:solidFill>
                <a:latin typeface="Noto Sans CJK SC"/>
              </a:rPr>
              <a:t>• </a:t>
            </a:r>
            <a:r>
              <a:rPr sz="1700" b="1">
                <a:solidFill>
                  <a:srgbClr val="C0392B"/>
                </a:solidFill>
                <a:latin typeface="Noto Sans CJK SC"/>
              </a:rPr>
              <a:t>只改规章不改程序</a:t>
            </a:r>
            <a:r>
              <a:rPr sz="1700" b="0">
                <a:solidFill>
                  <a:srgbClr val="1F2A44"/>
                </a:solidFill>
                <a:latin typeface="Noto Sans CJK SC"/>
              </a:rPr>
              <a:t>：各组实验的「程序指纹」必须完全相同</a:t>
            </a:r>
          </a:p>
          <a:p>
            <a:pPr>
              <a:spcAft>
                <a:spcPts val="600"/>
              </a:spcAft>
            </a:pPr>
            <a:r>
              <a:rPr sz="1700" b="0">
                <a:solidFill>
                  <a:srgbClr val="555F6D"/>
                </a:solidFill>
                <a:latin typeface="Noto Sans CJK SC"/>
              </a:rPr>
              <a:t>• </a:t>
            </a:r>
            <a:r>
              <a:rPr sz="1700" b="1">
                <a:solidFill>
                  <a:srgbClr val="C0392B"/>
                </a:solidFill>
                <a:latin typeface="Noto Sans CJK SC"/>
              </a:rPr>
              <a:t>先登记后运行</a:t>
            </a:r>
            <a:r>
              <a:rPr sz="1700" b="0">
                <a:solidFill>
                  <a:srgbClr val="1F2A44"/>
                </a:solidFill>
                <a:latin typeface="Noto Sans CJK SC"/>
              </a:rPr>
              <a:t>：假设、指标、多大差别才算数、什么结果算失败 —— 跑之前写死，跑完不许改</a:t>
            </a:r>
          </a:p>
          <a:p>
            <a:pPr>
              <a:spcAft>
                <a:spcPts val="600"/>
              </a:spcAft>
            </a:pPr>
            <a:r>
              <a:rPr sz="1700" b="0">
                <a:solidFill>
                  <a:srgbClr val="555F6D"/>
                </a:solidFill>
                <a:latin typeface="Noto Sans CJK SC"/>
              </a:rPr>
              <a:t>• </a:t>
            </a:r>
            <a:r>
              <a:rPr sz="1700" b="1">
                <a:solidFill>
                  <a:srgbClr val="C0392B"/>
                </a:solidFill>
                <a:latin typeface="Noto Sans CJK SC"/>
              </a:rPr>
              <a:t>外部判分</a:t>
            </a:r>
            <a:r>
              <a:rPr sz="1700" b="0">
                <a:solidFill>
                  <a:srgbClr val="1F2A44"/>
                </a:solidFill>
                <a:latin typeface="Noto Sans CJK SC"/>
              </a:rPr>
              <a:t>：用公开基准的官方判分程序，</a:t>
            </a:r>
            <a:r>
              <a:rPr sz="1700" b="1">
                <a:solidFill>
                  <a:srgbClr val="C0392B"/>
                </a:solidFill>
                <a:latin typeface="Noto Sans CJK SC"/>
              </a:rPr>
              <a:t>不用 AI 给 AI 打分</a:t>
            </a:r>
          </a:p>
          <a:p>
            <a:pPr>
              <a:spcAft>
                <a:spcPts val="600"/>
              </a:spcAft>
            </a:pPr>
            <a:r>
              <a:rPr sz="1700" b="0">
                <a:solidFill>
                  <a:srgbClr val="555F6D"/>
                </a:solidFill>
                <a:latin typeface="Noto Sans CJK SC"/>
              </a:rPr>
              <a:t>• </a:t>
            </a:r>
            <a:r>
              <a:rPr sz="1700" b="1">
                <a:solidFill>
                  <a:srgbClr val="C0392B"/>
                </a:solidFill>
                <a:latin typeface="Noto Sans CJK SC"/>
              </a:rPr>
              <a:t>重放审计</a:t>
            </a:r>
            <a:r>
              <a:rPr sz="1700" b="0">
                <a:solidFill>
                  <a:srgbClr val="1F2A44"/>
                </a:solidFill>
                <a:latin typeface="Noto Sans CJK SC"/>
              </a:rPr>
              <a:t>：每次运行事后重放一遍，结果不一致的不计入</a:t>
            </a:r>
          </a:p>
          <a:p>
            <a:pPr>
              <a:spcAft>
                <a:spcPts val="600"/>
              </a:spcAft>
            </a:pPr>
            <a:r>
              <a:rPr sz="1700" b="0">
                <a:solidFill>
                  <a:srgbClr val="555F6D"/>
                </a:solidFill>
                <a:latin typeface="Noto Sans CJK SC"/>
              </a:rPr>
              <a:t>• </a:t>
            </a:r>
            <a:r>
              <a:rPr sz="1700" b="1">
                <a:solidFill>
                  <a:srgbClr val="C0392B"/>
                </a:solidFill>
                <a:latin typeface="Noto Sans CJK SC"/>
              </a:rPr>
              <a:t>撞保险丝 = 系统缺陷</a:t>
            </a:r>
            <a:r>
              <a:rPr sz="1700" b="0">
                <a:solidFill>
                  <a:srgbClr val="1F2A44"/>
                </a:solidFill>
                <a:latin typeface="Noto Sans CJK SC"/>
              </a:rPr>
              <a:t>：必须查清原因，不能算作「模型不行」</a:t>
            </a:r>
          </a:p>
          <a:p>
            <a:pPr>
              <a:spcAft>
                <a:spcPts val="600"/>
              </a:spcAft>
            </a:pPr>
            <a:r>
              <a:rPr sz="1700" b="0">
                <a:solidFill>
                  <a:srgbClr val="555F6D"/>
                </a:solidFill>
                <a:latin typeface="Noto Sans CJK SC"/>
              </a:rPr>
              <a:t>• </a:t>
            </a:r>
            <a:r>
              <a:rPr sz="1700" b="1">
                <a:solidFill>
                  <a:srgbClr val="C0392B"/>
                </a:solidFill>
                <a:latin typeface="Noto Sans CJK SC"/>
              </a:rPr>
              <a:t>偏差登记</a:t>
            </a:r>
            <a:r>
              <a:rPr sz="1700" b="0">
                <a:solidFill>
                  <a:srgbClr val="1F2A44"/>
                </a:solidFill>
                <a:latin typeface="Noto Sans CJK SC"/>
              </a:rPr>
              <a:t>：中途发现的问题全部编号登记（目前 D1–D19），受影响的运行作废但保留</a:t>
            </a:r>
          </a:p>
          <a:p>
            <a:pPr>
              <a:spcAft>
                <a:spcPts val="600"/>
              </a:spcAft>
            </a:pPr>
            <a:r>
              <a:rPr sz="1700" b="0">
                <a:solidFill>
                  <a:srgbClr val="555F6D"/>
                </a:solidFill>
                <a:latin typeface="Noto Sans CJK SC"/>
              </a:rPr>
              <a:t>• </a:t>
            </a:r>
            <a:r>
              <a:rPr sz="1700" b="1">
                <a:solidFill>
                  <a:srgbClr val="C0392B"/>
                </a:solidFill>
                <a:latin typeface="Noto Sans CJK SC"/>
              </a:rPr>
              <a:t>七问复盘</a:t>
            </a:r>
            <a:r>
              <a:rPr sz="1700" b="0">
                <a:solidFill>
                  <a:srgbClr val="1F2A44"/>
                </a:solidFill>
                <a:latin typeface="Noto Sans CJK SC"/>
              </a:rPr>
              <a:t>：每个实验结束回答七个问题，其中最关键的是「这个实验</a:t>
            </a:r>
            <a:r>
              <a:rPr sz="1700" b="1">
                <a:solidFill>
                  <a:srgbClr val="C0392B"/>
                </a:solidFill>
                <a:latin typeface="Noto Sans CJK SC"/>
              </a:rPr>
              <a:t>实际</a:t>
            </a:r>
            <a:r>
              <a:rPr sz="1700" b="0">
                <a:solidFill>
                  <a:srgbClr val="1F2A44"/>
                </a:solidFill>
                <a:latin typeface="Noto Sans CJK SC"/>
              </a:rPr>
              <a:t>回答了什么」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20000"/>
            <a:ext cx="11192000" cy="700000"/>
          </a:xfrm>
          <a:prstGeom prst="rect">
            <a:avLst/>
          </a:prstGeom>
          <a:noFill/>
        </p:spPr>
        <p:txBody>
          <a:bodyPr wrap="none">
            <a:spAutoFit/>
          </a:bodyPr>
          <a:lstStyle/>
          <a:p>
            <a:r>
              <a:rPr sz="2800" b="1">
                <a:solidFill>
                  <a:srgbClr val="1F2A44"/>
                </a:solidFill>
                <a:latin typeface="Noto Sans CJK SC"/>
              </a:rPr>
              <a:t>三、SciTeam 系统：五层，自下而上搭</a:t>
            </a:r>
          </a:p>
          <a:p>
            <a:r>
              <a:rPr sz="1400" b="0">
                <a:solidFill>
                  <a:srgbClr val="555F6D"/>
                </a:solidFill>
                <a:latin typeface="Noto Sans CJK SC"/>
              </a:rPr>
              <a:t>每一层都先用真实模型通过验收，才开始写上一层</a:t>
            </a:r>
          </a:p>
        </p:txBody>
      </p:sp>
      <p:sp>
        <p:nvSpPr>
          <p:cNvPr id="4" name="TextBox 3"/>
          <p:cNvSpPr txBox="1"/>
          <p:nvPr/>
        </p:nvSpPr>
        <p:spPr>
          <a:xfrm>
            <a:off x="10692000" y="6408000"/>
            <a:ext cx="1200000" cy="300000"/>
          </a:xfrm>
          <a:prstGeom prst="rect">
            <a:avLst/>
          </a:prstGeom>
          <a:noFill/>
        </p:spPr>
        <p:txBody>
          <a:bodyPr wrap="none">
            <a:spAutoFit/>
          </a:bodyPr>
          <a:lstStyle/>
          <a:p>
            <a:r>
              <a:rPr sz="1000" b="0">
                <a:solidFill>
                  <a:srgbClr val="555F6D"/>
                </a:solidFill>
                <a:latin typeface="Noto Sans CJK SC"/>
              </a:rPr>
              <a:t>SciTeam · 8</a:t>
            </a:r>
          </a:p>
        </p:txBody>
      </p:sp>
      <p:graphicFrame>
        <p:nvGraphicFramePr>
          <p:cNvPr id="5" name="Table 4"/>
          <p:cNvGraphicFramePr>
            <a:graphicFrameLocks noGrp="1"/>
          </p:cNvGraphicFramePr>
          <p:nvPr/>
        </p:nvGraphicFramePr>
        <p:xfrm>
          <a:off x="500000" y="1300000"/>
          <a:ext cx="11191999" cy="3600000"/>
        </p:xfrm>
        <a:graphic>
          <a:graphicData uri="http://schemas.openxmlformats.org/drawingml/2006/table">
            <a:tbl>
              <a:tblPr firstRow="1" bandRow="1">
                <a:tableStyleId>{5C22544A-7EE6-4342-B048-85BDC9FD1C3A}</a:tableStyleId>
              </a:tblPr>
              <a:tblGrid>
                <a:gridCol w="1598857"/>
                <a:gridCol w="7994285"/>
                <a:gridCol w="1598857"/>
              </a:tblGrid>
              <a:tr h="600000">
                <a:tc>
                  <a:txBody>
                    <a:bodyPr/>
                    <a:lstStyle/>
                    <a:p>
                      <a:r>
                        <a:rPr sz="1500" b="1">
                          <a:solidFill>
                            <a:srgbClr val="FFFFFF"/>
                          </a:solidFill>
                          <a:latin typeface="Noto Sans CJK SC"/>
                        </a:rPr>
                        <a:t>层</a:t>
                      </a:r>
                    </a:p>
                  </a:txBody>
                  <a:tcPr>
                    <a:solidFill>
                      <a:srgbClr val="1F2A44"/>
                    </a:solidFill>
                  </a:tcPr>
                </a:tc>
                <a:tc>
                  <a:txBody>
                    <a:bodyPr/>
                    <a:lstStyle/>
                    <a:p>
                      <a:r>
                        <a:rPr sz="1500" b="1">
                          <a:solidFill>
                            <a:srgbClr val="FFFFFF"/>
                          </a:solidFill>
                          <a:latin typeface="Noto Sans CJK SC"/>
                        </a:rPr>
                        <a:t>管什么（大白话）</a:t>
                      </a:r>
                    </a:p>
                  </a:txBody>
                  <a:tcPr>
                    <a:solidFill>
                      <a:srgbClr val="1F2A44"/>
                    </a:solidFill>
                  </a:tcPr>
                </a:tc>
                <a:tc>
                  <a:txBody>
                    <a:bodyPr/>
                    <a:lstStyle/>
                    <a:p>
                      <a:r>
                        <a:rPr sz="1500" b="1">
                          <a:solidFill>
                            <a:srgbClr val="FFFFFF"/>
                          </a:solidFill>
                          <a:latin typeface="Noto Sans CJK SC"/>
                        </a:rPr>
                        <a:t>验收</a:t>
                      </a:r>
                    </a:p>
                  </a:txBody>
                  <a:tcPr>
                    <a:solidFill>
                      <a:srgbClr val="1F2A44"/>
                    </a:solidFill>
                  </a:tcPr>
                </a:tc>
              </a:tr>
              <a:tr h="600000">
                <a:tc>
                  <a:txBody>
                    <a:bodyPr/>
                    <a:lstStyle/>
                    <a:p>
                      <a:r>
                        <a:rPr sz="1500" b="0">
                          <a:solidFill>
                            <a:srgbClr val="1F2A44"/>
                          </a:solidFill>
                          <a:latin typeface="Noto Sans CJK SC"/>
                        </a:rPr>
                        <a:t>1 单个 AI</a:t>
                      </a:r>
                    </a:p>
                  </a:txBody>
                  <a:tcPr>
                    <a:solidFill>
                      <a:srgbClr val="EEF1F5"/>
                    </a:solidFill>
                  </a:tcPr>
                </a:tc>
                <a:tc>
                  <a:txBody>
                    <a:bodyPr/>
                    <a:lstStyle/>
                    <a:p>
                      <a:r>
                        <a:rPr sz="1500" b="0">
                          <a:solidFill>
                            <a:srgbClr val="1F2A44"/>
                          </a:solidFill>
                          <a:latin typeface="Noto Sans CJK SC"/>
                        </a:rPr>
                        <a:t>一个 AI 怎么循环干活、上下文太长怎么压缩、预算控制、崩溃恢复</a:t>
                      </a:r>
                    </a:p>
                  </a:txBody>
                  <a:tcPr>
                    <a:solidFill>
                      <a:srgbClr val="EEF1F5"/>
                    </a:solidFill>
                  </a:tcPr>
                </a:tc>
                <a:tc>
                  <a:txBody>
                    <a:bodyPr/>
                    <a:lstStyle/>
                    <a:p>
                      <a:r>
                        <a:rPr sz="1500" b="0">
                          <a:solidFill>
                            <a:srgbClr val="1F2A44"/>
                          </a:solidFill>
                          <a:latin typeface="Noto Sans CJK SC"/>
                        </a:rPr>
                        <a:t>H1–H8 通过</a:t>
                      </a:r>
                    </a:p>
                  </a:txBody>
                  <a:tcPr>
                    <a:solidFill>
                      <a:srgbClr val="EEF1F5"/>
                    </a:solidFill>
                  </a:tcPr>
                </a:tc>
              </a:tr>
              <a:tr h="600000">
                <a:tc>
                  <a:txBody>
                    <a:bodyPr/>
                    <a:lstStyle/>
                    <a:p>
                      <a:r>
                        <a:rPr sz="1500" b="0">
                          <a:solidFill>
                            <a:srgbClr val="1F2A44"/>
                          </a:solidFill>
                          <a:latin typeface="Noto Sans CJK SC"/>
                        </a:rPr>
                        <a:t>2 通信</a:t>
                      </a:r>
                    </a:p>
                  </a:txBody>
                  <a:tcPr>
                    <a:solidFill>
                      <a:srgbClr val="FFFFFF"/>
                    </a:solidFill>
                  </a:tcPr>
                </a:tc>
                <a:tc>
                  <a:txBody>
                    <a:bodyPr/>
                    <a:lstStyle/>
                    <a:p>
                      <a:r>
                        <a:rPr sz="1500" b="0">
                          <a:solidFill>
                            <a:srgbClr val="1F2A44"/>
                          </a:solidFill>
                          <a:latin typeface="Noto Sans CJK SC"/>
                        </a:rPr>
                        <a:t>私聊、群聊、@人、任务的领取/提交/批准；有消息就叫醒对应的 AI</a:t>
                      </a:r>
                    </a:p>
                  </a:txBody>
                  <a:tcPr>
                    <a:solidFill>
                      <a:srgbClr val="FFFFFF"/>
                    </a:solidFill>
                  </a:tcPr>
                </a:tc>
                <a:tc>
                  <a:txBody>
                    <a:bodyPr/>
                    <a:lstStyle/>
                    <a:p>
                      <a:r>
                        <a:rPr sz="1500" b="0">
                          <a:solidFill>
                            <a:srgbClr val="1F2A44"/>
                          </a:solidFill>
                          <a:latin typeface="Noto Sans CJK SC"/>
                        </a:rPr>
                        <a:t>C1–C6 通过</a:t>
                      </a:r>
                    </a:p>
                  </a:txBody>
                  <a:tcPr>
                    <a:solidFill>
                      <a:srgbClr val="FFFFFF"/>
                    </a:solidFill>
                  </a:tcPr>
                </a:tc>
              </a:tr>
              <a:tr h="600000">
                <a:tc>
                  <a:txBody>
                    <a:bodyPr/>
                    <a:lstStyle/>
                    <a:p>
                      <a:r>
                        <a:rPr sz="1500" b="0">
                          <a:solidFill>
                            <a:srgbClr val="1F2A44"/>
                          </a:solidFill>
                          <a:latin typeface="Noto Sans CJK SC"/>
                        </a:rPr>
                        <a:t>3 制度</a:t>
                      </a:r>
                    </a:p>
                  </a:txBody>
                  <a:tcPr>
                    <a:solidFill>
                      <a:srgbClr val="EEF1F5"/>
                    </a:solidFill>
                  </a:tcPr>
                </a:tc>
                <a:tc>
                  <a:txBody>
                    <a:bodyPr/>
                    <a:lstStyle/>
                    <a:p>
                      <a:r>
                        <a:rPr sz="1500" b="0">
                          <a:solidFill>
                            <a:srgbClr val="1F2A44"/>
                          </a:solidFill>
                          <a:latin typeface="Noto Sans CJK SC"/>
                        </a:rPr>
                        <a:t>所有动作经同一个「闸门」按规章审批；什么算「通过」由规则决定</a:t>
                      </a:r>
                    </a:p>
                  </a:txBody>
                  <a:tcPr>
                    <a:solidFill>
                      <a:srgbClr val="EEF1F5"/>
                    </a:solidFill>
                  </a:tcPr>
                </a:tc>
                <a:tc>
                  <a:txBody>
                    <a:bodyPr/>
                    <a:lstStyle/>
                    <a:p>
                      <a:r>
                        <a:rPr sz="1500" b="0">
                          <a:solidFill>
                            <a:srgbClr val="1F2A44"/>
                          </a:solidFill>
                          <a:latin typeface="Noto Sans CJK SC"/>
                        </a:rPr>
                        <a:t>I1–I6 通过</a:t>
                      </a:r>
                    </a:p>
                  </a:txBody>
                  <a:tcPr>
                    <a:solidFill>
                      <a:srgbClr val="EEF1F5"/>
                    </a:solidFill>
                  </a:tcPr>
                </a:tc>
              </a:tr>
              <a:tr h="600000">
                <a:tc>
                  <a:txBody>
                    <a:bodyPr/>
                    <a:lstStyle/>
                    <a:p>
                      <a:r>
                        <a:rPr sz="1500" b="0">
                          <a:solidFill>
                            <a:srgbClr val="1F2A44"/>
                          </a:solidFill>
                          <a:latin typeface="Noto Sans CJK SC"/>
                        </a:rPr>
                        <a:t>4 组织</a:t>
                      </a:r>
                    </a:p>
                  </a:txBody>
                  <a:tcPr>
                    <a:solidFill>
                      <a:srgbClr val="FFFFFF"/>
                    </a:solidFill>
                  </a:tcPr>
                </a:tc>
                <a:tc>
                  <a:txBody>
                    <a:bodyPr/>
                    <a:lstStyle/>
                    <a:p>
                      <a:r>
                        <a:rPr sz="1500" b="0">
                          <a:solidFill>
                            <a:srgbClr val="1F2A44"/>
                          </a:solidFill>
                          <a:latin typeface="Noto Sans CJK SC"/>
                        </a:rPr>
                        <a:t>创始人、章程、招聘、目标；目标达成自动停止</a:t>
                      </a:r>
                    </a:p>
                  </a:txBody>
                  <a:tcPr>
                    <a:solidFill>
                      <a:srgbClr val="FFFFFF"/>
                    </a:solidFill>
                  </a:tcPr>
                </a:tc>
                <a:tc>
                  <a:txBody>
                    <a:bodyPr/>
                    <a:lstStyle/>
                    <a:p>
                      <a:r>
                        <a:rPr sz="1500" b="0">
                          <a:solidFill>
                            <a:srgbClr val="1F2A44"/>
                          </a:solidFill>
                          <a:latin typeface="Noto Sans CJK SC"/>
                        </a:rPr>
                        <a:t>O1–O5 通过</a:t>
                      </a:r>
                    </a:p>
                  </a:txBody>
                  <a:tcPr>
                    <a:solidFill>
                      <a:srgbClr val="FFFFFF"/>
                    </a:solidFill>
                  </a:tcPr>
                </a:tc>
              </a:tr>
              <a:tr h="600000">
                <a:tc>
                  <a:txBody>
                    <a:bodyPr/>
                    <a:lstStyle/>
                    <a:p>
                      <a:r>
                        <a:rPr sz="1500" b="0">
                          <a:solidFill>
                            <a:srgbClr val="1F2A44"/>
                          </a:solidFill>
                          <a:latin typeface="Noto Sans CJK SC"/>
                        </a:rPr>
                        <a:t>5 实验</a:t>
                      </a:r>
                    </a:p>
                  </a:txBody>
                  <a:tcPr>
                    <a:solidFill>
                      <a:srgbClr val="EEF1F5"/>
                    </a:solidFill>
                  </a:tcPr>
                </a:tc>
                <a:tc>
                  <a:txBody>
                    <a:bodyPr/>
                    <a:lstStyle/>
                    <a:p>
                      <a:r>
                        <a:rPr sz="1500" b="0">
                          <a:solidFill>
                            <a:srgbClr val="1F2A44"/>
                          </a:solidFill>
                          <a:latin typeface="Noto Sans CJK SC"/>
                        </a:rPr>
                        <a:t>定义实验条件、批量运行、外部判分、统计分析</a:t>
                      </a:r>
                    </a:p>
                  </a:txBody>
                  <a:tcPr>
                    <a:solidFill>
                      <a:srgbClr val="EEF1F5"/>
                    </a:solidFill>
                  </a:tcPr>
                </a:tc>
                <a:tc>
                  <a:txBody>
                    <a:bodyPr/>
                    <a:lstStyle/>
                    <a:p>
                      <a:r>
                        <a:rPr sz="1500" b="0">
                          <a:solidFill>
                            <a:srgbClr val="1F2A44"/>
                          </a:solidFill>
                          <a:latin typeface="Noto Sans CJK SC"/>
                        </a:rPr>
                        <a:t>进行中</a:t>
                      </a:r>
                    </a:p>
                  </a:txBody>
                  <a:tcPr>
                    <a:solidFill>
                      <a:srgbClr val="EEF1F5"/>
                    </a:solidFill>
                  </a:tcPr>
                </a:tc>
              </a:tr>
            </a:tbl>
          </a:graphicData>
        </a:graphic>
      </p:graphicFrame>
      <p:sp>
        <p:nvSpPr>
          <p:cNvPr id="6" name="TextBox 5"/>
          <p:cNvSpPr txBox="1"/>
          <p:nvPr/>
        </p:nvSpPr>
        <p:spPr>
          <a:xfrm>
            <a:off x="500000" y="5808000"/>
            <a:ext cx="11192000" cy="500000"/>
          </a:xfrm>
          <a:prstGeom prst="rect">
            <a:avLst/>
          </a:prstGeom>
          <a:noFill/>
        </p:spPr>
        <p:txBody>
          <a:bodyPr wrap="square">
            <a:spAutoFit/>
          </a:bodyPr>
          <a:lstStyle/>
          <a:p>
            <a:r>
              <a:rPr sz="1300" b="0">
                <a:solidFill>
                  <a:srgbClr val="555F6D"/>
                </a:solidFill>
                <a:latin typeface="Noto Sans CJK SC"/>
              </a:rPr>
              <a:t>上层可以用下层，下层不能依赖上层 —— 保证每一层能单独测试、单独替换。</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20000"/>
            <a:ext cx="11192000" cy="700000"/>
          </a:xfrm>
          <a:prstGeom prst="rect">
            <a:avLst/>
          </a:prstGeom>
          <a:noFill/>
        </p:spPr>
        <p:txBody>
          <a:bodyPr wrap="none">
            <a:spAutoFit/>
          </a:bodyPr>
          <a:lstStyle/>
          <a:p>
            <a:r>
              <a:rPr sz="2800" b="1">
                <a:solidFill>
                  <a:srgbClr val="1F2A44"/>
                </a:solidFill>
                <a:latin typeface="Noto Sans CJK SC"/>
              </a:rPr>
              <a:t>三、系统怎么运转：所有动作都要过同一道闸门</a:t>
            </a:r>
          </a:p>
        </p:txBody>
      </p:sp>
      <p:sp>
        <p:nvSpPr>
          <p:cNvPr id="4" name="TextBox 3"/>
          <p:cNvSpPr txBox="1"/>
          <p:nvPr/>
        </p:nvSpPr>
        <p:spPr>
          <a:xfrm>
            <a:off x="10692000" y="6408000"/>
            <a:ext cx="1200000" cy="300000"/>
          </a:xfrm>
          <a:prstGeom prst="rect">
            <a:avLst/>
          </a:prstGeom>
          <a:noFill/>
        </p:spPr>
        <p:txBody>
          <a:bodyPr wrap="none">
            <a:spAutoFit/>
          </a:bodyPr>
          <a:lstStyle/>
          <a:p>
            <a:r>
              <a:rPr sz="1000" b="0">
                <a:solidFill>
                  <a:srgbClr val="555F6D"/>
                </a:solidFill>
                <a:latin typeface="Noto Sans CJK SC"/>
              </a:rPr>
              <a:t>SciTeam · 9</a:t>
            </a:r>
          </a:p>
        </p:txBody>
      </p:sp>
      <p:sp>
        <p:nvSpPr>
          <p:cNvPr id="5" name="TextBox 4"/>
          <p:cNvSpPr txBox="1"/>
          <p:nvPr/>
        </p:nvSpPr>
        <p:spPr>
          <a:xfrm>
            <a:off x="500000" y="1250000"/>
            <a:ext cx="11192000" cy="5058000"/>
          </a:xfrm>
          <a:prstGeom prst="rect">
            <a:avLst/>
          </a:prstGeom>
          <a:noFill/>
        </p:spPr>
        <p:txBody>
          <a:bodyPr wrap="square">
            <a:spAutoFit/>
          </a:bodyPr>
          <a:lstStyle/>
          <a:p>
            <a:pPr>
              <a:spcAft>
                <a:spcPts val="600"/>
              </a:spcAft>
            </a:pPr>
            <a:r>
              <a:rPr sz="1700" b="0">
                <a:solidFill>
                  <a:srgbClr val="555F6D"/>
                </a:solidFill>
                <a:latin typeface="Noto Sans CJK SC"/>
              </a:rPr>
              <a:t>• </a:t>
            </a:r>
            <a:r>
              <a:rPr sz="1700" b="0">
                <a:solidFill>
                  <a:srgbClr val="1F2A44"/>
                </a:solidFill>
                <a:latin typeface="Noto Sans CJK SC"/>
              </a:rPr>
              <a:t>① 某个 AI 收到 @、私信或新任务 → 调度器把它「叫醒」</a:t>
            </a:r>
          </a:p>
          <a:p>
            <a:pPr>
              <a:spcAft>
                <a:spcPts val="600"/>
              </a:spcAft>
            </a:pPr>
            <a:r>
              <a:rPr sz="1700" b="0">
                <a:solidFill>
                  <a:srgbClr val="555F6D"/>
                </a:solidFill>
                <a:latin typeface="Noto Sans CJK SC"/>
              </a:rPr>
              <a:t>• </a:t>
            </a:r>
            <a:r>
              <a:rPr sz="1700" b="0">
                <a:solidFill>
                  <a:srgbClr val="1F2A44"/>
                </a:solidFill>
                <a:latin typeface="Noto Sans CJK SC"/>
              </a:rPr>
              <a:t>② 它自己思考、读文件、写代码、跑测试</a:t>
            </a:r>
          </a:p>
          <a:p>
            <a:pPr>
              <a:spcAft>
                <a:spcPts val="600"/>
              </a:spcAft>
            </a:pPr>
            <a:r>
              <a:rPr sz="1700" b="0">
                <a:solidFill>
                  <a:srgbClr val="555F6D"/>
                </a:solidFill>
                <a:latin typeface="Noto Sans CJK SC"/>
              </a:rPr>
              <a:t>• </a:t>
            </a:r>
            <a:r>
              <a:rPr sz="1700" b="0">
                <a:solidFill>
                  <a:srgbClr val="1F2A44"/>
                </a:solidFill>
                <a:latin typeface="Noto Sans CJK SC"/>
              </a:rPr>
              <a:t>③ 凡是影响别人的动作（发消息、提交、批准、改规章、招人）→ 打包成「申请」交给</a:t>
            </a:r>
            <a:r>
              <a:rPr sz="1700" b="1">
                <a:solidFill>
                  <a:srgbClr val="C0392B"/>
                </a:solidFill>
                <a:latin typeface="Noto Sans CJK SC"/>
              </a:rPr>
              <a:t>闸门</a:t>
            </a:r>
          </a:p>
          <a:p>
            <a:pPr>
              <a:spcAft>
                <a:spcPts val="600"/>
              </a:spcAft>
            </a:pPr>
            <a:r>
              <a:rPr sz="1700" b="0">
                <a:solidFill>
                  <a:srgbClr val="555F6D"/>
                </a:solidFill>
                <a:latin typeface="Noto Sans CJK SC"/>
              </a:rPr>
              <a:t>• </a:t>
            </a:r>
            <a:r>
              <a:rPr sz="1700" b="0">
                <a:solidFill>
                  <a:srgbClr val="1F2A44"/>
                </a:solidFill>
                <a:latin typeface="Noto Sans CJK SC"/>
              </a:rPr>
              <a:t>④ 闸门按当前规章：</a:t>
            </a:r>
            <a:r>
              <a:rPr sz="1700" b="1">
                <a:solidFill>
                  <a:srgbClr val="C0392B"/>
                </a:solidFill>
                <a:latin typeface="Noto Sans CJK SC"/>
              </a:rPr>
              <a:t>放行 / 拒绝 / 等人批准</a:t>
            </a:r>
            <a:r>
              <a:rPr sz="1700" b="0">
                <a:solidFill>
                  <a:srgbClr val="1F2A44"/>
                </a:solidFill>
                <a:latin typeface="Noto Sans CJK SC"/>
              </a:rPr>
              <a:t>；被拒也记录在案，并告诉 AI 原因</a:t>
            </a:r>
          </a:p>
          <a:p>
            <a:pPr>
              <a:spcAft>
                <a:spcPts val="600"/>
              </a:spcAft>
            </a:pPr>
            <a:r>
              <a:rPr sz="1700" b="0">
                <a:solidFill>
                  <a:srgbClr val="555F6D"/>
                </a:solidFill>
                <a:latin typeface="Noto Sans CJK SC"/>
              </a:rPr>
              <a:t>• </a:t>
            </a:r>
            <a:r>
              <a:rPr sz="1700" b="0">
                <a:solidFill>
                  <a:srgbClr val="1F2A44"/>
                </a:solidFill>
                <a:latin typeface="Noto Sans CJK SC"/>
              </a:rPr>
              <a:t>⑤ 满足规章条件（如「测试通过 + 非作者批准」）→ 系统记一条「验收通过」的</a:t>
            </a:r>
            <a:r>
              <a:rPr sz="1700" b="1">
                <a:solidFill>
                  <a:srgbClr val="C0392B"/>
                </a:solidFill>
                <a:latin typeface="Noto Sans CJK SC"/>
              </a:rPr>
              <a:t>正式记录</a:t>
            </a:r>
          </a:p>
          <a:p>
            <a:pPr>
              <a:spcAft>
                <a:spcPts val="600"/>
              </a:spcAft>
            </a:pPr>
            <a:r>
              <a:rPr sz="1500" b="0">
                <a:solidFill>
                  <a:srgbClr val="555F6D"/>
                </a:solidFill>
                <a:latin typeface="Noto Sans CJK SC"/>
              </a:rPr>
              <a:t>    – </a:t>
            </a:r>
            <a:r>
              <a:rPr sz="1500" b="0">
                <a:solidFill>
                  <a:srgbClr val="555F6D"/>
                </a:solidFill>
                <a:latin typeface="Noto Sans CJK SC"/>
              </a:rPr>
              <a:t>这条记录由规则推出，</a:t>
            </a:r>
            <a:r>
              <a:rPr sz="1500" b="1">
                <a:solidFill>
                  <a:srgbClr val="C0392B"/>
                </a:solidFill>
                <a:latin typeface="Noto Sans CJK SC"/>
              </a:rPr>
              <a:t>不由任何 AI 说了算</a:t>
            </a:r>
          </a:p>
          <a:p>
            <a:pPr>
              <a:spcAft>
                <a:spcPts val="600"/>
              </a:spcAft>
            </a:pPr>
            <a:r>
              <a:rPr sz="1700" b="0">
                <a:solidFill>
                  <a:srgbClr val="555F6D"/>
                </a:solidFill>
                <a:latin typeface="Noto Sans CJK SC"/>
              </a:rPr>
              <a:t>• </a:t>
            </a:r>
            <a:r>
              <a:rPr sz="1700" b="0">
                <a:solidFill>
                  <a:srgbClr val="1F2A44"/>
                </a:solidFill>
                <a:latin typeface="Noto Sans CJK SC"/>
              </a:rPr>
              <a:t>⑥ 新记录叫醒其他相关 AI，循环往复，直到目标达成</a:t>
            </a:r>
          </a:p>
          <a:p>
            <a:pPr>
              <a:spcAft>
                <a:spcPts val="600"/>
              </a:spcAft>
            </a:pPr>
            <a:r>
              <a:rPr sz="1700" b="0">
                <a:solidFill>
                  <a:srgbClr val="555F6D"/>
                </a:solidFill>
                <a:latin typeface="Noto Sans CJK SC"/>
              </a:rPr>
              <a:t>• </a:t>
            </a:r>
            <a:r>
              <a:rPr sz="1700" b="0">
                <a:solidFill>
                  <a:srgbClr val="1F2A44"/>
                </a:solidFill>
                <a:latin typeface="Noto Sans CJK SC"/>
              </a:rPr>
              <a:t>所有动作按顺序记录 → 任何时刻都能重建 → 可以</a:t>
            </a:r>
            <a:r>
              <a:rPr sz="1700" b="1">
                <a:solidFill>
                  <a:srgbClr val="C0392B"/>
                </a:solidFill>
                <a:latin typeface="Noto Sans CJK SC"/>
              </a:rPr>
              <a:t>重放审计</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20000"/>
            <a:ext cx="11192000" cy="700000"/>
          </a:xfrm>
          <a:prstGeom prst="rect">
            <a:avLst/>
          </a:prstGeom>
          <a:noFill/>
        </p:spPr>
        <p:txBody>
          <a:bodyPr wrap="none">
            <a:spAutoFit/>
          </a:bodyPr>
          <a:lstStyle/>
          <a:p>
            <a:r>
              <a:rPr sz="2800" b="1">
                <a:solidFill>
                  <a:srgbClr val="1F2A44"/>
                </a:solidFill>
                <a:latin typeface="Noto Sans CJK SC"/>
              </a:rPr>
              <a:t>三、规章能写什么：五类规则 + 一条原则</a:t>
            </a:r>
          </a:p>
        </p:txBody>
      </p:sp>
      <p:sp>
        <p:nvSpPr>
          <p:cNvPr id="4" name="TextBox 3"/>
          <p:cNvSpPr txBox="1"/>
          <p:nvPr/>
        </p:nvSpPr>
        <p:spPr>
          <a:xfrm>
            <a:off x="10692000" y="6408000"/>
            <a:ext cx="1200000" cy="300000"/>
          </a:xfrm>
          <a:prstGeom prst="rect">
            <a:avLst/>
          </a:prstGeom>
          <a:noFill/>
        </p:spPr>
        <p:txBody>
          <a:bodyPr wrap="none">
            <a:spAutoFit/>
          </a:bodyPr>
          <a:lstStyle/>
          <a:p>
            <a:r>
              <a:rPr sz="1000" b="0">
                <a:solidFill>
                  <a:srgbClr val="555F6D"/>
                </a:solidFill>
                <a:latin typeface="Noto Sans CJK SC"/>
              </a:rPr>
              <a:t>SciTeam · 10</a:t>
            </a:r>
          </a:p>
        </p:txBody>
      </p:sp>
      <p:graphicFrame>
        <p:nvGraphicFramePr>
          <p:cNvPr id="5" name="Table 4"/>
          <p:cNvGraphicFramePr>
            <a:graphicFrameLocks noGrp="1"/>
          </p:cNvGraphicFramePr>
          <p:nvPr/>
        </p:nvGraphicFramePr>
        <p:xfrm>
          <a:off x="500000" y="1300000"/>
          <a:ext cx="11191999" cy="2880000"/>
        </p:xfrm>
        <a:graphic>
          <a:graphicData uri="http://schemas.openxmlformats.org/drawingml/2006/table">
            <a:tbl>
              <a:tblPr firstRow="1" bandRow="1">
                <a:tableStyleId>{5C22544A-7EE6-4342-B048-85BDC9FD1C3A}</a:tableStyleId>
              </a:tblPr>
              <a:tblGrid>
                <a:gridCol w="1865333"/>
                <a:gridCol w="4197000"/>
                <a:gridCol w="5129666"/>
              </a:tblGrid>
              <a:tr h="480000">
                <a:tc>
                  <a:txBody>
                    <a:bodyPr/>
                    <a:lstStyle/>
                    <a:p>
                      <a:r>
                        <a:rPr sz="1400" b="1">
                          <a:solidFill>
                            <a:srgbClr val="FFFFFF"/>
                          </a:solidFill>
                          <a:latin typeface="Noto Sans CJK SC"/>
                        </a:rPr>
                        <a:t>规则类型</a:t>
                      </a:r>
                    </a:p>
                  </a:txBody>
                  <a:tcPr>
                    <a:solidFill>
                      <a:srgbClr val="1F2A44"/>
                    </a:solidFill>
                  </a:tcPr>
                </a:tc>
                <a:tc>
                  <a:txBody>
                    <a:bodyPr/>
                    <a:lstStyle/>
                    <a:p>
                      <a:r>
                        <a:rPr sz="1400" b="1">
                          <a:solidFill>
                            <a:srgbClr val="FFFFFF"/>
                          </a:solidFill>
                          <a:latin typeface="Noto Sans CJK SC"/>
                        </a:rPr>
                        <a:t>作用（类比公司）</a:t>
                      </a:r>
                    </a:p>
                  </a:txBody>
                  <a:tcPr>
                    <a:solidFill>
                      <a:srgbClr val="1F2A44"/>
                    </a:solidFill>
                  </a:tcPr>
                </a:tc>
                <a:tc>
                  <a:txBody>
                    <a:bodyPr/>
                    <a:lstStyle/>
                    <a:p>
                      <a:r>
                        <a:rPr sz="1400" b="1">
                          <a:solidFill>
                            <a:srgbClr val="FFFFFF"/>
                          </a:solidFill>
                          <a:latin typeface="Noto Sans CJK SC"/>
                        </a:rPr>
                        <a:t>例子</a:t>
                      </a:r>
                    </a:p>
                  </a:txBody>
                  <a:tcPr>
                    <a:solidFill>
                      <a:srgbClr val="1F2A44"/>
                    </a:solidFill>
                  </a:tcPr>
                </a:tc>
              </a:tr>
              <a:tr h="480000">
                <a:tc>
                  <a:txBody>
                    <a:bodyPr/>
                    <a:lstStyle/>
                    <a:p>
                      <a:r>
                        <a:rPr sz="1400" b="0">
                          <a:solidFill>
                            <a:srgbClr val="1F2A44"/>
                          </a:solidFill>
                          <a:latin typeface="Noto Sans CJK SC"/>
                        </a:rPr>
                        <a:t>检查器</a:t>
                      </a:r>
                    </a:p>
                  </a:txBody>
                  <a:tcPr>
                    <a:solidFill>
                      <a:srgbClr val="EEF1F5"/>
                    </a:solidFill>
                  </a:tcPr>
                </a:tc>
                <a:tc>
                  <a:txBody>
                    <a:bodyPr/>
                    <a:lstStyle/>
                    <a:p>
                      <a:r>
                        <a:rPr sz="1400" b="0">
                          <a:solidFill>
                            <a:srgbClr val="1F2A44"/>
                          </a:solidFill>
                          <a:latin typeface="Noto Sans CJK SC"/>
                        </a:rPr>
                        <a:t>在干净环境里跑命令，看成败；不用 AI</a:t>
                      </a:r>
                    </a:p>
                  </a:txBody>
                  <a:tcPr>
                    <a:solidFill>
                      <a:srgbClr val="EEF1F5"/>
                    </a:solidFill>
                  </a:tcPr>
                </a:tc>
                <a:tc>
                  <a:txBody>
                    <a:bodyPr/>
                    <a:lstStyle/>
                    <a:p>
                      <a:r>
                        <a:rPr sz="1400" b="0">
                          <a:solidFill>
                            <a:srgbClr val="1F2A44"/>
                          </a:solidFill>
                          <a:latin typeface="Noto Sans CJK SC"/>
                        </a:rPr>
                        <a:t>跑测试；比较两份代码的输出</a:t>
                      </a:r>
                    </a:p>
                  </a:txBody>
                  <a:tcPr>
                    <a:solidFill>
                      <a:srgbClr val="EEF1F5"/>
                    </a:solidFill>
                  </a:tcPr>
                </a:tc>
              </a:tr>
              <a:tr h="480000">
                <a:tc>
                  <a:txBody>
                    <a:bodyPr/>
                    <a:lstStyle/>
                    <a:p>
                      <a:r>
                        <a:rPr sz="1400" b="0">
                          <a:solidFill>
                            <a:srgbClr val="1F2A44"/>
                          </a:solidFill>
                          <a:latin typeface="Noto Sans CJK SC"/>
                        </a:rPr>
                        <a:t>前置条件</a:t>
                      </a:r>
                    </a:p>
                  </a:txBody>
                  <a:tcPr>
                    <a:solidFill>
                      <a:srgbClr val="FFFFFF"/>
                    </a:solidFill>
                  </a:tcPr>
                </a:tc>
                <a:tc>
                  <a:txBody>
                    <a:bodyPr/>
                    <a:lstStyle/>
                    <a:p>
                      <a:r>
                        <a:rPr sz="1400" b="0">
                          <a:solidFill>
                            <a:srgbClr val="1F2A44"/>
                          </a:solidFill>
                          <a:latin typeface="Noto Sans CJK SC"/>
                        </a:rPr>
                        <a:t>做某件事之前必须满足的条件</a:t>
                      </a:r>
                    </a:p>
                  </a:txBody>
                  <a:tcPr>
                    <a:solidFill>
                      <a:srgbClr val="FFFFFF"/>
                    </a:solidFill>
                  </a:tcPr>
                </a:tc>
                <a:tc>
                  <a:txBody>
                    <a:bodyPr/>
                    <a:lstStyle/>
                    <a:p>
                      <a:r>
                        <a:rPr sz="1400" b="0">
                          <a:solidFill>
                            <a:srgbClr val="1F2A44"/>
                          </a:solidFill>
                          <a:latin typeface="Noto Sans CJK SC"/>
                        </a:rPr>
                        <a:t>提交前测试必须通过；批准人 ≠ 作者</a:t>
                      </a:r>
                    </a:p>
                  </a:txBody>
                  <a:tcPr>
                    <a:solidFill>
                      <a:srgbClr val="FFFFFF"/>
                    </a:solidFill>
                  </a:tcPr>
                </a:tc>
              </a:tr>
              <a:tr h="480000">
                <a:tc>
                  <a:txBody>
                    <a:bodyPr/>
                    <a:lstStyle/>
                    <a:p>
                      <a:r>
                        <a:rPr sz="1400" b="0">
                          <a:solidFill>
                            <a:srgbClr val="1F2A44"/>
                          </a:solidFill>
                          <a:latin typeface="Noto Sans CJK SC"/>
                        </a:rPr>
                        <a:t>审批</a:t>
                      </a:r>
                    </a:p>
                  </a:txBody>
                  <a:tcPr>
                    <a:solidFill>
                      <a:srgbClr val="EEF1F5"/>
                    </a:solidFill>
                  </a:tcPr>
                </a:tc>
                <a:tc>
                  <a:txBody>
                    <a:bodyPr/>
                    <a:lstStyle/>
                    <a:p>
                      <a:r>
                        <a:rPr sz="1400" b="0">
                          <a:solidFill>
                            <a:srgbClr val="1F2A44"/>
                          </a:solidFill>
                          <a:latin typeface="Noto Sans CJK SC"/>
                        </a:rPr>
                        <a:t>某些动作需特定的人签字</a:t>
                      </a:r>
                    </a:p>
                  </a:txBody>
                  <a:tcPr>
                    <a:solidFill>
                      <a:srgbClr val="EEF1F5"/>
                    </a:solidFill>
                  </a:tcPr>
                </a:tc>
                <a:tc>
                  <a:txBody>
                    <a:bodyPr/>
                    <a:lstStyle/>
                    <a:p>
                      <a:r>
                        <a:rPr sz="1400" b="0">
                          <a:solidFill>
                            <a:srgbClr val="1F2A44"/>
                          </a:solidFill>
                          <a:latin typeface="Noto Sans CJK SC"/>
                        </a:rPr>
                        <a:t>正式发布须人类签字</a:t>
                      </a:r>
                    </a:p>
                  </a:txBody>
                  <a:tcPr>
                    <a:solidFill>
                      <a:srgbClr val="EEF1F5"/>
                    </a:solidFill>
                  </a:tcPr>
                </a:tc>
              </a:tr>
              <a:tr h="480000">
                <a:tc>
                  <a:txBody>
                    <a:bodyPr/>
                    <a:lstStyle/>
                    <a:p>
                      <a:r>
                        <a:rPr sz="1400" b="0">
                          <a:solidFill>
                            <a:srgbClr val="1F2A44"/>
                          </a:solidFill>
                          <a:latin typeface="Noto Sans CJK SC"/>
                        </a:rPr>
                        <a:t>认定规则</a:t>
                      </a:r>
                    </a:p>
                  </a:txBody>
                  <a:tcPr>
                    <a:solidFill>
                      <a:srgbClr val="FFFFFF"/>
                    </a:solidFill>
                  </a:tcPr>
                </a:tc>
                <a:tc>
                  <a:txBody>
                    <a:bodyPr/>
                    <a:lstStyle/>
                    <a:p>
                      <a:r>
                        <a:rPr sz="1400" b="0">
                          <a:solidFill>
                            <a:srgbClr val="1F2A44"/>
                          </a:solidFill>
                          <a:latin typeface="Noto Sans CJK SC"/>
                        </a:rPr>
                        <a:t>什么情况「算作」什么</a:t>
                      </a:r>
                    </a:p>
                  </a:txBody>
                  <a:tcPr>
                    <a:solidFill>
                      <a:srgbClr val="FFFFFF"/>
                    </a:solidFill>
                  </a:tcPr>
                </a:tc>
                <a:tc>
                  <a:txBody>
                    <a:bodyPr/>
                    <a:lstStyle/>
                    <a:p>
                      <a:r>
                        <a:rPr sz="1400" b="0">
                          <a:solidFill>
                            <a:srgbClr val="1F2A44"/>
                          </a:solidFill>
                          <a:latin typeface="Noto Sans CJK SC"/>
                        </a:rPr>
                        <a:t>完成 + 测试过 + 非作者批准 ⇒ 验收通过</a:t>
                      </a:r>
                    </a:p>
                  </a:txBody>
                  <a:tcPr>
                    <a:solidFill>
                      <a:srgbClr val="FFFFFF"/>
                    </a:solidFill>
                  </a:tcPr>
                </a:tc>
              </a:tr>
              <a:tr h="480000">
                <a:tc>
                  <a:txBody>
                    <a:bodyPr/>
                    <a:lstStyle/>
                    <a:p>
                      <a:r>
                        <a:rPr sz="1400" b="0">
                          <a:solidFill>
                            <a:srgbClr val="1F2A44"/>
                          </a:solidFill>
                          <a:latin typeface="Noto Sans CJK SC"/>
                        </a:rPr>
                        <a:t>账本</a:t>
                      </a:r>
                    </a:p>
                  </a:txBody>
                  <a:tcPr>
                    <a:solidFill>
                      <a:srgbClr val="EEF1F5"/>
                    </a:solidFill>
                  </a:tcPr>
                </a:tc>
                <a:tc>
                  <a:txBody>
                    <a:bodyPr/>
                    <a:lstStyle/>
                    <a:p>
                      <a:r>
                        <a:rPr sz="1400" b="0">
                          <a:solidFill>
                            <a:srgbClr val="1F2A44"/>
                          </a:solidFill>
                          <a:latin typeface="Noto Sans CJK SC"/>
                        </a:rPr>
                        <a:t>记功记过（只记账，不自动惩罚）</a:t>
                      </a:r>
                    </a:p>
                  </a:txBody>
                  <a:tcPr>
                    <a:solidFill>
                      <a:srgbClr val="EEF1F5"/>
                    </a:solidFill>
                  </a:tcPr>
                </a:tc>
                <a:tc>
                  <a:txBody>
                    <a:bodyPr/>
                    <a:lstStyle/>
                    <a:p>
                      <a:r>
                        <a:rPr sz="1400" b="0">
                          <a:solidFill>
                            <a:srgbClr val="1F2A44"/>
                          </a:solidFill>
                          <a:latin typeface="Noto Sans CJK SC"/>
                        </a:rPr>
                        <a:t>交付 +10，被退回 −3</a:t>
                      </a:r>
                    </a:p>
                  </a:txBody>
                  <a:tcPr>
                    <a:solidFill>
                      <a:srgbClr val="EEF1F5"/>
                    </a:solidFill>
                  </a:tcPr>
                </a:tc>
              </a:tr>
            </a:tbl>
          </a:graphicData>
        </a:graphic>
      </p:graphicFrame>
      <p:sp>
        <p:nvSpPr>
          <p:cNvPr id="6" name="TextBox 5"/>
          <p:cNvSpPr txBox="1"/>
          <p:nvPr/>
        </p:nvSpPr>
        <p:spPr>
          <a:xfrm>
            <a:off x="500000" y="4500000"/>
            <a:ext cx="11192000" cy="500000"/>
          </a:xfrm>
          <a:prstGeom prst="rect">
            <a:avLst/>
          </a:prstGeom>
          <a:noFill/>
        </p:spPr>
        <p:txBody>
          <a:bodyPr wrap="square">
            <a:spAutoFit/>
          </a:bodyPr>
          <a:lstStyle/>
          <a:p>
            <a:r>
              <a:rPr sz="1500" b="1">
                <a:solidFill>
                  <a:srgbClr val="C0392B"/>
                </a:solidFill>
                <a:latin typeface="Noto Sans CJK SC"/>
              </a:rPr>
              <a:t>原则：程序只核对事实，判断交给角色。</a:t>
            </a:r>
            <a:r>
              <a:rPr sz="1500" b="0">
                <a:solidFill>
                  <a:srgbClr val="555F6D"/>
                </a:solidFill>
                <a:latin typeface="Noto Sans CJK SC"/>
              </a:rPr>
              <a:t> 「还值不值得返工」「该不该放弃」由审核员等角色决定；规章只规定谁有权判断、要写明什么理由、判断后有什么后果。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20000"/>
            <a:ext cx="11192000" cy="700000"/>
          </a:xfrm>
          <a:prstGeom prst="rect">
            <a:avLst/>
          </a:prstGeom>
          <a:noFill/>
        </p:spPr>
        <p:txBody>
          <a:bodyPr wrap="none">
            <a:spAutoFit/>
          </a:bodyPr>
          <a:lstStyle/>
          <a:p>
            <a:r>
              <a:rPr sz="2800" b="1">
                <a:solidFill>
                  <a:srgbClr val="1F2A44"/>
                </a:solidFill>
                <a:latin typeface="Noto Sans CJK SC"/>
              </a:rPr>
              <a:t>三、用一个例子看懂我们的实验</a:t>
            </a:r>
          </a:p>
          <a:p>
            <a:r>
              <a:rPr sz="1400" b="0">
                <a:solidFill>
                  <a:srgbClr val="555F6D"/>
                </a:solidFill>
                <a:latin typeface="Noto Sans CJK SC"/>
              </a:rPr>
              <a:t>以最新的 X-evid 实验为例：同一道科学计算题，三种团队规章</a:t>
            </a:r>
          </a:p>
        </p:txBody>
      </p:sp>
      <p:sp>
        <p:nvSpPr>
          <p:cNvPr id="4" name="TextBox 3"/>
          <p:cNvSpPr txBox="1"/>
          <p:nvPr/>
        </p:nvSpPr>
        <p:spPr>
          <a:xfrm>
            <a:off x="10692000" y="6408000"/>
            <a:ext cx="1200000" cy="300000"/>
          </a:xfrm>
          <a:prstGeom prst="rect">
            <a:avLst/>
          </a:prstGeom>
          <a:noFill/>
        </p:spPr>
        <p:txBody>
          <a:bodyPr wrap="none">
            <a:spAutoFit/>
          </a:bodyPr>
          <a:lstStyle/>
          <a:p>
            <a:r>
              <a:rPr sz="1000" b="0">
                <a:solidFill>
                  <a:srgbClr val="555F6D"/>
                </a:solidFill>
                <a:latin typeface="Noto Sans CJK SC"/>
              </a:rPr>
              <a:t>SciTeam · 11</a:t>
            </a:r>
          </a:p>
        </p:txBody>
      </p:sp>
      <p:graphicFrame>
        <p:nvGraphicFramePr>
          <p:cNvPr id="5" name="Table 4"/>
          <p:cNvGraphicFramePr>
            <a:graphicFrameLocks noGrp="1"/>
          </p:cNvGraphicFramePr>
          <p:nvPr/>
        </p:nvGraphicFramePr>
        <p:xfrm>
          <a:off x="500000" y="1300000"/>
          <a:ext cx="11191998" cy="3600000"/>
        </p:xfrm>
        <a:graphic>
          <a:graphicData uri="http://schemas.openxmlformats.org/drawingml/2006/table">
            <a:tbl>
              <a:tblPr firstRow="1" bandRow="1">
                <a:tableStyleId>{5C22544A-7EE6-4342-B048-85BDC9FD1C3A}</a:tableStyleId>
              </a:tblPr>
              <a:tblGrid>
                <a:gridCol w="1776507"/>
                <a:gridCol w="2931238"/>
                <a:gridCol w="3553015"/>
                <a:gridCol w="2931238"/>
              </a:tblGrid>
              <a:tr h="720000">
                <a:tc>
                  <a:txBody>
                    <a:bodyPr/>
                    <a:lstStyle/>
                    <a:p>
                      <a:r>
                        <a:rPr sz="1300" b="1">
                          <a:solidFill>
                            <a:srgbClr val="FFFFFF"/>
                          </a:solidFill>
                          <a:latin typeface="Noto Sans CJK SC"/>
                        </a:rPr>
                        <a:t/>
                      </a:r>
                    </a:p>
                  </a:txBody>
                  <a:tcPr>
                    <a:solidFill>
                      <a:srgbClr val="1F2A44"/>
                    </a:solidFill>
                  </a:tcPr>
                </a:tc>
                <a:tc>
                  <a:txBody>
                    <a:bodyPr/>
                    <a:lstStyle/>
                    <a:p>
                      <a:r>
                        <a:rPr sz="1300" b="1">
                          <a:solidFill>
                            <a:srgbClr val="FFFFFF"/>
                          </a:solidFill>
                          <a:latin typeface="Noto Sans CJK SC"/>
                        </a:rPr>
                        <a:t>对照组</a:t>
                      </a:r>
                    </a:p>
                  </a:txBody>
                  <a:tcPr>
                    <a:solidFill>
                      <a:srgbClr val="1F2A44"/>
                    </a:solidFill>
                  </a:tcPr>
                </a:tc>
                <a:tc>
                  <a:txBody>
                    <a:bodyPr/>
                    <a:lstStyle/>
                    <a:p>
                      <a:r>
                        <a:rPr sz="1300" b="1">
                          <a:solidFill>
                            <a:srgbClr val="FFFFFF"/>
                          </a:solidFill>
                          <a:latin typeface="Noto Sans CJK SC"/>
                        </a:rPr>
                        <a:t>同模型双盲</a:t>
                      </a:r>
                    </a:p>
                  </a:txBody>
                  <a:tcPr>
                    <a:solidFill>
                      <a:srgbClr val="1F2A44"/>
                    </a:solidFill>
                  </a:tcPr>
                </a:tc>
                <a:tc>
                  <a:txBody>
                    <a:bodyPr/>
                    <a:lstStyle/>
                    <a:p>
                      <a:r>
                        <a:rPr sz="1300" b="1">
                          <a:solidFill>
                            <a:srgbClr val="FFFFFF"/>
                          </a:solidFill>
                          <a:latin typeface="Noto Sans CJK SC"/>
                        </a:rPr>
                        <a:t>跨模型双盲</a:t>
                      </a:r>
                    </a:p>
                  </a:txBody>
                  <a:tcPr>
                    <a:solidFill>
                      <a:srgbClr val="1F2A44"/>
                    </a:solidFill>
                  </a:tcPr>
                </a:tc>
              </a:tr>
              <a:tr h="720000">
                <a:tc>
                  <a:txBody>
                    <a:bodyPr/>
                    <a:lstStyle/>
                    <a:p>
                      <a:r>
                        <a:rPr sz="1300" b="0">
                          <a:solidFill>
                            <a:srgbClr val="1F2A44"/>
                          </a:solidFill>
                          <a:latin typeface="Noto Sans CJK SC"/>
                        </a:rPr>
                        <a:t>两名实现者</a:t>
                      </a:r>
                    </a:p>
                  </a:txBody>
                  <a:tcPr>
                    <a:solidFill>
                      <a:srgbClr val="EEF1F5"/>
                    </a:solidFill>
                  </a:tcPr>
                </a:tc>
                <a:tc>
                  <a:txBody>
                    <a:bodyPr/>
                    <a:lstStyle/>
                    <a:p>
                      <a:r>
                        <a:rPr sz="1300" b="0">
                          <a:solidFill>
                            <a:srgbClr val="1F2A44"/>
                          </a:solidFill>
                          <a:latin typeface="Noto Sans CJK SC"/>
                        </a:rPr>
                        <a:t>flash + flash，互相看不见、不能交流</a:t>
                      </a:r>
                    </a:p>
                  </a:txBody>
                  <a:tcPr>
                    <a:solidFill>
                      <a:srgbClr val="EEF1F5"/>
                    </a:solidFill>
                  </a:tcPr>
                </a:tc>
                <a:tc>
                  <a:txBody>
                    <a:bodyPr/>
                    <a:lstStyle/>
                    <a:p>
                      <a:r>
                        <a:rPr sz="1300" b="0">
                          <a:solidFill>
                            <a:srgbClr val="1F2A44"/>
                          </a:solidFill>
                          <a:latin typeface="Noto Sans CJK SC"/>
                        </a:rPr>
                        <a:t>flash + flash，互相看不见、不能交流</a:t>
                      </a:r>
                    </a:p>
                  </a:txBody>
                  <a:tcPr>
                    <a:solidFill>
                      <a:srgbClr val="EEF1F5"/>
                    </a:solidFill>
                  </a:tcPr>
                </a:tc>
                <a:tc>
                  <a:txBody>
                    <a:bodyPr/>
                    <a:lstStyle/>
                    <a:p>
                      <a:r>
                        <a:rPr sz="1300" b="0">
                          <a:solidFill>
                            <a:srgbClr val="1F2A44"/>
                          </a:solidFill>
                          <a:latin typeface="Noto Sans CJK SC"/>
                        </a:rPr>
                        <a:t>flash + mimo，互相看不见、不能交流</a:t>
                      </a:r>
                    </a:p>
                  </a:txBody>
                  <a:tcPr>
                    <a:solidFill>
                      <a:srgbClr val="EEF1F5"/>
                    </a:solidFill>
                  </a:tcPr>
                </a:tc>
              </a:tr>
              <a:tr h="720000">
                <a:tc>
                  <a:txBody>
                    <a:bodyPr/>
                    <a:lstStyle/>
                    <a:p>
                      <a:r>
                        <a:rPr sz="1300" b="0">
                          <a:solidFill>
                            <a:srgbClr val="1F2A44"/>
                          </a:solidFill>
                          <a:latin typeface="Noto Sans CJK SC"/>
                        </a:rPr>
                        <a:t>怎么算「完成」</a:t>
                      </a:r>
                    </a:p>
                  </a:txBody>
                  <a:tcPr>
                    <a:solidFill>
                      <a:srgbClr val="FFFFFF"/>
                    </a:solidFill>
                  </a:tcPr>
                </a:tc>
                <a:tc>
                  <a:txBody>
                    <a:bodyPr/>
                    <a:lstStyle/>
                    <a:p>
                      <a:r>
                        <a:rPr sz="1300" b="0">
                          <a:solidFill>
                            <a:srgbClr val="1F2A44"/>
                          </a:solidFill>
                          <a:latin typeface="Noto Sans CJK SC"/>
                        </a:rPr>
                        <a:t>两人都交卷就算完成</a:t>
                      </a:r>
                    </a:p>
                  </a:txBody>
                  <a:tcPr>
                    <a:solidFill>
                      <a:srgbClr val="FFFFFF"/>
                    </a:solidFill>
                  </a:tcPr>
                </a:tc>
                <a:tc>
                  <a:txBody>
                    <a:bodyPr/>
                    <a:lstStyle/>
                    <a:p>
                      <a:r>
                        <a:rPr sz="1300" b="0">
                          <a:solidFill>
                            <a:srgbClr val="1F2A44"/>
                          </a:solidFill>
                          <a:latin typeface="Noto Sans CJK SC"/>
                        </a:rPr>
                        <a:t>审核员比对两人输出，</a:t>
                      </a:r>
                      <a:r>
                        <a:rPr sz="1300" b="1">
                          <a:solidFill>
                            <a:srgbClr val="C0392B"/>
                          </a:solidFill>
                          <a:latin typeface="Noto Sans CJK SC"/>
                        </a:rPr>
                        <a:t>一致才算完成</a:t>
                      </a:r>
                    </a:p>
                  </a:txBody>
                  <a:tcPr>
                    <a:solidFill>
                      <a:srgbClr val="FFFFFF"/>
                    </a:solidFill>
                  </a:tcPr>
                </a:tc>
                <a:tc>
                  <a:txBody>
                    <a:bodyPr/>
                    <a:lstStyle/>
                    <a:p>
                      <a:r>
                        <a:rPr sz="1300" b="0">
                          <a:solidFill>
                            <a:srgbClr val="1F2A44"/>
                          </a:solidFill>
                          <a:latin typeface="Noto Sans CJK SC"/>
                        </a:rPr>
                        <a:t>同左</a:t>
                      </a:r>
                    </a:p>
                  </a:txBody>
                  <a:tcPr>
                    <a:solidFill>
                      <a:srgbClr val="FFFFFF"/>
                    </a:solidFill>
                  </a:tcPr>
                </a:tc>
              </a:tr>
              <a:tr h="720000">
                <a:tc>
                  <a:txBody>
                    <a:bodyPr/>
                    <a:lstStyle/>
                    <a:p>
                      <a:r>
                        <a:rPr sz="1300" b="0">
                          <a:solidFill>
                            <a:srgbClr val="1F2A44"/>
                          </a:solidFill>
                          <a:latin typeface="Noto Sans CJK SC"/>
                        </a:rPr>
                        <a:t>不一致怎么办</a:t>
                      </a:r>
                    </a:p>
                  </a:txBody>
                  <a:tcPr>
                    <a:solidFill>
                      <a:srgbClr val="EEF1F5"/>
                    </a:solidFill>
                  </a:tcPr>
                </a:tc>
                <a:tc>
                  <a:txBody>
                    <a:bodyPr/>
                    <a:lstStyle/>
                    <a:p>
                      <a:r>
                        <a:rPr sz="1300" b="0">
                          <a:solidFill>
                            <a:srgbClr val="1F2A44"/>
                          </a:solidFill>
                          <a:latin typeface="Noto Sans CJK SC"/>
                        </a:rPr>
                        <a:t>—</a:t>
                      </a:r>
                    </a:p>
                  </a:txBody>
                  <a:tcPr>
                    <a:solidFill>
                      <a:srgbClr val="EEF1F5"/>
                    </a:solidFill>
                  </a:tcPr>
                </a:tc>
                <a:tc>
                  <a:txBody>
                    <a:bodyPr/>
                    <a:lstStyle/>
                    <a:p>
                      <a:r>
                        <a:rPr sz="1300" b="0">
                          <a:solidFill>
                            <a:srgbClr val="1F2A44"/>
                          </a:solidFill>
                          <a:latin typeface="Noto Sans CJK SC"/>
                        </a:rPr>
                        <a:t>只告诉「第几步不一致」，各自再查一轮；仍不一致 → </a:t>
                      </a:r>
                      <a:r>
                        <a:rPr sz="1300" b="1">
                          <a:solidFill>
                            <a:srgbClr val="C0392B"/>
                          </a:solidFill>
                          <a:latin typeface="Noto Sans CJK SC"/>
                        </a:rPr>
                        <a:t>审核员放弃</a:t>
                      </a:r>
                    </a:p>
                  </a:txBody>
                  <a:tcPr>
                    <a:solidFill>
                      <a:srgbClr val="EEF1F5"/>
                    </a:solidFill>
                  </a:tcPr>
                </a:tc>
                <a:tc>
                  <a:txBody>
                    <a:bodyPr/>
                    <a:lstStyle/>
                    <a:p>
                      <a:r>
                        <a:rPr sz="1300" b="0">
                          <a:solidFill>
                            <a:srgbClr val="1F2A44"/>
                          </a:solidFill>
                          <a:latin typeface="Noto Sans CJK SC"/>
                        </a:rPr>
                        <a:t>同左</a:t>
                      </a:r>
                    </a:p>
                  </a:txBody>
                  <a:tcPr>
                    <a:solidFill>
                      <a:srgbClr val="EEF1F5"/>
                    </a:solidFill>
                  </a:tcPr>
                </a:tc>
              </a:tr>
              <a:tr h="720000">
                <a:tc>
                  <a:txBody>
                    <a:bodyPr/>
                    <a:lstStyle/>
                    <a:p>
                      <a:r>
                        <a:rPr sz="1300" b="0">
                          <a:solidFill>
                            <a:srgbClr val="1F2A44"/>
                          </a:solidFill>
                          <a:latin typeface="Noto Sans CJK SC"/>
                        </a:rPr>
                        <a:t>要回答什么</a:t>
                      </a:r>
                    </a:p>
                  </a:txBody>
                  <a:tcPr>
                    <a:solidFill>
                      <a:srgbClr val="FFFFFF"/>
                    </a:solidFill>
                  </a:tcPr>
                </a:tc>
                <a:tc>
                  <a:txBody>
                    <a:bodyPr/>
                    <a:lstStyle/>
                    <a:p>
                      <a:r>
                        <a:rPr sz="1300" b="0">
                          <a:solidFill>
                            <a:srgbClr val="1F2A44"/>
                          </a:solidFill>
                          <a:latin typeface="Noto Sans CJK SC"/>
                        </a:rPr>
                        <a:t>排除「只是多花一份算力」</a:t>
                      </a:r>
                    </a:p>
                  </a:txBody>
                  <a:tcPr>
                    <a:solidFill>
                      <a:srgbClr val="FFFFFF"/>
                    </a:solidFill>
                  </a:tcPr>
                </a:tc>
                <a:tc>
                  <a:txBody>
                    <a:bodyPr/>
                    <a:lstStyle/>
                    <a:p>
                      <a:r>
                        <a:rPr sz="1300" b="0">
                          <a:solidFill>
                            <a:srgbClr val="1F2A44"/>
                          </a:solidFill>
                          <a:latin typeface="Noto Sans CJK SC"/>
                        </a:rPr>
                        <a:t>同模型的独立重复能否发现错误</a:t>
                      </a:r>
                    </a:p>
                  </a:txBody>
                  <a:tcPr>
                    <a:solidFill>
                      <a:srgbClr val="FFFFFF"/>
                    </a:solidFill>
                  </a:tcPr>
                </a:tc>
                <a:tc>
                  <a:txBody>
                    <a:bodyPr/>
                    <a:lstStyle/>
                    <a:p>
                      <a:r>
                        <a:rPr sz="1300" b="0">
                          <a:solidFill>
                            <a:srgbClr val="1F2A44"/>
                          </a:solidFill>
                          <a:latin typeface="Noto Sans CJK SC"/>
                        </a:rPr>
                        <a:t>换个模型是否更独立</a:t>
                      </a:r>
                    </a:p>
                  </a:txBody>
                  <a:tcPr>
                    <a:solidFill>
                      <a:srgbClr val="FFFFFF"/>
                    </a:solidFill>
                  </a:tcPr>
                </a:tc>
              </a:tr>
            </a:tbl>
          </a:graphicData>
        </a:graphic>
      </p:graphicFrame>
      <p:sp>
        <p:nvSpPr>
          <p:cNvPr id="6" name="TextBox 5"/>
          <p:cNvSpPr txBox="1"/>
          <p:nvPr/>
        </p:nvSpPr>
        <p:spPr>
          <a:xfrm>
            <a:off x="500000" y="5000000"/>
            <a:ext cx="11192000" cy="500000"/>
          </a:xfrm>
          <a:prstGeom prst="rect">
            <a:avLst/>
          </a:prstGeom>
          <a:noFill/>
        </p:spPr>
        <p:txBody>
          <a:bodyPr wrap="square">
            <a:spAutoFit/>
          </a:bodyPr>
          <a:lstStyle/>
          <a:p>
            <a:r>
              <a:rPr sz="1400" b="0">
                <a:solidFill>
                  <a:srgbClr val="555F6D"/>
                </a:solidFill>
                <a:latin typeface="Noto Sans CJK SC"/>
              </a:rPr>
              <a:t>无论团队说什么，最后都用</a:t>
            </a:r>
            <a:r>
              <a:rPr sz="1400" b="1">
                <a:solidFill>
                  <a:srgbClr val="C0392B"/>
                </a:solidFill>
                <a:latin typeface="Noto Sans CJK SC"/>
              </a:rPr>
              <a:t>官方标准答案</a:t>
            </a:r>
            <a:r>
              <a:rPr sz="1400" b="0">
                <a:solidFill>
                  <a:srgbClr val="555F6D"/>
                </a:solidFill>
                <a:latin typeface="Noto Sans CJK SC"/>
              </a:rPr>
              <a:t>给 1 号的答案打分 → 算出团队说「完成」时到底对不对。24 题 × 3 种规章 × 6 次 = 432 次运行。</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20000"/>
            <a:ext cx="11192000" cy="700000"/>
          </a:xfrm>
          <a:prstGeom prst="rect">
            <a:avLst/>
          </a:prstGeom>
          <a:noFill/>
        </p:spPr>
        <p:txBody>
          <a:bodyPr wrap="none">
            <a:spAutoFit/>
          </a:bodyPr>
          <a:lstStyle/>
          <a:p>
            <a:r>
              <a:rPr sz="2800" b="1">
                <a:solidFill>
                  <a:srgbClr val="1F2A44"/>
                </a:solidFill>
                <a:latin typeface="Noto Sans CJK SC"/>
              </a:rPr>
              <a:t>四、第一层验收：我们的单个 AI 和业界最好水平持平</a:t>
            </a:r>
          </a:p>
          <a:p>
            <a:r>
              <a:rPr sz="1400" b="0">
                <a:solidFill>
                  <a:srgbClr val="555F6D"/>
                </a:solidFill>
                <a:latin typeface="Noto Sans CJK SC"/>
              </a:rPr>
              <a:t>SWE-bench Verified：500 个真实 GitHub 项目的 bug，修好且通过官方测试才算解决</a:t>
            </a:r>
          </a:p>
        </p:txBody>
      </p:sp>
      <p:sp>
        <p:nvSpPr>
          <p:cNvPr id="4" name="TextBox 3"/>
          <p:cNvSpPr txBox="1"/>
          <p:nvPr/>
        </p:nvSpPr>
        <p:spPr>
          <a:xfrm>
            <a:off x="10692000" y="6408000"/>
            <a:ext cx="1200000" cy="300000"/>
          </a:xfrm>
          <a:prstGeom prst="rect">
            <a:avLst/>
          </a:prstGeom>
          <a:noFill/>
        </p:spPr>
        <p:txBody>
          <a:bodyPr wrap="none">
            <a:spAutoFit/>
          </a:bodyPr>
          <a:lstStyle/>
          <a:p>
            <a:r>
              <a:rPr sz="1000" b="0">
                <a:solidFill>
                  <a:srgbClr val="555F6D"/>
                </a:solidFill>
                <a:latin typeface="Noto Sans CJK SC"/>
              </a:rPr>
              <a:t>SciTeam · 12</a:t>
            </a:r>
          </a:p>
        </p:txBody>
      </p:sp>
      <p:graphicFrame>
        <p:nvGraphicFramePr>
          <p:cNvPr id="5" name="Table 4"/>
          <p:cNvGraphicFramePr>
            <a:graphicFrameLocks noGrp="1"/>
          </p:cNvGraphicFramePr>
          <p:nvPr/>
        </p:nvGraphicFramePr>
        <p:xfrm>
          <a:off x="500000" y="1300000"/>
          <a:ext cx="11191998" cy="1920000"/>
        </p:xfrm>
        <a:graphic>
          <a:graphicData uri="http://schemas.openxmlformats.org/drawingml/2006/table">
            <a:tbl>
              <a:tblPr firstRow="1" bandRow="1">
                <a:tableStyleId>{5C22544A-7EE6-4342-B048-85BDC9FD1C3A}</a:tableStyleId>
              </a:tblPr>
              <a:tblGrid>
                <a:gridCol w="3052363"/>
                <a:gridCol w="3052363"/>
                <a:gridCol w="2034909"/>
                <a:gridCol w="3052363"/>
              </a:tblGrid>
              <a:tr h="480000">
                <a:tc>
                  <a:txBody>
                    <a:bodyPr/>
                    <a:lstStyle/>
                    <a:p>
                      <a:r>
                        <a:rPr sz="1500" b="1">
                          <a:solidFill>
                            <a:srgbClr val="FFFFFF"/>
                          </a:solidFill>
                          <a:latin typeface="Noto Sans CJK SC"/>
                        </a:rPr>
                        <a:t>系统（同一模型）</a:t>
                      </a:r>
                    </a:p>
                  </a:txBody>
                  <a:tcPr>
                    <a:solidFill>
                      <a:srgbClr val="1F2A44"/>
                    </a:solidFill>
                  </a:tcPr>
                </a:tc>
                <a:tc>
                  <a:txBody>
                    <a:bodyPr/>
                    <a:lstStyle/>
                    <a:p>
                      <a:r>
                        <a:rPr sz="1500" b="1">
                          <a:solidFill>
                            <a:srgbClr val="FFFFFF"/>
                          </a:solidFill>
                          <a:latin typeface="Noto Sans CJK SC"/>
                        </a:rPr>
                        <a:t>解决题数</a:t>
                      </a:r>
                    </a:p>
                  </a:txBody>
                  <a:tcPr>
                    <a:solidFill>
                      <a:srgbClr val="1F2A44"/>
                    </a:solidFill>
                  </a:tcPr>
                </a:tc>
                <a:tc>
                  <a:txBody>
                    <a:bodyPr/>
                    <a:lstStyle/>
                    <a:p>
                      <a:r>
                        <a:rPr sz="1500" b="1">
                          <a:solidFill>
                            <a:srgbClr val="FFFFFF"/>
                          </a:solidFill>
                          <a:latin typeface="Noto Sans CJK SC"/>
                        </a:rPr>
                        <a:t>费用</a:t>
                      </a:r>
                    </a:p>
                  </a:txBody>
                  <a:tcPr>
                    <a:solidFill>
                      <a:srgbClr val="1F2A44"/>
                    </a:solidFill>
                  </a:tcPr>
                </a:tc>
                <a:tc>
                  <a:txBody>
                    <a:bodyPr/>
                    <a:lstStyle/>
                    <a:p>
                      <a:r>
                        <a:rPr sz="1500" b="1">
                          <a:solidFill>
                            <a:srgbClr val="FFFFFF"/>
                          </a:solidFill>
                          <a:latin typeface="Noto Sans CJK SC"/>
                        </a:rPr>
                        <a:t>说明</a:t>
                      </a:r>
                    </a:p>
                  </a:txBody>
                  <a:tcPr>
                    <a:solidFill>
                      <a:srgbClr val="1F2A44"/>
                    </a:solidFill>
                  </a:tcPr>
                </a:tc>
              </a:tr>
              <a:tr h="480000">
                <a:tc>
                  <a:txBody>
                    <a:bodyPr/>
                    <a:lstStyle/>
                    <a:p>
                      <a:r>
                        <a:rPr sz="1500" b="0">
                          <a:solidFill>
                            <a:srgbClr val="1F2A44"/>
                          </a:solidFill>
                          <a:latin typeface="Noto Sans CJK SC"/>
                        </a:rPr>
                        <a:t>SciTeam（我们）</a:t>
                      </a:r>
                    </a:p>
                  </a:txBody>
                  <a:tcPr>
                    <a:solidFill>
                      <a:srgbClr val="EEF1F5"/>
                    </a:solidFill>
                  </a:tcPr>
                </a:tc>
                <a:tc>
                  <a:txBody>
                    <a:bodyPr/>
                    <a:lstStyle/>
                    <a:p>
                      <a:r>
                        <a:rPr sz="1500" b="0">
                          <a:solidFill>
                            <a:srgbClr val="1F2A44"/>
                          </a:solidFill>
                          <a:latin typeface="Noto Sans CJK SC"/>
                        </a:rPr>
                        <a:t>414 / 500（82.8%）</a:t>
                      </a:r>
                    </a:p>
                  </a:txBody>
                  <a:tcPr>
                    <a:solidFill>
                      <a:srgbClr val="EEF1F5"/>
                    </a:solidFill>
                  </a:tcPr>
                </a:tc>
                <a:tc>
                  <a:txBody>
                    <a:bodyPr/>
                    <a:lstStyle/>
                    <a:p>
                      <a:r>
                        <a:rPr sz="1500" b="1">
                          <a:solidFill>
                            <a:srgbClr val="C0392B"/>
                          </a:solidFill>
                          <a:latin typeface="Noto Sans CJK SC"/>
                        </a:rPr>
                        <a:t>$28.68</a:t>
                      </a:r>
                    </a:p>
                  </a:txBody>
                  <a:tcPr>
                    <a:solidFill>
                      <a:srgbClr val="EEF1F5"/>
                    </a:solidFill>
                  </a:tcPr>
                </a:tc>
                <a:tc>
                  <a:txBody>
                    <a:bodyPr/>
                    <a:lstStyle/>
                    <a:p>
                      <a:r>
                        <a:rPr sz="1500" b="0">
                          <a:solidFill>
                            <a:srgbClr val="1F2A44"/>
                          </a:solidFill>
                          <a:latin typeface="Noto Sans CJK SC"/>
                        </a:rPr>
                        <a:t>费用最低</a:t>
                      </a:r>
                    </a:p>
                  </a:txBody>
                  <a:tcPr>
                    <a:solidFill>
                      <a:srgbClr val="EEF1F5"/>
                    </a:solidFill>
                  </a:tcPr>
                </a:tc>
              </a:tr>
              <a:tr h="480000">
                <a:tc>
                  <a:txBody>
                    <a:bodyPr/>
                    <a:lstStyle/>
                    <a:p>
                      <a:r>
                        <a:rPr sz="1500" b="0">
                          <a:solidFill>
                            <a:srgbClr val="1F2A44"/>
                          </a:solidFill>
                          <a:latin typeface="Noto Sans CJK SC"/>
                        </a:rPr>
                        <a:t>pi（开源强基线）</a:t>
                      </a:r>
                    </a:p>
                  </a:txBody>
                  <a:tcPr>
                    <a:solidFill>
                      <a:srgbClr val="FFFFFF"/>
                    </a:solidFill>
                  </a:tcPr>
                </a:tc>
                <a:tc>
                  <a:txBody>
                    <a:bodyPr/>
                    <a:lstStyle/>
                    <a:p>
                      <a:r>
                        <a:rPr sz="1500" b="0">
                          <a:solidFill>
                            <a:srgbClr val="1F2A44"/>
                          </a:solidFill>
                          <a:latin typeface="Noto Sans CJK SC"/>
                        </a:rPr>
                        <a:t>415 / 500（83.0%）</a:t>
                      </a:r>
                    </a:p>
                  </a:txBody>
                  <a:tcPr>
                    <a:solidFill>
                      <a:srgbClr val="FFFFFF"/>
                    </a:solidFill>
                  </a:tcPr>
                </a:tc>
                <a:tc>
                  <a:txBody>
                    <a:bodyPr/>
                    <a:lstStyle/>
                    <a:p>
                      <a:r>
                        <a:rPr sz="1500" b="0">
                          <a:solidFill>
                            <a:srgbClr val="1F2A44"/>
                          </a:solidFill>
                          <a:latin typeface="Noto Sans CJK SC"/>
                        </a:rPr>
                        <a:t>≤ $37.83</a:t>
                      </a:r>
                    </a:p>
                  </a:txBody>
                  <a:tcPr>
                    <a:solidFill>
                      <a:srgbClr val="FFFFFF"/>
                    </a:solidFill>
                  </a:tcPr>
                </a:tc>
                <a:tc>
                  <a:txBody>
                    <a:bodyPr/>
                    <a:lstStyle/>
                    <a:p>
                      <a:r>
                        <a:rPr sz="1500" b="0">
                          <a:solidFill>
                            <a:srgbClr val="1F2A44"/>
                          </a:solidFill>
                          <a:latin typeface="Noto Sans CJK SC"/>
                        </a:rPr>
                        <a:t>费用为上限估计</a:t>
                      </a:r>
                    </a:p>
                  </a:txBody>
                  <a:tcPr>
                    <a:solidFill>
                      <a:srgbClr val="FFFFFF"/>
                    </a:solidFill>
                  </a:tcPr>
                </a:tc>
              </a:tr>
              <a:tr h="480000">
                <a:tc>
                  <a:txBody>
                    <a:bodyPr/>
                    <a:lstStyle/>
                    <a:p>
                      <a:r>
                        <a:rPr sz="1500" b="0">
                          <a:solidFill>
                            <a:srgbClr val="1F2A44"/>
                          </a:solidFill>
                          <a:latin typeface="Noto Sans CJK SC"/>
                        </a:rPr>
                        <a:t>Hermes（开源强基线）</a:t>
                      </a:r>
                    </a:p>
                  </a:txBody>
                  <a:tcPr>
                    <a:solidFill>
                      <a:srgbClr val="EEF1F5"/>
                    </a:solidFill>
                  </a:tcPr>
                </a:tc>
                <a:tc>
                  <a:txBody>
                    <a:bodyPr/>
                    <a:lstStyle/>
                    <a:p>
                      <a:r>
                        <a:rPr sz="1500" b="0">
                          <a:solidFill>
                            <a:srgbClr val="1F2A44"/>
                          </a:solidFill>
                          <a:latin typeface="Noto Sans CJK SC"/>
                        </a:rPr>
                        <a:t>414 / 500（82.8%）</a:t>
                      </a:r>
                    </a:p>
                  </a:txBody>
                  <a:tcPr>
                    <a:solidFill>
                      <a:srgbClr val="EEF1F5"/>
                    </a:solidFill>
                  </a:tcPr>
                </a:tc>
                <a:tc>
                  <a:txBody>
                    <a:bodyPr/>
                    <a:lstStyle/>
                    <a:p>
                      <a:r>
                        <a:rPr sz="1500" b="0">
                          <a:solidFill>
                            <a:srgbClr val="1F2A44"/>
                          </a:solidFill>
                          <a:latin typeface="Noto Sans CJK SC"/>
                        </a:rPr>
                        <a:t>≤ $63.95</a:t>
                      </a:r>
                    </a:p>
                  </a:txBody>
                  <a:tcPr>
                    <a:solidFill>
                      <a:srgbClr val="EEF1F5"/>
                    </a:solidFill>
                  </a:tcPr>
                </a:tc>
                <a:tc>
                  <a:txBody>
                    <a:bodyPr/>
                    <a:lstStyle/>
                    <a:p>
                      <a:r>
                        <a:rPr sz="1500" b="0">
                          <a:solidFill>
                            <a:srgbClr val="1F2A44"/>
                          </a:solidFill>
                          <a:latin typeface="Noto Sans CJK SC"/>
                        </a:rPr>
                        <a:t>费用为上限估计</a:t>
                      </a:r>
                    </a:p>
                  </a:txBody>
                  <a:tcPr>
                    <a:solidFill>
                      <a:srgbClr val="EEF1F5"/>
                    </a:solidFill>
                  </a:tcPr>
                </a:tc>
              </a:tr>
            </a:tbl>
          </a:graphicData>
        </a:graphic>
      </p:graphicFrame>
      <p:sp>
        <p:nvSpPr>
          <p:cNvPr id="6" name="TextBox 5"/>
          <p:cNvSpPr txBox="1"/>
          <p:nvPr/>
        </p:nvSpPr>
        <p:spPr>
          <a:xfrm>
            <a:off x="500000" y="3500000"/>
            <a:ext cx="11192000" cy="5058000"/>
          </a:xfrm>
          <a:prstGeom prst="rect">
            <a:avLst/>
          </a:prstGeom>
          <a:noFill/>
        </p:spPr>
        <p:txBody>
          <a:bodyPr wrap="square">
            <a:spAutoFit/>
          </a:bodyPr>
          <a:lstStyle/>
          <a:p>
            <a:pPr>
              <a:spcAft>
                <a:spcPts val="600"/>
              </a:spcAft>
            </a:pPr>
            <a:r>
              <a:rPr sz="1600" b="0">
                <a:solidFill>
                  <a:srgbClr val="555F6D"/>
                </a:solidFill>
                <a:latin typeface="Noto Sans CJK SC"/>
              </a:rPr>
              <a:t>• </a:t>
            </a:r>
            <a:r>
              <a:rPr sz="1600" b="0">
                <a:solidFill>
                  <a:srgbClr val="1F2A44"/>
                </a:solidFill>
                <a:latin typeface="Noto Sans CJK SC"/>
              </a:rPr>
              <a:t>三家差距 ≤ 1 题，属于随机波动；我们的优势在费用</a:t>
            </a:r>
          </a:p>
          <a:p>
            <a:pPr>
              <a:spcAft>
                <a:spcPts val="600"/>
              </a:spcAft>
            </a:pPr>
            <a:r>
              <a:rPr sz="1600" b="0">
                <a:solidFill>
                  <a:srgbClr val="555F6D"/>
                </a:solidFill>
                <a:latin typeface="Noto Sans CJK SC"/>
              </a:rPr>
              <a:t>• </a:t>
            </a:r>
            <a:r>
              <a:rPr sz="1600" b="0">
                <a:solidFill>
                  <a:srgbClr val="1F2A44"/>
                </a:solidFill>
                <a:latin typeface="Noto Sans CJK SC"/>
              </a:rPr>
              <a:t>命令行任务基准 Terminal-Bench 2.1（重复 5 遍）：</a:t>
            </a:r>
            <a:r>
              <a:rPr sz="1600" b="1">
                <a:solidFill>
                  <a:srgbClr val="C0392B"/>
                </a:solidFill>
                <a:latin typeface="Noto Sans CJK SC"/>
              </a:rPr>
              <a:t>84.3%</a:t>
            </a:r>
            <a:r>
              <a:rPr sz="1600" b="0">
                <a:solidFill>
                  <a:srgbClr val="1F2A44"/>
                </a:solidFill>
                <a:latin typeface="Noto Sans CJK SC"/>
              </a:rPr>
              <a:t>，官方参考 82.7%</a:t>
            </a:r>
          </a:p>
          <a:p>
            <a:pPr>
              <a:spcAft>
                <a:spcPts val="600"/>
              </a:spcAft>
            </a:pPr>
            <a:r>
              <a:rPr sz="1600" b="0">
                <a:solidFill>
                  <a:srgbClr val="555F6D"/>
                </a:solidFill>
                <a:latin typeface="Noto Sans CJK SC"/>
              </a:rPr>
              <a:t>• </a:t>
            </a:r>
            <a:r>
              <a:rPr sz="1600" b="0">
                <a:solidFill>
                  <a:srgbClr val="1F2A44"/>
                </a:solidFill>
                <a:latin typeface="Noto Sans CJK SC"/>
              </a:rPr>
              <a:t>顺带发现：开发用题库残留 git 历史，AI 能「偷看答案」，成功率被</a:t>
            </a:r>
            <a:r>
              <a:rPr sz="1600" b="1">
                <a:solidFill>
                  <a:srgbClr val="C0392B"/>
                </a:solidFill>
                <a:latin typeface="Noto Sans CJK SC"/>
              </a:rPr>
              <a:t>虚高约 25 个百分点</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20000"/>
            <a:ext cx="11192000" cy="700000"/>
          </a:xfrm>
          <a:prstGeom prst="rect">
            <a:avLst/>
          </a:prstGeom>
          <a:noFill/>
        </p:spPr>
        <p:txBody>
          <a:bodyPr wrap="none">
            <a:spAutoFit/>
          </a:bodyPr>
          <a:lstStyle/>
          <a:p>
            <a:r>
              <a:rPr sz="2800" b="1">
                <a:solidFill>
                  <a:srgbClr val="1F2A44"/>
                </a:solidFill>
                <a:latin typeface="Noto Sans CJK SC"/>
              </a:rPr>
              <a:t>四、第二到四层验收：通信、制度、组织都在真实运行中跑通</a:t>
            </a:r>
          </a:p>
          <a:p>
            <a:r>
              <a:rPr sz="1400" b="0">
                <a:solidFill>
                  <a:srgbClr val="555F6D"/>
                </a:solidFill>
                <a:latin typeface="Noto Sans CJK SC"/>
              </a:rPr>
              <a:t>验收任务：一个带 74 条隐藏测试的小型 Python 库</a:t>
            </a:r>
          </a:p>
        </p:txBody>
      </p:sp>
      <p:sp>
        <p:nvSpPr>
          <p:cNvPr id="4" name="TextBox 3"/>
          <p:cNvSpPr txBox="1"/>
          <p:nvPr/>
        </p:nvSpPr>
        <p:spPr>
          <a:xfrm>
            <a:off x="10692000" y="6408000"/>
            <a:ext cx="1200000" cy="300000"/>
          </a:xfrm>
          <a:prstGeom prst="rect">
            <a:avLst/>
          </a:prstGeom>
          <a:noFill/>
        </p:spPr>
        <p:txBody>
          <a:bodyPr wrap="none">
            <a:spAutoFit/>
          </a:bodyPr>
          <a:lstStyle/>
          <a:p>
            <a:r>
              <a:rPr sz="1000" b="0">
                <a:solidFill>
                  <a:srgbClr val="555F6D"/>
                </a:solidFill>
                <a:latin typeface="Noto Sans CJK SC"/>
              </a:rPr>
              <a:t>SciTeam · 13</a:t>
            </a:r>
          </a:p>
        </p:txBody>
      </p:sp>
      <p:graphicFrame>
        <p:nvGraphicFramePr>
          <p:cNvPr id="5" name="Table 4"/>
          <p:cNvGraphicFramePr>
            <a:graphicFrameLocks noGrp="1"/>
          </p:cNvGraphicFramePr>
          <p:nvPr/>
        </p:nvGraphicFramePr>
        <p:xfrm>
          <a:off x="500000" y="1300000"/>
          <a:ext cx="11191999" cy="3120000"/>
        </p:xfrm>
        <a:graphic>
          <a:graphicData uri="http://schemas.openxmlformats.org/drawingml/2006/table">
            <a:tbl>
              <a:tblPr firstRow="1" bandRow="1">
                <a:tableStyleId>{5C22544A-7EE6-4342-B048-85BDC9FD1C3A}</a:tableStyleId>
              </a:tblPr>
              <a:tblGrid>
                <a:gridCol w="1065904"/>
                <a:gridCol w="2487111"/>
                <a:gridCol w="3375365"/>
                <a:gridCol w="4263619"/>
              </a:tblGrid>
              <a:tr h="780000">
                <a:tc>
                  <a:txBody>
                    <a:bodyPr/>
                    <a:lstStyle/>
                    <a:p>
                      <a:r>
                        <a:rPr sz="1300" b="1">
                          <a:solidFill>
                            <a:srgbClr val="FFFFFF"/>
                          </a:solidFill>
                          <a:latin typeface="Noto Sans CJK SC"/>
                        </a:rPr>
                        <a:t>层</a:t>
                      </a:r>
                    </a:p>
                  </a:txBody>
                  <a:tcPr>
                    <a:solidFill>
                      <a:srgbClr val="1F2A44"/>
                    </a:solidFill>
                  </a:tcPr>
                </a:tc>
                <a:tc>
                  <a:txBody>
                    <a:bodyPr/>
                    <a:lstStyle/>
                    <a:p>
                      <a:r>
                        <a:rPr sz="1300" b="1">
                          <a:solidFill>
                            <a:srgbClr val="FFFFFF"/>
                          </a:solidFill>
                          <a:latin typeface="Noto Sans CJK SC"/>
                        </a:rPr>
                        <a:t>做了什么</a:t>
                      </a:r>
                    </a:p>
                  </a:txBody>
                  <a:tcPr>
                    <a:solidFill>
                      <a:srgbClr val="1F2A44"/>
                    </a:solidFill>
                  </a:tcPr>
                </a:tc>
                <a:tc>
                  <a:txBody>
                    <a:bodyPr/>
                    <a:lstStyle/>
                    <a:p>
                      <a:r>
                        <a:rPr sz="1300" b="1">
                          <a:solidFill>
                            <a:srgbClr val="FFFFFF"/>
                          </a:solidFill>
                          <a:latin typeface="Noto Sans CJK SC"/>
                        </a:rPr>
                        <a:t>结果</a:t>
                      </a:r>
                    </a:p>
                  </a:txBody>
                  <a:tcPr>
                    <a:solidFill>
                      <a:srgbClr val="1F2A44"/>
                    </a:solidFill>
                  </a:tcPr>
                </a:tc>
                <a:tc>
                  <a:txBody>
                    <a:bodyPr/>
                    <a:lstStyle/>
                    <a:p>
                      <a:r>
                        <a:rPr sz="1300" b="1">
                          <a:solidFill>
                            <a:srgbClr val="FFFFFF"/>
                          </a:solidFill>
                          <a:latin typeface="Noto Sans CJK SC"/>
                        </a:rPr>
                        <a:t>真实运行中发现并修复的问题（举例）</a:t>
                      </a:r>
                    </a:p>
                  </a:txBody>
                  <a:tcPr>
                    <a:solidFill>
                      <a:srgbClr val="1F2A44"/>
                    </a:solidFill>
                  </a:tcPr>
                </a:tc>
              </a:tr>
              <a:tr h="780000">
                <a:tc>
                  <a:txBody>
                    <a:bodyPr/>
                    <a:lstStyle/>
                    <a:p>
                      <a:r>
                        <a:rPr sz="1300" b="0">
                          <a:solidFill>
                            <a:srgbClr val="1F2A44"/>
                          </a:solidFill>
                          <a:latin typeface="Noto Sans CJK SC"/>
                        </a:rPr>
                        <a:t>2 通信</a:t>
                      </a:r>
                    </a:p>
                  </a:txBody>
                  <a:tcPr>
                    <a:solidFill>
                      <a:srgbClr val="EEF1F5"/>
                    </a:solidFill>
                  </a:tcPr>
                </a:tc>
                <a:tc>
                  <a:txBody>
                    <a:bodyPr/>
                    <a:lstStyle/>
                    <a:p>
                      <a:r>
                        <a:rPr sz="1300" b="0">
                          <a:solidFill>
                            <a:srgbClr val="1F2A44"/>
                          </a:solidFill>
                          <a:latin typeface="Noto Sans CJK SC"/>
                        </a:rPr>
                        <a:t>5 种协作方式 × 2 个模型</a:t>
                      </a:r>
                    </a:p>
                  </a:txBody>
                  <a:tcPr>
                    <a:solidFill>
                      <a:srgbClr val="EEF1F5"/>
                    </a:solidFill>
                  </a:tcPr>
                </a:tc>
                <a:tc>
                  <a:txBody>
                    <a:bodyPr/>
                    <a:lstStyle/>
                    <a:p>
                      <a:r>
                        <a:rPr sz="1300" b="0">
                          <a:solidFill>
                            <a:srgbClr val="1F2A44"/>
                          </a:solidFill>
                          <a:latin typeface="Noto Sans CJK SC"/>
                        </a:rPr>
                        <a:t>flash 全部满分；6 项通信检查通过</a:t>
                      </a:r>
                    </a:p>
                  </a:txBody>
                  <a:tcPr>
                    <a:solidFill>
                      <a:srgbClr val="EEF1F5"/>
                    </a:solidFill>
                  </a:tcPr>
                </a:tc>
                <a:tc>
                  <a:txBody>
                    <a:bodyPr/>
                    <a:lstStyle/>
                    <a:p>
                      <a:r>
                        <a:rPr sz="1300" b="0">
                          <a:solidFill>
                            <a:srgbClr val="1F2A44"/>
                          </a:solidFill>
                          <a:latin typeface="Noto Sans CJK SC"/>
                        </a:rPr>
                        <a:t>过期闹钟导致团队一直不停；两个调度进程同时驱动</a:t>
                      </a:r>
                    </a:p>
                  </a:txBody>
                  <a:tcPr>
                    <a:solidFill>
                      <a:srgbClr val="EEF1F5"/>
                    </a:solidFill>
                  </a:tcPr>
                </a:tc>
              </a:tr>
              <a:tr h="780000">
                <a:tc>
                  <a:txBody>
                    <a:bodyPr/>
                    <a:lstStyle/>
                    <a:p>
                      <a:r>
                        <a:rPr sz="1300" b="0">
                          <a:solidFill>
                            <a:srgbClr val="1F2A44"/>
                          </a:solidFill>
                          <a:latin typeface="Noto Sans CJK SC"/>
                        </a:rPr>
                        <a:t>3 制度</a:t>
                      </a:r>
                    </a:p>
                  </a:txBody>
                  <a:tcPr>
                    <a:solidFill>
                      <a:srgbClr val="FFFFFF"/>
                    </a:solidFill>
                  </a:tcPr>
                </a:tc>
                <a:tc>
                  <a:txBody>
                    <a:bodyPr/>
                    <a:lstStyle/>
                    <a:p>
                      <a:r>
                        <a:rPr sz="1300" b="0">
                          <a:solidFill>
                            <a:srgbClr val="1F2A44"/>
                          </a:solidFill>
                          <a:latin typeface="Noto Sans CJK SC"/>
                        </a:rPr>
                        <a:t>带审核、带修宪的团队</a:t>
                      </a:r>
                    </a:p>
                  </a:txBody>
                  <a:tcPr>
                    <a:solidFill>
                      <a:srgbClr val="FFFFFF"/>
                    </a:solidFill>
                  </a:tcPr>
                </a:tc>
                <a:tc>
                  <a:txBody>
                    <a:bodyPr/>
                    <a:lstStyle/>
                    <a:p>
                      <a:r>
                        <a:rPr sz="1300" b="0">
                          <a:solidFill>
                            <a:srgbClr val="1F2A44"/>
                          </a:solidFill>
                          <a:latin typeface="Noto Sans CJK SC"/>
                        </a:rPr>
                        <a:t>满分；修宪 2 次生效；重放全部一致</a:t>
                      </a:r>
                    </a:p>
                  </a:txBody>
                  <a:tcPr>
                    <a:solidFill>
                      <a:srgbClr val="FFFFFF"/>
                    </a:solidFill>
                  </a:tcPr>
                </a:tc>
                <a:tc>
                  <a:txBody>
                    <a:bodyPr/>
                    <a:lstStyle/>
                    <a:p>
                      <a:r>
                        <a:rPr sz="1300" b="0">
                          <a:solidFill>
                            <a:srgbClr val="1F2A44"/>
                          </a:solidFill>
                          <a:latin typeface="Noto Sans CJK SC"/>
                        </a:rPr>
                        <a:t>批准时没附代码版本导致闸门崩溃</a:t>
                      </a:r>
                    </a:p>
                  </a:txBody>
                  <a:tcPr>
                    <a:solidFill>
                      <a:srgbClr val="FFFFFF"/>
                    </a:solidFill>
                  </a:tcPr>
                </a:tc>
              </a:tr>
              <a:tr h="780000">
                <a:tc>
                  <a:txBody>
                    <a:bodyPr/>
                    <a:lstStyle/>
                    <a:p>
                      <a:r>
                        <a:rPr sz="1300" b="0">
                          <a:solidFill>
                            <a:srgbClr val="1F2A44"/>
                          </a:solidFill>
                          <a:latin typeface="Noto Sans CJK SC"/>
                        </a:rPr>
                        <a:t>4 组织</a:t>
                      </a:r>
                    </a:p>
                  </a:txBody>
                  <a:tcPr>
                    <a:solidFill>
                      <a:srgbClr val="EEF1F5"/>
                    </a:solidFill>
                  </a:tcPr>
                </a:tc>
                <a:tc>
                  <a:txBody>
                    <a:bodyPr/>
                    <a:lstStyle/>
                    <a:p>
                      <a:r>
                        <a:rPr sz="1300" b="0">
                          <a:solidFill>
                            <a:srgbClr val="1F2A44"/>
                          </a:solidFill>
                          <a:latin typeface="Noto Sans CJK SC"/>
                        </a:rPr>
                        <a:t>创始人自建团队 5 次</a:t>
                      </a:r>
                    </a:p>
                  </a:txBody>
                  <a:tcPr>
                    <a:solidFill>
                      <a:srgbClr val="EEF1F5"/>
                    </a:solidFill>
                  </a:tcPr>
                </a:tc>
                <a:tc>
                  <a:txBody>
                    <a:bodyPr/>
                    <a:lstStyle/>
                    <a:p>
                      <a:r>
                        <a:rPr sz="1300" b="0">
                          <a:solidFill>
                            <a:srgbClr val="1F2A44"/>
                          </a:solidFill>
                          <a:latin typeface="Noto Sans CJK SC"/>
                        </a:rPr>
                        <a:t>全部自己达成目标并停止；</a:t>
                      </a:r>
                      <a:r>
                        <a:rPr sz="1300" b="1">
                          <a:solidFill>
                            <a:srgbClr val="C0392B"/>
                          </a:solidFill>
                          <a:latin typeface="Noto Sans CJK SC"/>
                        </a:rPr>
                        <a:t>主动修改规章</a:t>
                      </a:r>
                    </a:p>
                  </a:txBody>
                  <a:tcPr>
                    <a:solidFill>
                      <a:srgbClr val="EEF1F5"/>
                    </a:solidFill>
                  </a:tcPr>
                </a:tc>
                <a:tc>
                  <a:txBody>
                    <a:bodyPr/>
                    <a:lstStyle/>
                    <a:p>
                      <a:r>
                        <a:rPr sz="1300" b="1">
                          <a:solidFill>
                            <a:srgbClr val="C0392B"/>
                          </a:solidFill>
                          <a:latin typeface="Noto Sans CJK SC"/>
                        </a:rPr>
                        <a:t>两份规章修改互相覆盖</a:t>
                      </a:r>
                      <a:r>
                        <a:rPr sz="1300" b="0">
                          <a:solidFill>
                            <a:srgbClr val="1F2A44"/>
                          </a:solidFill>
                          <a:latin typeface="Noto Sans CJK SC"/>
                        </a:rPr>
                        <a:t>（靠重放审计才发现）</a:t>
                      </a:r>
                    </a:p>
                  </a:txBody>
                  <a:tcPr>
                    <a:solidFill>
                      <a:srgbClr val="EEF1F5"/>
                    </a:solidFill>
                  </a:tcPr>
                </a:tc>
              </a:tr>
            </a:tbl>
          </a:graphicData>
        </a:graphic>
      </p:graphicFrame>
      <p:sp>
        <p:nvSpPr>
          <p:cNvPr id="6" name="TextBox 5"/>
          <p:cNvSpPr txBox="1"/>
          <p:nvPr/>
        </p:nvSpPr>
        <p:spPr>
          <a:xfrm>
            <a:off x="500000" y="4700000"/>
            <a:ext cx="11192000" cy="500000"/>
          </a:xfrm>
          <a:prstGeom prst="rect">
            <a:avLst/>
          </a:prstGeom>
          <a:noFill/>
        </p:spPr>
        <p:txBody>
          <a:bodyPr wrap="square">
            <a:spAutoFit/>
          </a:bodyPr>
          <a:lstStyle/>
          <a:p>
            <a:r>
              <a:rPr sz="1500" b="0">
                <a:solidFill>
                  <a:srgbClr val="555F6D"/>
                </a:solidFill>
                <a:latin typeface="Noto Sans CJK SC"/>
              </a:rPr>
              <a:t>局限：这个任务太简单，所有协作方式都满分 → 比较协作模式需要更难的任务，推迟到后面。</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20000"/>
            <a:ext cx="11192000" cy="700000"/>
          </a:xfrm>
          <a:prstGeom prst="rect">
            <a:avLst/>
          </a:prstGeom>
          <a:noFill/>
        </p:spPr>
        <p:txBody>
          <a:bodyPr wrap="none">
            <a:spAutoFit/>
          </a:bodyPr>
          <a:lstStyle/>
          <a:p>
            <a:r>
              <a:rPr sz="2800" b="1">
                <a:solidFill>
                  <a:srgbClr val="1F2A44"/>
                </a:solidFill>
                <a:latin typeface="Noto Sans CJK SC"/>
              </a:rPr>
              <a:t>四、实验 X-inst：给团队加审核手续，质量没有提高</a:t>
            </a:r>
          </a:p>
          <a:p>
            <a:r>
              <a:rPr sz="1400" b="0">
                <a:solidFill>
                  <a:srgbClr val="555F6D"/>
                </a:solidFill>
                <a:latin typeface="Noto Sans CJK SC"/>
              </a:rPr>
              <a:t>6 个真实开源库重写任务 × 5 种规章 × 3 次 = 90 次运行</a:t>
            </a:r>
          </a:p>
        </p:txBody>
      </p:sp>
      <p:sp>
        <p:nvSpPr>
          <p:cNvPr id="4" name="TextBox 3"/>
          <p:cNvSpPr txBox="1"/>
          <p:nvPr/>
        </p:nvSpPr>
        <p:spPr>
          <a:xfrm>
            <a:off x="10692000" y="6408000"/>
            <a:ext cx="1200000" cy="300000"/>
          </a:xfrm>
          <a:prstGeom prst="rect">
            <a:avLst/>
          </a:prstGeom>
          <a:noFill/>
        </p:spPr>
        <p:txBody>
          <a:bodyPr wrap="none">
            <a:spAutoFit/>
          </a:bodyPr>
          <a:lstStyle/>
          <a:p>
            <a:r>
              <a:rPr sz="1000" b="0">
                <a:solidFill>
                  <a:srgbClr val="555F6D"/>
                </a:solidFill>
                <a:latin typeface="Noto Sans CJK SC"/>
              </a:rPr>
              <a:t>SciTeam · 14</a:t>
            </a:r>
          </a:p>
        </p:txBody>
      </p:sp>
      <p:graphicFrame>
        <p:nvGraphicFramePr>
          <p:cNvPr id="5" name="Table 4"/>
          <p:cNvGraphicFramePr>
            <a:graphicFrameLocks noGrp="1"/>
          </p:cNvGraphicFramePr>
          <p:nvPr/>
        </p:nvGraphicFramePr>
        <p:xfrm>
          <a:off x="500000" y="1300000"/>
          <a:ext cx="11191999" cy="2150000"/>
        </p:xfrm>
        <a:graphic>
          <a:graphicData uri="http://schemas.openxmlformats.org/drawingml/2006/table">
            <a:tbl>
              <a:tblPr firstRow="1" bandRow="1">
                <a:tableStyleId>{5C22544A-7EE6-4342-B048-85BDC9FD1C3A}</a:tableStyleId>
              </a:tblPr>
              <a:tblGrid>
                <a:gridCol w="4069818"/>
                <a:gridCol w="2034909"/>
                <a:gridCol w="5087272"/>
              </a:tblGrid>
              <a:tr h="430000">
                <a:tc>
                  <a:txBody>
                    <a:bodyPr/>
                    <a:lstStyle/>
                    <a:p>
                      <a:r>
                        <a:rPr sz="1500" b="1">
                          <a:solidFill>
                            <a:srgbClr val="FFFFFF"/>
                          </a:solidFill>
                          <a:latin typeface="Noto Sans CJK SC"/>
                        </a:rPr>
                        <a:t>与标准版相比，改了什么</a:t>
                      </a:r>
                    </a:p>
                  </a:txBody>
                  <a:tcPr>
                    <a:solidFill>
                      <a:srgbClr val="1F2A44"/>
                    </a:solidFill>
                  </a:tcPr>
                </a:tc>
                <a:tc>
                  <a:txBody>
                    <a:bodyPr/>
                    <a:lstStyle/>
                    <a:p>
                      <a:r>
                        <a:rPr sz="1500" b="1">
                          <a:solidFill>
                            <a:srgbClr val="FFFFFF"/>
                          </a:solidFill>
                          <a:latin typeface="Noto Sans CJK SC"/>
                        </a:rPr>
                        <a:t>分数差</a:t>
                      </a:r>
                    </a:p>
                  </a:txBody>
                  <a:tcPr>
                    <a:solidFill>
                      <a:srgbClr val="1F2A44"/>
                    </a:solidFill>
                  </a:tcPr>
                </a:tc>
                <a:tc>
                  <a:txBody>
                    <a:bodyPr/>
                    <a:lstStyle/>
                    <a:p>
                      <a:r>
                        <a:rPr sz="1500" b="1">
                          <a:solidFill>
                            <a:srgbClr val="FFFFFF"/>
                          </a:solidFill>
                          <a:latin typeface="Noto Sans CJK SC"/>
                        </a:rPr>
                        <a:t>95% 置信区间（真实差异大概率落在此范围）</a:t>
                      </a:r>
                    </a:p>
                  </a:txBody>
                  <a:tcPr>
                    <a:solidFill>
                      <a:srgbClr val="1F2A44"/>
                    </a:solidFill>
                  </a:tcPr>
                </a:tc>
              </a:tr>
              <a:tr h="430000">
                <a:tc>
                  <a:txBody>
                    <a:bodyPr/>
                    <a:lstStyle/>
                    <a:p>
                      <a:r>
                        <a:rPr sz="1500" b="0">
                          <a:solidFill>
                            <a:srgbClr val="1F2A44"/>
                          </a:solidFill>
                          <a:latin typeface="Noto Sans CJK SC"/>
                        </a:rPr>
                        <a:t>去掉强制测试</a:t>
                      </a:r>
                    </a:p>
                  </a:txBody>
                  <a:tcPr>
                    <a:solidFill>
                      <a:srgbClr val="EEF1F5"/>
                    </a:solidFill>
                  </a:tcPr>
                </a:tc>
                <a:tc>
                  <a:txBody>
                    <a:bodyPr/>
                    <a:lstStyle/>
                    <a:p>
                      <a:r>
                        <a:rPr sz="1500" b="0">
                          <a:solidFill>
                            <a:srgbClr val="1F2A44"/>
                          </a:solidFill>
                          <a:latin typeface="Noto Sans CJK SC"/>
                        </a:rPr>
                        <a:t>0.000</a:t>
                      </a:r>
                    </a:p>
                  </a:txBody>
                  <a:tcPr>
                    <a:solidFill>
                      <a:srgbClr val="EEF1F5"/>
                    </a:solidFill>
                  </a:tcPr>
                </a:tc>
                <a:tc>
                  <a:txBody>
                    <a:bodyPr/>
                    <a:lstStyle/>
                    <a:p>
                      <a:r>
                        <a:rPr sz="1500" b="0">
                          <a:solidFill>
                            <a:srgbClr val="1F2A44"/>
                          </a:solidFill>
                          <a:latin typeface="Noto Sans CJK SC"/>
                        </a:rPr>
                        <a:t>[−0.027, 0.033]</a:t>
                      </a:r>
                    </a:p>
                  </a:txBody>
                  <a:tcPr>
                    <a:solidFill>
                      <a:srgbClr val="EEF1F5"/>
                    </a:solidFill>
                  </a:tcPr>
                </a:tc>
              </a:tr>
              <a:tr h="430000">
                <a:tc>
                  <a:txBody>
                    <a:bodyPr/>
                    <a:lstStyle/>
                    <a:p>
                      <a:r>
                        <a:rPr sz="1500" b="0">
                          <a:solidFill>
                            <a:srgbClr val="1F2A44"/>
                          </a:solidFill>
                          <a:latin typeface="Noto Sans CJK SC"/>
                        </a:rPr>
                        <a:t>实现者自己批准自己</a:t>
                      </a:r>
                    </a:p>
                  </a:txBody>
                  <a:tcPr>
                    <a:solidFill>
                      <a:srgbClr val="FFFFFF"/>
                    </a:solidFill>
                  </a:tcPr>
                </a:tc>
                <a:tc>
                  <a:txBody>
                    <a:bodyPr/>
                    <a:lstStyle/>
                    <a:p>
                      <a:r>
                        <a:rPr sz="1500" b="0">
                          <a:solidFill>
                            <a:srgbClr val="1F2A44"/>
                          </a:solidFill>
                          <a:latin typeface="Noto Sans CJK SC"/>
                        </a:rPr>
                        <a:t>+0.011</a:t>
                      </a:r>
                    </a:p>
                  </a:txBody>
                  <a:tcPr>
                    <a:solidFill>
                      <a:srgbClr val="FFFFFF"/>
                    </a:solidFill>
                  </a:tcPr>
                </a:tc>
                <a:tc>
                  <a:txBody>
                    <a:bodyPr/>
                    <a:lstStyle/>
                    <a:p>
                      <a:r>
                        <a:rPr sz="1500" b="0">
                          <a:solidFill>
                            <a:srgbClr val="1F2A44"/>
                          </a:solidFill>
                          <a:latin typeface="Noto Sans CJK SC"/>
                        </a:rPr>
                        <a:t>[−0.027, 0.061]</a:t>
                      </a:r>
                    </a:p>
                  </a:txBody>
                  <a:tcPr>
                    <a:solidFill>
                      <a:srgbClr val="FFFFFF"/>
                    </a:solidFill>
                  </a:tcPr>
                </a:tc>
              </a:tr>
              <a:tr h="430000">
                <a:tc>
                  <a:txBody>
                    <a:bodyPr/>
                    <a:lstStyle/>
                    <a:p>
                      <a:r>
                        <a:rPr sz="1500" b="0">
                          <a:solidFill>
                            <a:srgbClr val="1F2A44"/>
                          </a:solidFill>
                          <a:latin typeface="Noto Sans CJK SC"/>
                        </a:rPr>
                        <a:t>禁止审核员退回返工</a:t>
                      </a:r>
                    </a:p>
                  </a:txBody>
                  <a:tcPr>
                    <a:solidFill>
                      <a:srgbClr val="EEF1F5"/>
                    </a:solidFill>
                  </a:tcPr>
                </a:tc>
                <a:tc>
                  <a:txBody>
                    <a:bodyPr/>
                    <a:lstStyle/>
                    <a:p>
                      <a:r>
                        <a:rPr sz="1500" b="0">
                          <a:solidFill>
                            <a:srgbClr val="1F2A44"/>
                          </a:solidFill>
                          <a:latin typeface="Noto Sans CJK SC"/>
                        </a:rPr>
                        <a:t>+0.013</a:t>
                      </a:r>
                    </a:p>
                  </a:txBody>
                  <a:tcPr>
                    <a:solidFill>
                      <a:srgbClr val="EEF1F5"/>
                    </a:solidFill>
                  </a:tcPr>
                </a:tc>
                <a:tc>
                  <a:txBody>
                    <a:bodyPr/>
                    <a:lstStyle/>
                    <a:p>
                      <a:r>
                        <a:rPr sz="1500" b="0">
                          <a:solidFill>
                            <a:srgbClr val="1F2A44"/>
                          </a:solidFill>
                          <a:latin typeface="Noto Sans CJK SC"/>
                        </a:rPr>
                        <a:t>[−0.023, 0.053]</a:t>
                      </a:r>
                    </a:p>
                  </a:txBody>
                  <a:tcPr>
                    <a:solidFill>
                      <a:srgbClr val="EEF1F5"/>
                    </a:solidFill>
                  </a:tcPr>
                </a:tc>
              </a:tr>
              <a:tr h="430000">
                <a:tc>
                  <a:txBody>
                    <a:bodyPr/>
                    <a:lstStyle/>
                    <a:p>
                      <a:r>
                        <a:rPr sz="1500" b="0">
                          <a:solidFill>
                            <a:srgbClr val="1F2A44"/>
                          </a:solidFill>
                          <a:latin typeface="Noto Sans CJK SC"/>
                        </a:rPr>
                        <a:t>两名审核员都同意才通过</a:t>
                      </a:r>
                    </a:p>
                  </a:txBody>
                  <a:tcPr>
                    <a:solidFill>
                      <a:srgbClr val="FFFFFF"/>
                    </a:solidFill>
                  </a:tcPr>
                </a:tc>
                <a:tc>
                  <a:txBody>
                    <a:bodyPr/>
                    <a:lstStyle/>
                    <a:p>
                      <a:r>
                        <a:rPr sz="1500" b="0">
                          <a:solidFill>
                            <a:srgbClr val="1F2A44"/>
                          </a:solidFill>
                          <a:latin typeface="Noto Sans CJK SC"/>
                        </a:rPr>
                        <a:t>+0.023</a:t>
                      </a:r>
                    </a:p>
                  </a:txBody>
                  <a:tcPr>
                    <a:solidFill>
                      <a:srgbClr val="FFFFFF"/>
                    </a:solidFill>
                  </a:tcPr>
                </a:tc>
                <a:tc>
                  <a:txBody>
                    <a:bodyPr/>
                    <a:lstStyle/>
                    <a:p>
                      <a:r>
                        <a:rPr sz="1500" b="0">
                          <a:solidFill>
                            <a:srgbClr val="1F2A44"/>
                          </a:solidFill>
                          <a:latin typeface="Noto Sans CJK SC"/>
                        </a:rPr>
                        <a:t>[−0.010, 0.071]</a:t>
                      </a:r>
                    </a:p>
                  </a:txBody>
                  <a:tcPr>
                    <a:solidFill>
                      <a:srgbClr val="FFFFFF"/>
                    </a:solidFill>
                  </a:tcPr>
                </a:tc>
              </a:tr>
            </a:tbl>
          </a:graphicData>
        </a:graphic>
      </p:graphicFrame>
      <p:sp>
        <p:nvSpPr>
          <p:cNvPr id="6" name="TextBox 5"/>
          <p:cNvSpPr txBox="1"/>
          <p:nvPr/>
        </p:nvSpPr>
        <p:spPr>
          <a:xfrm>
            <a:off x="500000" y="3600000"/>
            <a:ext cx="11192000" cy="5058000"/>
          </a:xfrm>
          <a:prstGeom prst="rect">
            <a:avLst/>
          </a:prstGeom>
          <a:noFill/>
        </p:spPr>
        <p:txBody>
          <a:bodyPr wrap="square">
            <a:spAutoFit/>
          </a:bodyPr>
          <a:lstStyle/>
          <a:p>
            <a:pPr>
              <a:spcAft>
                <a:spcPts val="600"/>
              </a:spcAft>
            </a:pPr>
            <a:r>
              <a:rPr sz="1500" b="0">
                <a:solidFill>
                  <a:srgbClr val="555F6D"/>
                </a:solidFill>
                <a:latin typeface="Noto Sans CJK SC"/>
              </a:rPr>
              <a:t>• </a:t>
            </a:r>
            <a:r>
              <a:rPr sz="1500" b="0">
                <a:solidFill>
                  <a:srgbClr val="1F2A44"/>
                </a:solidFill>
                <a:latin typeface="Noto Sans CJK SC"/>
              </a:rPr>
              <a:t>审核员确实在工作（双审核员那组退回了 24 次），但</a:t>
            </a:r>
            <a:r>
              <a:rPr sz="1500" b="1">
                <a:solidFill>
                  <a:srgbClr val="C0392B"/>
                </a:solidFill>
                <a:latin typeface="Noto Sans CJK SC"/>
              </a:rPr>
              <a:t>最终分数纹丝不动</a:t>
            </a:r>
          </a:p>
          <a:p>
            <a:pPr>
              <a:spcAft>
                <a:spcPts val="600"/>
              </a:spcAft>
            </a:pPr>
            <a:r>
              <a:rPr sz="1500" b="0">
                <a:solidFill>
                  <a:srgbClr val="555F6D"/>
                </a:solidFill>
                <a:latin typeface="Noto Sans CJK SC"/>
              </a:rPr>
              <a:t>• </a:t>
            </a:r>
            <a:r>
              <a:rPr sz="1500" b="0">
                <a:solidFill>
                  <a:srgbClr val="1F2A44"/>
                </a:solidFill>
                <a:latin typeface="Noto Sans CJK SC"/>
              </a:rPr>
              <a:t>90 次运行</a:t>
            </a:r>
            <a:r>
              <a:rPr sz="1500" b="1">
                <a:solidFill>
                  <a:srgbClr val="C0392B"/>
                </a:solidFill>
                <a:latin typeface="Noto Sans CJK SC"/>
              </a:rPr>
              <a:t>全部</a:t>
            </a:r>
            <a:r>
              <a:rPr sz="1500" b="0">
                <a:solidFill>
                  <a:srgbClr val="1F2A44"/>
                </a:solidFill>
                <a:latin typeface="Noto Sans CJK SC"/>
              </a:rPr>
              <a:t>被批准为「完成」，却</a:t>
            </a:r>
            <a:r>
              <a:rPr sz="1500" b="1">
                <a:solidFill>
                  <a:srgbClr val="C0392B"/>
                </a:solidFill>
                <a:latin typeface="Noto Sans CJK SC"/>
              </a:rPr>
              <a:t>没有一次</a:t>
            </a:r>
            <a:r>
              <a:rPr sz="1500" b="0">
                <a:solidFill>
                  <a:srgbClr val="1F2A44"/>
                </a:solidFill>
                <a:latin typeface="Noto Sans CJK SC"/>
              </a:rPr>
              <a:t>真正通过全部隐藏测试 —— 审核成了橡皮图章</a:t>
            </a:r>
          </a:p>
          <a:p>
            <a:pPr>
              <a:spcAft>
                <a:spcPts val="600"/>
              </a:spcAft>
            </a:pPr>
            <a:r>
              <a:rPr sz="1500" b="0">
                <a:solidFill>
                  <a:srgbClr val="555F6D"/>
                </a:solidFill>
                <a:latin typeface="Noto Sans CJK SC"/>
              </a:rPr>
              <a:t>• </a:t>
            </a:r>
            <a:r>
              <a:rPr sz="1500" b="0">
                <a:solidFill>
                  <a:srgbClr val="1F2A44"/>
                </a:solidFill>
                <a:latin typeface="Noto Sans CJK SC"/>
              </a:rPr>
              <a:t>典型例子：团队自写测试 222 个全过，官方隐藏测试只过 23/38 —— </a:t>
            </a:r>
            <a:r>
              <a:rPr sz="1500" b="1">
                <a:solidFill>
                  <a:srgbClr val="C0392B"/>
                </a:solidFill>
                <a:latin typeface="Noto Sans CJK SC"/>
              </a:rPr>
              <a:t>审核员看的和作者看的是同一批测试</a:t>
            </a:r>
          </a:p>
          <a:p>
            <a:pPr>
              <a:spcAft>
                <a:spcPts val="600"/>
              </a:spcAft>
            </a:pPr>
            <a:r>
              <a:rPr sz="1500" b="0">
                <a:solidFill>
                  <a:srgbClr val="555F6D"/>
                </a:solidFill>
                <a:latin typeface="Noto Sans CJK SC"/>
              </a:rPr>
              <a:t>• </a:t>
            </a:r>
            <a:r>
              <a:rPr sz="1500" b="0">
                <a:solidFill>
                  <a:srgbClr val="1F2A44"/>
                </a:solidFill>
                <a:latin typeface="Noto Sans CJK SC"/>
              </a:rPr>
              <a:t>结论：关键不是「有没有审核流程」，而是「审核员有没有</a:t>
            </a:r>
            <a:r>
              <a:rPr sz="1500" b="1">
                <a:solidFill>
                  <a:srgbClr val="C0392B"/>
                </a:solidFill>
                <a:latin typeface="Noto Sans CJK SC"/>
              </a:rPr>
              <a:t>独立的信息来源</a:t>
            </a:r>
            <a:r>
              <a:rPr sz="1500" b="0">
                <a:solidFill>
                  <a:srgbClr val="1F2A44"/>
                </a:solidFill>
                <a:latin typeface="Noto Sans CJK SC"/>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20000"/>
            <a:ext cx="11192000" cy="700000"/>
          </a:xfrm>
          <a:prstGeom prst="rect">
            <a:avLst/>
          </a:prstGeom>
          <a:noFill/>
        </p:spPr>
        <p:txBody>
          <a:bodyPr wrap="none">
            <a:spAutoFit/>
          </a:bodyPr>
          <a:lstStyle/>
          <a:p>
            <a:r>
              <a:rPr sz="2800" b="1">
                <a:solidFill>
                  <a:srgbClr val="1F2A44"/>
                </a:solidFill>
                <a:latin typeface="Noto Sans CJK SC"/>
              </a:rPr>
              <a:t>四、实验 X-inst-confirm：给审核员一份作者看不到的测试题</a:t>
            </a:r>
          </a:p>
          <a:p>
            <a:r>
              <a:rPr sz="1400" b="0">
                <a:solidFill>
                  <a:srgbClr val="555F6D"/>
                </a:solidFill>
                <a:latin typeface="Noto Sans CJK SC"/>
              </a:rPr>
              <a:t>SciCode 科学计算题 24 道 × 3 种规章 × 8 次 = 576 次运行</a:t>
            </a:r>
          </a:p>
        </p:txBody>
      </p:sp>
      <p:sp>
        <p:nvSpPr>
          <p:cNvPr id="4" name="TextBox 3"/>
          <p:cNvSpPr txBox="1"/>
          <p:nvPr/>
        </p:nvSpPr>
        <p:spPr>
          <a:xfrm>
            <a:off x="10692000" y="6408000"/>
            <a:ext cx="1200000" cy="300000"/>
          </a:xfrm>
          <a:prstGeom prst="rect">
            <a:avLst/>
          </a:prstGeom>
          <a:noFill/>
        </p:spPr>
        <p:txBody>
          <a:bodyPr wrap="none">
            <a:spAutoFit/>
          </a:bodyPr>
          <a:lstStyle/>
          <a:p>
            <a:r>
              <a:rPr sz="1000" b="0">
                <a:solidFill>
                  <a:srgbClr val="555F6D"/>
                </a:solidFill>
                <a:latin typeface="Noto Sans CJK SC"/>
              </a:rPr>
              <a:t>SciTeam · 15</a:t>
            </a:r>
          </a:p>
        </p:txBody>
      </p:sp>
      <p:graphicFrame>
        <p:nvGraphicFramePr>
          <p:cNvPr id="5" name="Table 4"/>
          <p:cNvGraphicFramePr>
            <a:graphicFrameLocks noGrp="1"/>
          </p:cNvGraphicFramePr>
          <p:nvPr/>
        </p:nvGraphicFramePr>
        <p:xfrm>
          <a:off x="500000" y="1300000"/>
          <a:ext cx="11191999" cy="1920000"/>
        </p:xfrm>
        <a:graphic>
          <a:graphicData uri="http://schemas.openxmlformats.org/drawingml/2006/table">
            <a:tbl>
              <a:tblPr firstRow="1" bandRow="1">
                <a:tableStyleId>{5C22544A-7EE6-4342-B048-85BDC9FD1C3A}</a:tableStyleId>
              </a:tblPr>
              <a:tblGrid>
                <a:gridCol w="4809062"/>
                <a:gridCol w="1573875"/>
                <a:gridCol w="2623125"/>
                <a:gridCol w="2185937"/>
              </a:tblGrid>
              <a:tr h="480000">
                <a:tc>
                  <a:txBody>
                    <a:bodyPr/>
                    <a:lstStyle/>
                    <a:p>
                      <a:r>
                        <a:rPr sz="1400" b="1">
                          <a:solidFill>
                            <a:srgbClr val="FFFFFF"/>
                          </a:solidFill>
                          <a:latin typeface="Noto Sans CJK SC"/>
                        </a:rPr>
                        <a:t>规章</a:t>
                      </a:r>
                    </a:p>
                  </a:txBody>
                  <a:tcPr>
                    <a:solidFill>
                      <a:srgbClr val="1F2A44"/>
                    </a:solidFill>
                  </a:tcPr>
                </a:tc>
                <a:tc>
                  <a:txBody>
                    <a:bodyPr/>
                    <a:lstStyle/>
                    <a:p>
                      <a:r>
                        <a:rPr sz="1400" b="1">
                          <a:solidFill>
                            <a:srgbClr val="FFFFFF"/>
                          </a:solidFill>
                          <a:latin typeface="Noto Sans CJK SC"/>
                        </a:rPr>
                        <a:t>平均分</a:t>
                      </a:r>
                    </a:p>
                  </a:txBody>
                  <a:tcPr>
                    <a:solidFill>
                      <a:srgbClr val="1F2A44"/>
                    </a:solidFill>
                  </a:tcPr>
                </a:tc>
                <a:tc>
                  <a:txBody>
                    <a:bodyPr/>
                    <a:lstStyle/>
                    <a:p>
                      <a:r>
                        <a:rPr sz="1400" b="1">
                          <a:solidFill>
                            <a:srgbClr val="FFFFFF"/>
                          </a:solidFill>
                          <a:latin typeface="Noto Sans CJK SC"/>
                        </a:rPr>
                        <a:t>说完成但其实错了（次）</a:t>
                      </a:r>
                    </a:p>
                  </a:txBody>
                  <a:tcPr>
                    <a:solidFill>
                      <a:srgbClr val="1F2A44"/>
                    </a:solidFill>
                  </a:tcPr>
                </a:tc>
                <a:tc>
                  <a:txBody>
                    <a:bodyPr/>
                    <a:lstStyle/>
                    <a:p>
                      <a:r>
                        <a:rPr sz="1400" b="1">
                          <a:solidFill>
                            <a:srgbClr val="FFFFFF"/>
                          </a:solidFill>
                          <a:latin typeface="Noto Sans CJK SC"/>
                        </a:rPr>
                        <a:t>撞时间保险丝（次）</a:t>
                      </a:r>
                    </a:p>
                  </a:txBody>
                  <a:tcPr>
                    <a:solidFill>
                      <a:srgbClr val="1F2A44"/>
                    </a:solidFill>
                  </a:tcPr>
                </a:tc>
              </a:tr>
              <a:tr h="480000">
                <a:tc>
                  <a:txBody>
                    <a:bodyPr/>
                    <a:lstStyle/>
                    <a:p>
                      <a:r>
                        <a:rPr sz="1400" b="0">
                          <a:solidFill>
                            <a:srgbClr val="1F2A44"/>
                          </a:solidFill>
                          <a:latin typeface="Noto Sans CJK SC"/>
                        </a:rPr>
                        <a:t>同证据审核（审核员看同样的测试）</a:t>
                      </a:r>
                    </a:p>
                  </a:txBody>
                  <a:tcPr>
                    <a:solidFill>
                      <a:srgbClr val="EEF1F5"/>
                    </a:solidFill>
                  </a:tcPr>
                </a:tc>
                <a:tc>
                  <a:txBody>
                    <a:bodyPr/>
                    <a:lstStyle/>
                    <a:p>
                      <a:r>
                        <a:rPr sz="1400" b="0">
                          <a:solidFill>
                            <a:srgbClr val="1F2A44"/>
                          </a:solidFill>
                          <a:latin typeface="Noto Sans CJK SC"/>
                        </a:rPr>
                        <a:t>0.584</a:t>
                      </a:r>
                    </a:p>
                  </a:txBody>
                  <a:tcPr>
                    <a:solidFill>
                      <a:srgbClr val="EEF1F5"/>
                    </a:solidFill>
                  </a:tcPr>
                </a:tc>
                <a:tc>
                  <a:txBody>
                    <a:bodyPr/>
                    <a:lstStyle/>
                    <a:p>
                      <a:r>
                        <a:rPr sz="1400" b="0">
                          <a:solidFill>
                            <a:srgbClr val="1F2A44"/>
                          </a:solidFill>
                          <a:latin typeface="Noto Sans CJK SC"/>
                        </a:rPr>
                        <a:t>143</a:t>
                      </a:r>
                    </a:p>
                  </a:txBody>
                  <a:tcPr>
                    <a:solidFill>
                      <a:srgbClr val="EEF1F5"/>
                    </a:solidFill>
                  </a:tcPr>
                </a:tc>
                <a:tc>
                  <a:txBody>
                    <a:bodyPr/>
                    <a:lstStyle/>
                    <a:p>
                      <a:r>
                        <a:rPr sz="1400" b="0">
                          <a:solidFill>
                            <a:srgbClr val="1F2A44"/>
                          </a:solidFill>
                          <a:latin typeface="Noto Sans CJK SC"/>
                        </a:rPr>
                        <a:t>1</a:t>
                      </a:r>
                    </a:p>
                  </a:txBody>
                  <a:tcPr>
                    <a:solidFill>
                      <a:srgbClr val="EEF1F5"/>
                    </a:solidFill>
                  </a:tcPr>
                </a:tc>
              </a:tr>
              <a:tr h="480000">
                <a:tc>
                  <a:txBody>
                    <a:bodyPr/>
                    <a:lstStyle/>
                    <a:p>
                      <a:r>
                        <a:rPr sz="1400" b="1">
                          <a:solidFill>
                            <a:srgbClr val="C0392B"/>
                          </a:solidFill>
                          <a:latin typeface="Noto Sans CJK SC"/>
                        </a:rPr>
                        <a:t>独立证据</a:t>
                      </a:r>
                      <a:r>
                        <a:rPr sz="1400" b="0">
                          <a:solidFill>
                            <a:srgbClr val="1F2A44"/>
                          </a:solidFill>
                          <a:latin typeface="Noto Sans CJK SC"/>
                        </a:rPr>
                        <a:t>（审核员有作者看不到的测试）</a:t>
                      </a:r>
                    </a:p>
                  </a:txBody>
                  <a:tcPr>
                    <a:solidFill>
                      <a:srgbClr val="FFFFFF"/>
                    </a:solidFill>
                  </a:tcPr>
                </a:tc>
                <a:tc>
                  <a:txBody>
                    <a:bodyPr/>
                    <a:lstStyle/>
                    <a:p>
                      <a:r>
                        <a:rPr sz="1400" b="1">
                          <a:solidFill>
                            <a:srgbClr val="C0392B"/>
                          </a:solidFill>
                          <a:latin typeface="Noto Sans CJK SC"/>
                        </a:rPr>
                        <a:t>0.704</a:t>
                      </a:r>
                    </a:p>
                  </a:txBody>
                  <a:tcPr>
                    <a:solidFill>
                      <a:srgbClr val="FFFFFF"/>
                    </a:solidFill>
                  </a:tcPr>
                </a:tc>
                <a:tc>
                  <a:txBody>
                    <a:bodyPr/>
                    <a:lstStyle/>
                    <a:p>
                      <a:r>
                        <a:rPr sz="1400" b="1">
                          <a:solidFill>
                            <a:srgbClr val="C0392B"/>
                          </a:solidFill>
                          <a:latin typeface="Noto Sans CJK SC"/>
                        </a:rPr>
                        <a:t>27</a:t>
                      </a:r>
                    </a:p>
                  </a:txBody>
                  <a:tcPr>
                    <a:solidFill>
                      <a:srgbClr val="FFFFFF"/>
                    </a:solidFill>
                  </a:tcPr>
                </a:tc>
                <a:tc>
                  <a:txBody>
                    <a:bodyPr/>
                    <a:lstStyle/>
                    <a:p>
                      <a:r>
                        <a:rPr sz="1400" b="1">
                          <a:solidFill>
                            <a:srgbClr val="C0392B"/>
                          </a:solidFill>
                          <a:latin typeface="Noto Sans CJK SC"/>
                        </a:rPr>
                        <a:t>75（39%）</a:t>
                      </a:r>
                    </a:p>
                  </a:txBody>
                  <a:tcPr>
                    <a:solidFill>
                      <a:srgbClr val="FFFFFF"/>
                    </a:solidFill>
                  </a:tcPr>
                </a:tc>
              </a:tr>
              <a:tr h="480000">
                <a:tc>
                  <a:txBody>
                    <a:bodyPr/>
                    <a:lstStyle/>
                    <a:p>
                      <a:r>
                        <a:rPr sz="1400" b="0">
                          <a:solidFill>
                            <a:srgbClr val="1F2A44"/>
                          </a:solidFill>
                          <a:latin typeface="Noto Sans CJK SC"/>
                        </a:rPr>
                        <a:t>安慰剂（只返工，不给对错信息）</a:t>
                      </a:r>
                    </a:p>
                  </a:txBody>
                  <a:tcPr>
                    <a:solidFill>
                      <a:srgbClr val="EEF1F5"/>
                    </a:solidFill>
                  </a:tcPr>
                </a:tc>
                <a:tc>
                  <a:txBody>
                    <a:bodyPr/>
                    <a:lstStyle/>
                    <a:p>
                      <a:r>
                        <a:rPr sz="1400" b="0">
                          <a:solidFill>
                            <a:srgbClr val="1F2A44"/>
                          </a:solidFill>
                          <a:latin typeface="Noto Sans CJK SC"/>
                        </a:rPr>
                        <a:t>0.548</a:t>
                      </a:r>
                    </a:p>
                  </a:txBody>
                  <a:tcPr>
                    <a:solidFill>
                      <a:srgbClr val="EEF1F5"/>
                    </a:solidFill>
                  </a:tcPr>
                </a:tc>
                <a:tc>
                  <a:txBody>
                    <a:bodyPr/>
                    <a:lstStyle/>
                    <a:p>
                      <a:r>
                        <a:rPr sz="1400" b="0">
                          <a:solidFill>
                            <a:srgbClr val="1F2A44"/>
                          </a:solidFill>
                          <a:latin typeface="Noto Sans CJK SC"/>
                        </a:rPr>
                        <a:t>133</a:t>
                      </a:r>
                    </a:p>
                  </a:txBody>
                  <a:tcPr>
                    <a:solidFill>
                      <a:srgbClr val="EEF1F5"/>
                    </a:solidFill>
                  </a:tcPr>
                </a:tc>
                <a:tc>
                  <a:txBody>
                    <a:bodyPr/>
                    <a:lstStyle/>
                    <a:p>
                      <a:r>
                        <a:rPr sz="1400" b="0">
                          <a:solidFill>
                            <a:srgbClr val="1F2A44"/>
                          </a:solidFill>
                          <a:latin typeface="Noto Sans CJK SC"/>
                        </a:rPr>
                        <a:t>8</a:t>
                      </a:r>
                    </a:p>
                  </a:txBody>
                  <a:tcPr>
                    <a:solidFill>
                      <a:srgbClr val="EEF1F5"/>
                    </a:solidFill>
                  </a:tcPr>
                </a:tc>
              </a:tr>
            </a:tbl>
          </a:graphicData>
        </a:graphic>
      </p:graphicFrame>
      <p:sp>
        <p:nvSpPr>
          <p:cNvPr id="6" name="TextBox 5"/>
          <p:cNvSpPr txBox="1"/>
          <p:nvPr/>
        </p:nvSpPr>
        <p:spPr>
          <a:xfrm>
            <a:off x="500000" y="3400000"/>
            <a:ext cx="11192000" cy="5058000"/>
          </a:xfrm>
          <a:prstGeom prst="rect">
            <a:avLst/>
          </a:prstGeom>
          <a:noFill/>
        </p:spPr>
        <p:txBody>
          <a:bodyPr wrap="square">
            <a:spAutoFit/>
          </a:bodyPr>
          <a:lstStyle/>
          <a:p>
            <a:pPr>
              <a:spcAft>
                <a:spcPts val="600"/>
              </a:spcAft>
            </a:pPr>
            <a:r>
              <a:rPr sz="1500" b="0">
                <a:solidFill>
                  <a:srgbClr val="555F6D"/>
                </a:solidFill>
                <a:latin typeface="Noto Sans CJK SC"/>
              </a:rPr>
              <a:t>• </a:t>
            </a:r>
            <a:r>
              <a:rPr sz="1500" b="0">
                <a:solidFill>
                  <a:srgbClr val="1F2A44"/>
                </a:solidFill>
                <a:latin typeface="Noto Sans CJK SC"/>
              </a:rPr>
              <a:t>团队说「完成了」的任务中，真正全对的比例：</a:t>
            </a:r>
            <a:r>
              <a:rPr sz="1500" b="1">
                <a:solidFill>
                  <a:srgbClr val="C0392B"/>
                </a:solidFill>
                <a:latin typeface="Noto Sans CJK SC"/>
              </a:rPr>
              <a:t>8.3% → 92.6%</a:t>
            </a:r>
          </a:p>
          <a:p>
            <a:pPr>
              <a:spcAft>
                <a:spcPts val="600"/>
              </a:spcAft>
            </a:pPr>
            <a:r>
              <a:rPr sz="1500" b="0">
                <a:solidFill>
                  <a:srgbClr val="555F6D"/>
                </a:solidFill>
                <a:latin typeface="Noto Sans CJK SC"/>
              </a:rPr>
              <a:t>• </a:t>
            </a:r>
            <a:r>
              <a:rPr sz="1500" b="0">
                <a:solidFill>
                  <a:srgbClr val="1F2A44"/>
                </a:solidFill>
                <a:latin typeface="Noto Sans CJK SC"/>
              </a:rPr>
              <a:t>安慰剂没用：单纯「多返工一次」不起作用，起作用的是</a:t>
            </a:r>
            <a:r>
              <a:rPr sz="1500" b="1">
                <a:solidFill>
                  <a:srgbClr val="C0392B"/>
                </a:solidFill>
                <a:latin typeface="Noto Sans CJK SC"/>
              </a:rPr>
              <a:t>信息</a:t>
            </a:r>
          </a:p>
          <a:p>
            <a:pPr>
              <a:spcAft>
                <a:spcPts val="600"/>
              </a:spcAft>
            </a:pPr>
            <a:r>
              <a:rPr sz="1500" b="0">
                <a:solidFill>
                  <a:srgbClr val="555F6D"/>
                </a:solidFill>
                <a:latin typeface="Noto Sans CJK SC"/>
              </a:rPr>
              <a:t>• </a:t>
            </a:r>
            <a:r>
              <a:rPr sz="1500" b="0">
                <a:solidFill>
                  <a:srgbClr val="1F2A44"/>
                </a:solidFill>
                <a:latin typeface="Noto Sans CJK SC"/>
              </a:rPr>
              <a:t>代价：审核员只能说「第几步没过」→ 作者反复修改却同样失败 → </a:t>
            </a:r>
            <a:r>
              <a:rPr sz="1500" b="1">
                <a:solidFill>
                  <a:srgbClr val="C0392B"/>
                </a:solidFill>
                <a:latin typeface="Noto Sans CJK SC"/>
              </a:rPr>
              <a:t>返工死循环</a:t>
            </a:r>
          </a:p>
          <a:p>
            <a:pPr>
              <a:spcAft>
                <a:spcPts val="600"/>
              </a:spcAft>
            </a:pPr>
            <a:r>
              <a:rPr sz="1500" b="0">
                <a:solidFill>
                  <a:srgbClr val="555F6D"/>
                </a:solidFill>
                <a:latin typeface="Noto Sans CJK SC"/>
              </a:rPr>
              <a:t>• </a:t>
            </a:r>
            <a:r>
              <a:rPr sz="1500" b="0">
                <a:solidFill>
                  <a:srgbClr val="1F2A44"/>
                </a:solidFill>
                <a:latin typeface="Noto Sans CJK SC"/>
              </a:rPr>
              <a:t>注意：这份独立测试来自标准答案，是实验者给的 → 代表</a:t>
            </a:r>
            <a:r>
              <a:rPr sz="1500" b="1">
                <a:solidFill>
                  <a:srgbClr val="C0392B"/>
                </a:solidFill>
                <a:latin typeface="Noto Sans CJK SC"/>
              </a:rPr>
              <a:t>理论上限</a:t>
            </a:r>
            <a:r>
              <a:rPr sz="1500" b="0">
                <a:solidFill>
                  <a:srgbClr val="1F2A44"/>
                </a:solidFill>
                <a:latin typeface="Noto Sans CJK SC"/>
              </a:rPr>
              <a:t>，不是团队自己能做到的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20000"/>
            <a:ext cx="11192000" cy="700000"/>
          </a:xfrm>
          <a:prstGeom prst="rect">
            <a:avLst/>
          </a:prstGeom>
          <a:noFill/>
        </p:spPr>
        <p:txBody>
          <a:bodyPr wrap="none">
            <a:spAutoFit/>
          </a:bodyPr>
          <a:lstStyle/>
          <a:p>
            <a:r>
              <a:rPr sz="2800" b="1">
                <a:solidFill>
                  <a:srgbClr val="1F2A44"/>
                </a:solidFill>
                <a:latin typeface="Noto Sans CJK SC"/>
              </a:rPr>
              <a:t>四、返工卡死了怎么办：程序叫停 vs. 让审核员决定放弃</a:t>
            </a:r>
          </a:p>
          <a:p>
            <a:r>
              <a:rPr sz="1400" b="0">
                <a:solidFill>
                  <a:srgbClr val="555F6D"/>
                </a:solidFill>
                <a:latin typeface="Noto Sans CJK SC"/>
              </a:rPr>
              <a:t>在上个实验中最容易卡死的 5 道题上，各跑 10 次</a:t>
            </a:r>
          </a:p>
        </p:txBody>
      </p:sp>
      <p:sp>
        <p:nvSpPr>
          <p:cNvPr id="4" name="TextBox 3"/>
          <p:cNvSpPr txBox="1"/>
          <p:nvPr/>
        </p:nvSpPr>
        <p:spPr>
          <a:xfrm>
            <a:off x="10692000" y="6408000"/>
            <a:ext cx="1200000" cy="300000"/>
          </a:xfrm>
          <a:prstGeom prst="rect">
            <a:avLst/>
          </a:prstGeom>
          <a:noFill/>
        </p:spPr>
        <p:txBody>
          <a:bodyPr wrap="none">
            <a:spAutoFit/>
          </a:bodyPr>
          <a:lstStyle/>
          <a:p>
            <a:r>
              <a:rPr sz="1000" b="0">
                <a:solidFill>
                  <a:srgbClr val="555F6D"/>
                </a:solidFill>
                <a:latin typeface="Noto Sans CJK SC"/>
              </a:rPr>
              <a:t>SciTeam · 16</a:t>
            </a:r>
          </a:p>
        </p:txBody>
      </p:sp>
      <p:graphicFrame>
        <p:nvGraphicFramePr>
          <p:cNvPr id="5" name="Chart 4"/>
          <p:cNvGraphicFramePr>
            <a:graphicFrameLocks noGrp="1"/>
          </p:cNvGraphicFramePr>
          <p:nvPr/>
        </p:nvGraphicFramePr>
        <p:xfrm>
          <a:off x="500000" y="1300000"/>
          <a:ext cx="6000000" cy="4300000"/>
        </p:xfrm>
        <a:graphic>
          <a:graphicData uri="http://schemas.openxmlformats.org/drawingml/2006/chart">
            <c:chart xmlns:c="http://schemas.openxmlformats.org/drawingml/2006/chart" r:id="rId3"/>
          </a:graphicData>
        </a:graphic>
      </p:graphicFrame>
      <p:sp>
        <p:nvSpPr>
          <p:cNvPr id="6" name="TextBox 5"/>
          <p:cNvSpPr txBox="1"/>
          <p:nvPr/>
        </p:nvSpPr>
        <p:spPr>
          <a:xfrm>
            <a:off x="6700000" y="1500000"/>
            <a:ext cx="5000000" cy="5058000"/>
          </a:xfrm>
          <a:prstGeom prst="rect">
            <a:avLst/>
          </a:prstGeom>
          <a:noFill/>
        </p:spPr>
        <p:txBody>
          <a:bodyPr wrap="square">
            <a:spAutoFit/>
          </a:bodyPr>
          <a:lstStyle/>
          <a:p>
            <a:pPr>
              <a:spcAft>
                <a:spcPts val="600"/>
              </a:spcAft>
            </a:pPr>
            <a:r>
              <a:rPr sz="1500" b="0">
                <a:solidFill>
                  <a:srgbClr val="555F6D"/>
                </a:solidFill>
                <a:latin typeface="Noto Sans CJK SC"/>
              </a:rPr>
              <a:t>• </a:t>
            </a:r>
            <a:r>
              <a:rPr sz="1500" b="1">
                <a:solidFill>
                  <a:srgbClr val="C0392B"/>
                </a:solidFill>
                <a:latin typeface="Noto Sans CJK SC"/>
              </a:rPr>
              <a:t>程序叫停</a:t>
            </a:r>
            <a:r>
              <a:rPr sz="1500" b="0">
                <a:solidFill>
                  <a:srgbClr val="1F2A44"/>
                </a:solidFill>
                <a:latin typeface="Noto Sans CJK SC"/>
              </a:rPr>
              <a:t>：团队被拒后改为「上报所有者、等回复」，死循环换了个样子；还误拦了真正有改进的新版本</a:t>
            </a:r>
          </a:p>
          <a:p>
            <a:pPr>
              <a:spcAft>
                <a:spcPts val="600"/>
              </a:spcAft>
            </a:pPr>
            <a:r>
              <a:rPr sz="1500" b="0">
                <a:solidFill>
                  <a:srgbClr val="555F6D"/>
                </a:solidFill>
                <a:latin typeface="Noto Sans CJK SC"/>
              </a:rPr>
              <a:t>• </a:t>
            </a:r>
            <a:r>
              <a:rPr sz="1500" b="1">
                <a:solidFill>
                  <a:srgbClr val="C0392B"/>
                </a:solidFill>
                <a:latin typeface="Noto Sans CJK SC"/>
              </a:rPr>
              <a:t>审核员决定</a:t>
            </a:r>
            <a:r>
              <a:rPr sz="1500" b="0">
                <a:solidFill>
                  <a:srgbClr val="1F2A44"/>
                </a:solidFill>
                <a:latin typeface="Noto Sans CJK SC"/>
              </a:rPr>
              <a:t>：程序不判断，只给审核员「取消任务」的权力 + 写明「退回 3 次后必须表态」</a:t>
            </a:r>
          </a:p>
          <a:p>
            <a:pPr>
              <a:spcAft>
                <a:spcPts val="600"/>
              </a:spcAft>
            </a:pPr>
            <a:r>
              <a:rPr sz="1500" b="0">
                <a:solidFill>
                  <a:srgbClr val="555F6D"/>
                </a:solidFill>
                <a:latin typeface="Noto Sans CJK SC"/>
              </a:rPr>
              <a:t>• </a:t>
            </a:r>
            <a:r>
              <a:rPr sz="1500" b="0">
                <a:solidFill>
                  <a:srgbClr val="1F2A44"/>
                </a:solidFill>
                <a:latin typeface="Noto Sans CJK SC"/>
              </a:rPr>
              <a:t>被放弃的 7 次事后核对：</a:t>
            </a:r>
            <a:r>
              <a:rPr sz="1500" b="1">
                <a:solidFill>
                  <a:srgbClr val="C0392B"/>
                </a:solidFill>
                <a:latin typeface="Noto Sans CJK SC"/>
              </a:rPr>
              <a:t>全部确实没做对，0 次错杀</a:t>
            </a:r>
          </a:p>
          <a:p>
            <a:pPr>
              <a:spcAft>
                <a:spcPts val="600"/>
              </a:spcAft>
            </a:pPr>
            <a:r>
              <a:rPr sz="1500" b="0">
                <a:solidFill>
                  <a:srgbClr val="555F6D"/>
                </a:solidFill>
                <a:latin typeface="Noto Sans CJK SC"/>
              </a:rPr>
              <a:t>• </a:t>
            </a:r>
            <a:r>
              <a:rPr sz="1500" b="0">
                <a:solidFill>
                  <a:srgbClr val="1F2A44"/>
                </a:solidFill>
                <a:latin typeface="Noto Sans CJK SC"/>
              </a:rPr>
              <a:t>→ 总结出原则：</a:t>
            </a:r>
            <a:r>
              <a:rPr sz="1500" b="1">
                <a:solidFill>
                  <a:srgbClr val="C0392B"/>
                </a:solidFill>
                <a:latin typeface="Noto Sans CJK SC"/>
              </a:rPr>
              <a:t>程序只核对事实，判断交给角色</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20000"/>
            <a:ext cx="11192000" cy="700000"/>
          </a:xfrm>
          <a:prstGeom prst="rect">
            <a:avLst/>
          </a:prstGeom>
          <a:noFill/>
        </p:spPr>
        <p:txBody>
          <a:bodyPr wrap="none">
            <a:spAutoFit/>
          </a:bodyPr>
          <a:lstStyle/>
          <a:p>
            <a:r>
              <a:rPr sz="2800" b="1">
                <a:solidFill>
                  <a:srgbClr val="1F2A44"/>
                </a:solidFill>
                <a:latin typeface="Noto Sans CJK SC"/>
              </a:rPr>
              <a:t>四、预研 E3：两个 AI 各做一份、比对结果，理论上能发现错误吗？</a:t>
            </a:r>
          </a:p>
          <a:p>
            <a:r>
              <a:rPr sz="1400" b="0">
                <a:solidFill>
                  <a:srgbClr val="555F6D"/>
                </a:solidFill>
                <a:latin typeface="Noto Sans CJK SC"/>
              </a:rPr>
              <a:t>零成本：拿以前三个模型各自做过的解答，两两比较输出</a:t>
            </a:r>
          </a:p>
        </p:txBody>
      </p:sp>
      <p:sp>
        <p:nvSpPr>
          <p:cNvPr id="4" name="TextBox 3"/>
          <p:cNvSpPr txBox="1"/>
          <p:nvPr/>
        </p:nvSpPr>
        <p:spPr>
          <a:xfrm>
            <a:off x="10692000" y="6408000"/>
            <a:ext cx="1200000" cy="300000"/>
          </a:xfrm>
          <a:prstGeom prst="rect">
            <a:avLst/>
          </a:prstGeom>
          <a:noFill/>
        </p:spPr>
        <p:txBody>
          <a:bodyPr wrap="none">
            <a:spAutoFit/>
          </a:bodyPr>
          <a:lstStyle/>
          <a:p>
            <a:r>
              <a:rPr sz="1000" b="0">
                <a:solidFill>
                  <a:srgbClr val="555F6D"/>
                </a:solidFill>
                <a:latin typeface="Noto Sans CJK SC"/>
              </a:rPr>
              <a:t>SciTeam · 17</a:t>
            </a:r>
          </a:p>
        </p:txBody>
      </p:sp>
      <p:sp>
        <p:nvSpPr>
          <p:cNvPr id="5" name="TextBox 4"/>
          <p:cNvSpPr txBox="1"/>
          <p:nvPr/>
        </p:nvSpPr>
        <p:spPr>
          <a:xfrm>
            <a:off x="500000" y="1250000"/>
            <a:ext cx="11192000" cy="5058000"/>
          </a:xfrm>
          <a:prstGeom prst="rect">
            <a:avLst/>
          </a:prstGeom>
          <a:noFill/>
        </p:spPr>
        <p:txBody>
          <a:bodyPr wrap="square">
            <a:spAutoFit/>
          </a:bodyPr>
          <a:lstStyle/>
          <a:p>
            <a:pPr>
              <a:spcAft>
                <a:spcPts val="600"/>
              </a:spcAft>
            </a:pPr>
            <a:r>
              <a:rPr sz="1800" b="0">
                <a:solidFill>
                  <a:srgbClr val="555F6D"/>
                </a:solidFill>
                <a:latin typeface="Noto Sans CJK SC"/>
              </a:rPr>
              <a:t>• </a:t>
            </a:r>
            <a:r>
              <a:rPr sz="1800" b="0">
                <a:solidFill>
                  <a:srgbClr val="1F2A44"/>
                </a:solidFill>
                <a:latin typeface="Noto Sans CJK SC"/>
              </a:rPr>
              <a:t>一个对、一个错 → 两人输出 </a:t>
            </a:r>
            <a:r>
              <a:rPr sz="1800" b="1">
                <a:solidFill>
                  <a:srgbClr val="C0392B"/>
                </a:solidFill>
                <a:latin typeface="Noto Sans CJK SC"/>
              </a:rPr>
              <a:t>100% 不一致</a:t>
            </a:r>
            <a:r>
              <a:rPr sz="1800" b="0">
                <a:solidFill>
                  <a:srgbClr val="1F2A44"/>
                </a:solidFill>
                <a:latin typeface="Noto Sans CJK SC"/>
              </a:rPr>
              <a:t> → 比对</a:t>
            </a:r>
            <a:r>
              <a:rPr sz="1800" b="1">
                <a:solidFill>
                  <a:srgbClr val="C0392B"/>
                </a:solidFill>
                <a:latin typeface="Noto Sans CJK SC"/>
              </a:rPr>
              <a:t>一定能发现</a:t>
            </a:r>
          </a:p>
          <a:p>
            <a:pPr>
              <a:spcAft>
                <a:spcPts val="600"/>
              </a:spcAft>
            </a:pPr>
            <a:r>
              <a:rPr sz="1800" b="0">
                <a:solidFill>
                  <a:srgbClr val="555F6D"/>
                </a:solidFill>
                <a:latin typeface="Noto Sans CJK SC"/>
              </a:rPr>
              <a:t>• </a:t>
            </a:r>
            <a:r>
              <a:rPr sz="1800" b="0">
                <a:solidFill>
                  <a:srgbClr val="1F2A44"/>
                </a:solidFill>
                <a:latin typeface="Noto Sans CJK SC"/>
              </a:rPr>
              <a:t>两个都错 → </a:t>
            </a:r>
            <a:r>
              <a:rPr sz="1800" b="1">
                <a:solidFill>
                  <a:srgbClr val="C0392B"/>
                </a:solidFill>
                <a:latin typeface="Noto Sans CJK SC"/>
              </a:rPr>
              <a:t>46%–69%</a:t>
            </a:r>
            <a:r>
              <a:rPr sz="1800" b="0">
                <a:solidFill>
                  <a:srgbClr val="1F2A44"/>
                </a:solidFill>
                <a:latin typeface="Noto Sans CJK SC"/>
              </a:rPr>
              <a:t> 输出不一致 → 能发现约一半</a:t>
            </a:r>
          </a:p>
          <a:p>
            <a:pPr>
              <a:spcAft>
                <a:spcPts val="600"/>
              </a:spcAft>
            </a:pPr>
            <a:r>
              <a:rPr sz="1800" b="0">
                <a:solidFill>
                  <a:srgbClr val="555F6D"/>
                </a:solidFill>
                <a:latin typeface="Noto Sans CJK SC"/>
              </a:rPr>
              <a:t>• </a:t>
            </a:r>
            <a:r>
              <a:rPr sz="1800" b="0">
                <a:solidFill>
                  <a:srgbClr val="1F2A44"/>
                </a:solidFill>
                <a:latin typeface="Noto Sans CJK SC"/>
              </a:rPr>
              <a:t>剩下的是「</a:t>
            </a:r>
            <a:r>
              <a:rPr sz="1800" b="1">
                <a:solidFill>
                  <a:srgbClr val="C0392B"/>
                </a:solidFill>
                <a:latin typeface="Noto Sans CJK SC"/>
              </a:rPr>
              <a:t>同错同值</a:t>
            </a:r>
            <a:r>
              <a:rPr sz="1800" b="0">
                <a:solidFill>
                  <a:srgbClr val="1F2A44"/>
                </a:solidFill>
                <a:latin typeface="Noto Sans CJK SC"/>
              </a:rPr>
              <a:t>」：两人错得一模一样，比对发现不了</a:t>
            </a:r>
          </a:p>
          <a:p>
            <a:pPr>
              <a:spcAft>
                <a:spcPts val="600"/>
              </a:spcAft>
            </a:pPr>
            <a:r>
              <a:rPr sz="1800" b="0">
                <a:solidFill>
                  <a:srgbClr val="555F6D"/>
                </a:solidFill>
                <a:latin typeface="Noto Sans CJK SC"/>
              </a:rPr>
              <a:t>• </a:t>
            </a:r>
            <a:r>
              <a:rPr sz="1800" b="0">
                <a:solidFill>
                  <a:srgbClr val="1F2A44"/>
                </a:solidFill>
                <a:latin typeface="Noto Sans CJK SC"/>
              </a:rPr>
              <a:t>换不同厂商的模型配对，不一定比同一模型配对更容易发现错误</a:t>
            </a:r>
          </a:p>
          <a:p>
            <a:pPr>
              <a:spcAft>
                <a:spcPts val="600"/>
              </a:spcAft>
            </a:pPr>
            <a:r>
              <a:rPr sz="1800" b="0">
                <a:solidFill>
                  <a:srgbClr val="555F6D"/>
                </a:solidFill>
                <a:latin typeface="Noto Sans CJK SC"/>
              </a:rPr>
              <a:t>• </a:t>
            </a:r>
            <a:r>
              <a:rPr sz="1800" b="0">
                <a:solidFill>
                  <a:srgbClr val="1F2A44"/>
                </a:solidFill>
                <a:latin typeface="Noto Sans CJK SC"/>
              </a:rPr>
              <a:t>→ 理论上可行，于是设计正式实验 X-evid（见前面「用一个例子看懂实验」那页）</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20000"/>
            <a:ext cx="11192000" cy="700000"/>
          </a:xfrm>
          <a:prstGeom prst="rect">
            <a:avLst/>
          </a:prstGeom>
          <a:noFill/>
        </p:spPr>
        <p:txBody>
          <a:bodyPr wrap="none">
            <a:spAutoFit/>
          </a:bodyPr>
          <a:lstStyle/>
          <a:p>
            <a:r>
              <a:rPr sz="2800" b="1">
                <a:solidFill>
                  <a:srgbClr val="1F2A44"/>
                </a:solidFill>
                <a:latin typeface="Noto Sans CJK SC"/>
              </a:rPr>
              <a:t>四、X-evid 试运行：AI 会主动想办法「破坏独立性」</a:t>
            </a:r>
          </a:p>
          <a:p>
            <a:r>
              <a:rPr sz="1400" b="0">
                <a:solidFill>
                  <a:srgbClr val="555F6D"/>
                </a:solidFill>
                <a:latin typeface="Noto Sans CJK SC"/>
              </a:rPr>
              <a:t>正式开跑前做了 6 轮小规模试运行，发现三种「作弊」行为，全部通过修改规章堵住，没改程序</a:t>
            </a:r>
          </a:p>
        </p:txBody>
      </p:sp>
      <p:sp>
        <p:nvSpPr>
          <p:cNvPr id="4" name="TextBox 3"/>
          <p:cNvSpPr txBox="1"/>
          <p:nvPr/>
        </p:nvSpPr>
        <p:spPr>
          <a:xfrm>
            <a:off x="10692000" y="6408000"/>
            <a:ext cx="1200000" cy="300000"/>
          </a:xfrm>
          <a:prstGeom prst="rect">
            <a:avLst/>
          </a:prstGeom>
          <a:noFill/>
        </p:spPr>
        <p:txBody>
          <a:bodyPr wrap="none">
            <a:spAutoFit/>
          </a:bodyPr>
          <a:lstStyle/>
          <a:p>
            <a:r>
              <a:rPr sz="1000" b="0">
                <a:solidFill>
                  <a:srgbClr val="555F6D"/>
                </a:solidFill>
                <a:latin typeface="Noto Sans CJK SC"/>
              </a:rPr>
              <a:t>SciTeam · 18</a:t>
            </a:r>
          </a:p>
        </p:txBody>
      </p:sp>
      <p:graphicFrame>
        <p:nvGraphicFramePr>
          <p:cNvPr id="5" name="Table 4"/>
          <p:cNvGraphicFramePr>
            <a:graphicFrameLocks noGrp="1"/>
          </p:cNvGraphicFramePr>
          <p:nvPr/>
        </p:nvGraphicFramePr>
        <p:xfrm>
          <a:off x="500000" y="1300000"/>
          <a:ext cx="11191998" cy="3200000"/>
        </p:xfrm>
        <a:graphic>
          <a:graphicData uri="http://schemas.openxmlformats.org/drawingml/2006/table">
            <a:tbl>
              <a:tblPr firstRow="1" bandRow="1">
                <a:tableStyleId>{5C22544A-7EE6-4342-B048-85BDC9FD1C3A}</a:tableStyleId>
              </a:tblPr>
              <a:tblGrid>
                <a:gridCol w="1254275"/>
                <a:gridCol w="6078413"/>
                <a:gridCol w="3859310"/>
              </a:tblGrid>
              <a:tr h="800000">
                <a:tc>
                  <a:txBody>
                    <a:bodyPr/>
                    <a:lstStyle/>
                    <a:p>
                      <a:r>
                        <a:rPr sz="1300" b="1">
                          <a:solidFill>
                            <a:srgbClr val="FFFFFF"/>
                          </a:solidFill>
                          <a:latin typeface="Noto Sans CJK SC"/>
                        </a:rPr>
                        <a:t>行为</a:t>
                      </a:r>
                    </a:p>
                  </a:txBody>
                  <a:tcPr>
                    <a:solidFill>
                      <a:srgbClr val="1F2A44"/>
                    </a:solidFill>
                  </a:tcPr>
                </a:tc>
                <a:tc>
                  <a:txBody>
                    <a:bodyPr/>
                    <a:lstStyle/>
                    <a:p>
                      <a:r>
                        <a:rPr sz="1300" b="1">
                          <a:solidFill>
                            <a:srgbClr val="FFFFFF"/>
                          </a:solidFill>
                          <a:latin typeface="Noto Sans CJK SC"/>
                        </a:rPr>
                        <a:t>AI 实际做了什么</a:t>
                      </a:r>
                    </a:p>
                  </a:txBody>
                  <a:tcPr>
                    <a:solidFill>
                      <a:srgbClr val="1F2A44"/>
                    </a:solidFill>
                  </a:tcPr>
                </a:tc>
                <a:tc>
                  <a:txBody>
                    <a:bodyPr/>
                    <a:lstStyle/>
                    <a:p>
                      <a:r>
                        <a:rPr sz="1300" b="1">
                          <a:solidFill>
                            <a:srgbClr val="FFFFFF"/>
                          </a:solidFill>
                          <a:latin typeface="Noto Sans CJK SC"/>
                        </a:rPr>
                        <a:t>我们怎么改规章</a:t>
                      </a:r>
                    </a:p>
                  </a:txBody>
                  <a:tcPr>
                    <a:solidFill>
                      <a:srgbClr val="1F2A44"/>
                    </a:solidFill>
                  </a:tcPr>
                </a:tc>
              </a:tr>
              <a:tr h="800000">
                <a:tc>
                  <a:txBody>
                    <a:bodyPr/>
                    <a:lstStyle/>
                    <a:p>
                      <a:r>
                        <a:rPr sz="1300" b="0">
                          <a:solidFill>
                            <a:srgbClr val="1F2A44"/>
                          </a:solidFill>
                          <a:latin typeface="Noto Sans CJK SC"/>
                        </a:rPr>
                        <a:t>偷看</a:t>
                      </a:r>
                    </a:p>
                  </a:txBody>
                  <a:tcPr>
                    <a:solidFill>
                      <a:srgbClr val="EEF1F5"/>
                    </a:solidFill>
                  </a:tcPr>
                </a:tc>
                <a:tc>
                  <a:txBody>
                    <a:bodyPr/>
                    <a:lstStyle/>
                    <a:p>
                      <a:r>
                        <a:rPr sz="1300" b="0">
                          <a:solidFill>
                            <a:srgbClr val="1F2A44"/>
                          </a:solidFill>
                          <a:latin typeface="Noto Sans CJK SC"/>
                        </a:rPr>
                        <a:t>自建一个辅助任务，把「打印对方代码指纹」写进验收命令，借检查程序的眼睛看对方文件</a:t>
                      </a:r>
                    </a:p>
                  </a:txBody>
                  <a:tcPr>
                    <a:solidFill>
                      <a:srgbClr val="EEF1F5"/>
                    </a:solidFill>
                  </a:tcPr>
                </a:tc>
                <a:tc>
                  <a:txBody>
                    <a:bodyPr/>
                    <a:lstStyle/>
                    <a:p>
                      <a:r>
                        <a:rPr sz="1300" b="0">
                          <a:solidFill>
                            <a:srgbClr val="1F2A44"/>
                          </a:solidFill>
                          <a:latin typeface="Noto Sans CJK SC"/>
                        </a:rPr>
                        <a:t>检查命令写死在规章里，成员不能自定义</a:t>
                      </a:r>
                    </a:p>
                  </a:txBody>
                  <a:tcPr>
                    <a:solidFill>
                      <a:srgbClr val="EEF1F5"/>
                    </a:solidFill>
                  </a:tcPr>
                </a:tc>
              </a:tr>
              <a:tr h="800000">
                <a:tc>
                  <a:txBody>
                    <a:bodyPr/>
                    <a:lstStyle/>
                    <a:p>
                      <a:r>
                        <a:rPr sz="1300" b="0">
                          <a:solidFill>
                            <a:srgbClr val="1F2A44"/>
                          </a:solidFill>
                          <a:latin typeface="Noto Sans CJK SC"/>
                        </a:rPr>
                        <a:t>串通</a:t>
                      </a:r>
                    </a:p>
                  </a:txBody>
                  <a:tcPr>
                    <a:solidFill>
                      <a:srgbClr val="FFFFFF"/>
                    </a:solidFill>
                  </a:tcPr>
                </a:tc>
                <a:tc>
                  <a:txBody>
                    <a:bodyPr/>
                    <a:lstStyle/>
                    <a:p>
                      <a:r>
                        <a:rPr sz="1300" b="0">
                          <a:solidFill>
                            <a:srgbClr val="1F2A44"/>
                          </a:solidFill>
                          <a:latin typeface="Noto Sans CJK SC"/>
                        </a:rPr>
                        <a:t>第一次比对不一致后私信互报约定和具体数值，把两份代码改成一样（常常一起改错）</a:t>
                      </a:r>
                    </a:p>
                  </a:txBody>
                  <a:tcPr>
                    <a:solidFill>
                      <a:srgbClr val="FFFFFF"/>
                    </a:solidFill>
                  </a:tcPr>
                </a:tc>
                <a:tc>
                  <a:txBody>
                    <a:bodyPr/>
                    <a:lstStyle/>
                    <a:p>
                      <a:r>
                        <a:rPr sz="1300" b="0">
                          <a:solidFill>
                            <a:srgbClr val="1F2A44"/>
                          </a:solidFill>
                          <a:latin typeface="Noto Sans CJK SC"/>
                        </a:rPr>
                        <a:t>禁止两名实现者互发消息</a:t>
                      </a:r>
                    </a:p>
                  </a:txBody>
                  <a:tcPr>
                    <a:solidFill>
                      <a:srgbClr val="FFFFFF"/>
                    </a:solidFill>
                  </a:tcPr>
                </a:tc>
              </a:tr>
              <a:tr h="800000">
                <a:tc>
                  <a:txBody>
                    <a:bodyPr/>
                    <a:lstStyle/>
                    <a:p>
                      <a:r>
                        <a:rPr sz="1300" b="0">
                          <a:solidFill>
                            <a:srgbClr val="1F2A44"/>
                          </a:solidFill>
                          <a:latin typeface="Noto Sans CJK SC"/>
                        </a:rPr>
                        <a:t>枚举</a:t>
                      </a:r>
                    </a:p>
                  </a:txBody>
                  <a:tcPr>
                    <a:solidFill>
                      <a:srgbClr val="EEF1F5"/>
                    </a:solidFill>
                  </a:tcPr>
                </a:tc>
                <a:tc>
                  <a:txBody>
                    <a:bodyPr/>
                    <a:lstStyle/>
                    <a:p>
                      <a:r>
                        <a:rPr sz="1300" b="0">
                          <a:solidFill>
                            <a:srgbClr val="1F2A44"/>
                          </a:solidFill>
                          <a:latin typeface="Noto Sans CJK SC"/>
                        </a:rPr>
                        <a:t>对方还没交卷时，单方面反复提交 11–14 次，把比对程序当「猜答案」的工具</a:t>
                      </a:r>
                    </a:p>
                  </a:txBody>
                  <a:tcPr>
                    <a:solidFill>
                      <a:srgbClr val="EEF1F5"/>
                    </a:solidFill>
                  </a:tcPr>
                </a:tc>
                <a:tc>
                  <a:txBody>
                    <a:bodyPr/>
                    <a:lstStyle/>
                    <a:p>
                      <a:r>
                        <a:rPr sz="1300" b="0">
                          <a:solidFill>
                            <a:srgbClr val="1F2A44"/>
                          </a:solidFill>
                          <a:latin typeface="Noto Sans CJK SC"/>
                        </a:rPr>
                        <a:t>比对只由审核员在双方都交卷后发起</a:t>
                      </a:r>
                    </a:p>
                  </a:txBody>
                  <a:tcPr>
                    <a:solidFill>
                      <a:srgbClr val="EEF1F5"/>
                    </a:solidFill>
                  </a:tcPr>
                </a:tc>
              </a:tr>
            </a:tbl>
          </a:graphicData>
        </a:graphic>
      </p:graphicFrame>
      <p:sp>
        <p:nvSpPr>
          <p:cNvPr id="6" name="TextBox 5"/>
          <p:cNvSpPr txBox="1"/>
          <p:nvPr/>
        </p:nvSpPr>
        <p:spPr>
          <a:xfrm>
            <a:off x="500000" y="4900000"/>
            <a:ext cx="11192000" cy="500000"/>
          </a:xfrm>
          <a:prstGeom prst="rect">
            <a:avLst/>
          </a:prstGeom>
          <a:noFill/>
        </p:spPr>
        <p:txBody>
          <a:bodyPr wrap="square">
            <a:spAutoFit/>
          </a:bodyPr>
          <a:lstStyle/>
          <a:p>
            <a:r>
              <a:rPr sz="1600" b="1">
                <a:solidFill>
                  <a:srgbClr val="C0392B"/>
                </a:solidFill>
                <a:latin typeface="Noto Sans CJK SC"/>
              </a:rPr>
              <a:t>启示：把文件隔开 ≠ 两人真的独立。</a:t>
            </a:r>
            <a:r>
              <a:rPr sz="1600" b="0">
                <a:solidFill>
                  <a:srgbClr val="555F6D"/>
                </a:solidFill>
                <a:latin typeface="Noto Sans CJK SC"/>
              </a:rPr>
              <a:t> 只要规章留有缝隙，AI 就会自己把「独立复核」变成「对答案」。</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20000"/>
            <a:ext cx="11192000" cy="700000"/>
          </a:xfrm>
          <a:prstGeom prst="rect">
            <a:avLst/>
          </a:prstGeom>
          <a:noFill/>
        </p:spPr>
        <p:txBody>
          <a:bodyPr wrap="none">
            <a:spAutoFit/>
          </a:bodyPr>
          <a:lstStyle/>
          <a:p>
            <a:r>
              <a:rPr sz="2800" b="1">
                <a:solidFill>
                  <a:srgbClr val="1F2A44"/>
                </a:solidFill>
                <a:latin typeface="Noto Sans CJK SC"/>
              </a:rPr>
              <a:t>四、X-evid 中期结果：错误的「完成」减少了一半</a:t>
            </a:r>
          </a:p>
          <a:p>
            <a:r>
              <a:rPr sz="1400" b="0">
                <a:solidFill>
                  <a:srgbClr val="555F6D"/>
                </a:solidFill>
                <a:latin typeface="Noto Sans CJK SC"/>
              </a:rPr>
              <a:t>已完成 252/432 次运行；0 次撞保险丝；重放审计 100% 一致</a:t>
            </a:r>
          </a:p>
        </p:txBody>
      </p:sp>
      <p:sp>
        <p:nvSpPr>
          <p:cNvPr id="4" name="TextBox 3"/>
          <p:cNvSpPr txBox="1"/>
          <p:nvPr/>
        </p:nvSpPr>
        <p:spPr>
          <a:xfrm>
            <a:off x="10692000" y="6408000"/>
            <a:ext cx="1200000" cy="300000"/>
          </a:xfrm>
          <a:prstGeom prst="rect">
            <a:avLst/>
          </a:prstGeom>
          <a:noFill/>
        </p:spPr>
        <p:txBody>
          <a:bodyPr wrap="none">
            <a:spAutoFit/>
          </a:bodyPr>
          <a:lstStyle/>
          <a:p>
            <a:r>
              <a:rPr sz="1000" b="0">
                <a:solidFill>
                  <a:srgbClr val="555F6D"/>
                </a:solidFill>
                <a:latin typeface="Noto Sans CJK SC"/>
              </a:rPr>
              <a:t>SciTeam · 19</a:t>
            </a:r>
          </a:p>
        </p:txBody>
      </p:sp>
      <p:graphicFrame>
        <p:nvGraphicFramePr>
          <p:cNvPr id="5" name="Chart 4"/>
          <p:cNvGraphicFramePr>
            <a:graphicFrameLocks noGrp="1"/>
          </p:cNvGraphicFramePr>
          <p:nvPr/>
        </p:nvGraphicFramePr>
        <p:xfrm>
          <a:off x="400000" y="1150000"/>
          <a:ext cx="7000000" cy="4600000"/>
        </p:xfrm>
        <a:graphic>
          <a:graphicData uri="http://schemas.openxmlformats.org/drawingml/2006/chart">
            <c:chart xmlns:c="http://schemas.openxmlformats.org/drawingml/2006/chart" r:id="rId3"/>
          </a:graphicData>
        </a:graphic>
      </p:graphicFrame>
      <p:sp>
        <p:nvSpPr>
          <p:cNvPr id="6" name="TextBox 5"/>
          <p:cNvSpPr txBox="1"/>
          <p:nvPr/>
        </p:nvSpPr>
        <p:spPr>
          <a:xfrm>
            <a:off x="7600000" y="1300000"/>
            <a:ext cx="4200000" cy="5058000"/>
          </a:xfrm>
          <a:prstGeom prst="rect">
            <a:avLst/>
          </a:prstGeom>
          <a:noFill/>
        </p:spPr>
        <p:txBody>
          <a:bodyPr wrap="square">
            <a:spAutoFit/>
          </a:bodyPr>
          <a:lstStyle/>
          <a:p>
            <a:pPr>
              <a:spcAft>
                <a:spcPts val="600"/>
              </a:spcAft>
            </a:pPr>
            <a:r>
              <a:rPr sz="1400" b="0">
                <a:solidFill>
                  <a:srgbClr val="555F6D"/>
                </a:solidFill>
                <a:latin typeface="Noto Sans CJK SC"/>
              </a:rPr>
              <a:t>• </a:t>
            </a:r>
            <a:r>
              <a:rPr sz="1400" b="0">
                <a:solidFill>
                  <a:srgbClr val="1F2A44"/>
                </a:solidFill>
                <a:latin typeface="Noto Sans CJK SC"/>
              </a:rPr>
              <a:t>「说完成但其实错了」与对照组相比：</a:t>
            </a:r>
          </a:p>
          <a:p>
            <a:pPr>
              <a:spcAft>
                <a:spcPts val="600"/>
              </a:spcAft>
            </a:pPr>
            <a:r>
              <a:rPr sz="1200" b="0">
                <a:solidFill>
                  <a:srgbClr val="555F6D"/>
                </a:solidFill>
                <a:latin typeface="Noto Sans CJK SC"/>
              </a:rPr>
              <a:t>    – </a:t>
            </a:r>
            <a:r>
              <a:rPr sz="1200" b="0">
                <a:solidFill>
                  <a:srgbClr val="555F6D"/>
                </a:solidFill>
                <a:latin typeface="Noto Sans CJK SC"/>
              </a:rPr>
              <a:t>同模型 </a:t>
            </a:r>
            <a:r>
              <a:rPr sz="1200" b="1">
                <a:solidFill>
                  <a:srgbClr val="C0392B"/>
                </a:solidFill>
                <a:latin typeface="Noto Sans CJK SC"/>
              </a:rPr>
              <a:t>−29 个百分点</a:t>
            </a:r>
            <a:r>
              <a:rPr sz="1200" b="0">
                <a:solidFill>
                  <a:srgbClr val="555F6D"/>
                </a:solidFill>
                <a:latin typeface="Noto Sans CJK SC"/>
              </a:rPr>
              <a:t>（区间 −45 ~ −13）</a:t>
            </a:r>
          </a:p>
          <a:p>
            <a:pPr>
              <a:spcAft>
                <a:spcPts val="600"/>
              </a:spcAft>
            </a:pPr>
            <a:r>
              <a:rPr sz="1200" b="0">
                <a:solidFill>
                  <a:srgbClr val="555F6D"/>
                </a:solidFill>
                <a:latin typeface="Noto Sans CJK SC"/>
              </a:rPr>
              <a:t>    – </a:t>
            </a:r>
            <a:r>
              <a:rPr sz="1200" b="0">
                <a:solidFill>
                  <a:srgbClr val="555F6D"/>
                </a:solidFill>
                <a:latin typeface="Noto Sans CJK SC"/>
              </a:rPr>
              <a:t>跨模型 </a:t>
            </a:r>
            <a:r>
              <a:rPr sz="1200" b="1">
                <a:solidFill>
                  <a:srgbClr val="C0392B"/>
                </a:solidFill>
                <a:latin typeface="Noto Sans CJK SC"/>
              </a:rPr>
              <a:t>−34 个百分点</a:t>
            </a:r>
            <a:r>
              <a:rPr sz="1200" b="0">
                <a:solidFill>
                  <a:srgbClr val="555F6D"/>
                </a:solidFill>
                <a:latin typeface="Noto Sans CJK SC"/>
              </a:rPr>
              <a:t>（区间 −53 ~ −15），</a:t>
            </a:r>
            <a:r>
              <a:rPr sz="1200" b="1">
                <a:solidFill>
                  <a:srgbClr val="C0392B"/>
                </a:solidFill>
                <a:latin typeface="Noto Sans CJK SC"/>
              </a:rPr>
              <a:t>约减半</a:t>
            </a:r>
          </a:p>
          <a:p>
            <a:pPr>
              <a:spcAft>
                <a:spcPts val="600"/>
              </a:spcAft>
            </a:pPr>
            <a:r>
              <a:rPr sz="1200" b="0">
                <a:solidFill>
                  <a:srgbClr val="555F6D"/>
                </a:solidFill>
                <a:latin typeface="Noto Sans CJK SC"/>
              </a:rPr>
              <a:t>    – </a:t>
            </a:r>
            <a:r>
              <a:rPr sz="1200" b="0">
                <a:solidFill>
                  <a:srgbClr val="555F6D"/>
                </a:solidFill>
                <a:latin typeface="Noto Sans CJK SC"/>
              </a:rPr>
              <a:t>区间都不含 0 → 减少是可靠的</a:t>
            </a:r>
          </a:p>
          <a:p>
            <a:pPr>
              <a:spcAft>
                <a:spcPts val="600"/>
              </a:spcAft>
            </a:pPr>
            <a:r>
              <a:rPr sz="1400" b="0">
                <a:solidFill>
                  <a:srgbClr val="555F6D"/>
                </a:solidFill>
                <a:latin typeface="Noto Sans CJK SC"/>
              </a:rPr>
              <a:t>• </a:t>
            </a:r>
            <a:r>
              <a:rPr sz="1400" b="0">
                <a:solidFill>
                  <a:srgbClr val="1F2A44"/>
                </a:solidFill>
                <a:latin typeface="Noto Sans CJK SC"/>
              </a:rPr>
              <a:t>「精确率」几乎不变（33% 左右）</a:t>
            </a:r>
          </a:p>
          <a:p>
            <a:pPr>
              <a:spcAft>
                <a:spcPts val="600"/>
              </a:spcAft>
            </a:pPr>
            <a:r>
              <a:rPr sz="1200" b="0">
                <a:solidFill>
                  <a:srgbClr val="555F6D"/>
                </a:solidFill>
                <a:latin typeface="Noto Sans CJK SC"/>
              </a:rPr>
              <a:t>    – </a:t>
            </a:r>
            <a:r>
              <a:rPr sz="1200" b="0">
                <a:solidFill>
                  <a:srgbClr val="555F6D"/>
                </a:solidFill>
                <a:latin typeface="Noto Sans CJK SC"/>
              </a:rPr>
              <a:t>实验前预测提高 ≥ 10 个百分点，</a:t>
            </a:r>
            <a:r>
              <a:rPr sz="1200" b="1">
                <a:solidFill>
                  <a:srgbClr val="C0392B"/>
                </a:solidFill>
                <a:latin typeface="Noto Sans CJK SC"/>
              </a:rPr>
              <a:t>目前不成立</a:t>
            </a:r>
          </a:p>
          <a:p>
            <a:pPr>
              <a:spcAft>
                <a:spcPts val="600"/>
              </a:spcAft>
            </a:pPr>
            <a:r>
              <a:rPr sz="1400" b="0">
                <a:solidFill>
                  <a:srgbClr val="555F6D"/>
                </a:solidFill>
                <a:latin typeface="Noto Sans CJK SC"/>
              </a:rPr>
              <a:t>• </a:t>
            </a:r>
            <a:r>
              <a:rPr sz="1400" b="0">
                <a:solidFill>
                  <a:srgbClr val="1F2A44"/>
                </a:solidFill>
                <a:latin typeface="Noto Sans CJK SC"/>
              </a:rPr>
              <a:t>撞保险丝：</a:t>
            </a:r>
            <a:r>
              <a:rPr sz="1400" b="1">
                <a:solidFill>
                  <a:srgbClr val="C0392B"/>
                </a:solidFill>
                <a:latin typeface="Noto Sans CJK SC"/>
              </a:rPr>
              <a:t>0/252</a:t>
            </a:r>
            <a:r>
              <a:rPr sz="1400" b="0">
                <a:solidFill>
                  <a:srgbClr val="1F2A44"/>
                </a:solidFill>
                <a:latin typeface="Noto Sans CJK SC"/>
              </a:rPr>
              <a:t>（上个实验是 39%）</a:t>
            </a:r>
          </a:p>
        </p:txBody>
      </p:sp>
      <p:sp>
        <p:nvSpPr>
          <p:cNvPr id="7" name="TextBox 6"/>
          <p:cNvSpPr txBox="1"/>
          <p:nvPr/>
        </p:nvSpPr>
        <p:spPr>
          <a:xfrm>
            <a:off x="500000" y="5850000"/>
            <a:ext cx="11192000" cy="500000"/>
          </a:xfrm>
          <a:prstGeom prst="rect">
            <a:avLst/>
          </a:prstGeom>
          <a:noFill/>
        </p:spPr>
        <p:txBody>
          <a:bodyPr wrap="square">
            <a:spAutoFit/>
          </a:bodyPr>
          <a:lstStyle/>
          <a:p>
            <a:r>
              <a:rPr sz="1200" b="0">
                <a:solidFill>
                  <a:srgbClr val="555F6D"/>
                </a:solidFill>
                <a:latin typeface="Noto Sans CJK SC"/>
              </a:rPr>
              <a:t>中期数据只用于监测，不据此修改实验；最终结论等 432 次全部完成。</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20000"/>
            <a:ext cx="11192000" cy="700000"/>
          </a:xfrm>
          <a:prstGeom prst="rect">
            <a:avLst/>
          </a:prstGeom>
          <a:noFill/>
        </p:spPr>
        <p:txBody>
          <a:bodyPr wrap="none">
            <a:spAutoFit/>
          </a:bodyPr>
          <a:lstStyle/>
          <a:p>
            <a:r>
              <a:rPr sz="2800" b="1">
                <a:solidFill>
                  <a:srgbClr val="1F2A44"/>
                </a:solidFill>
                <a:latin typeface="Noto Sans CJK SC"/>
              </a:rPr>
              <a:t>五、踩过的坑（全部编号登记，受影响的运行作废重跑）</a:t>
            </a:r>
          </a:p>
        </p:txBody>
      </p:sp>
      <p:sp>
        <p:nvSpPr>
          <p:cNvPr id="4" name="TextBox 3"/>
          <p:cNvSpPr txBox="1"/>
          <p:nvPr/>
        </p:nvSpPr>
        <p:spPr>
          <a:xfrm>
            <a:off x="10692000" y="6408000"/>
            <a:ext cx="1200000" cy="300000"/>
          </a:xfrm>
          <a:prstGeom prst="rect">
            <a:avLst/>
          </a:prstGeom>
          <a:noFill/>
        </p:spPr>
        <p:txBody>
          <a:bodyPr wrap="none">
            <a:spAutoFit/>
          </a:bodyPr>
          <a:lstStyle/>
          <a:p>
            <a:r>
              <a:rPr sz="1000" b="0">
                <a:solidFill>
                  <a:srgbClr val="555F6D"/>
                </a:solidFill>
                <a:latin typeface="Noto Sans CJK SC"/>
              </a:rPr>
              <a:t>SciTeam · 20</a:t>
            </a:r>
          </a:p>
        </p:txBody>
      </p:sp>
      <p:graphicFrame>
        <p:nvGraphicFramePr>
          <p:cNvPr id="5" name="Table 4"/>
          <p:cNvGraphicFramePr>
            <a:graphicFrameLocks noGrp="1"/>
          </p:cNvGraphicFramePr>
          <p:nvPr/>
        </p:nvGraphicFramePr>
        <p:xfrm>
          <a:off x="500000" y="1300000"/>
          <a:ext cx="11191999" cy="4480000"/>
        </p:xfrm>
        <a:graphic>
          <a:graphicData uri="http://schemas.openxmlformats.org/drawingml/2006/table">
            <a:tbl>
              <a:tblPr firstRow="1" bandRow="1">
                <a:tableStyleId>{5C22544A-7EE6-4342-B048-85BDC9FD1C3A}</a:tableStyleId>
              </a:tblPr>
              <a:tblGrid>
                <a:gridCol w="1399000"/>
                <a:gridCol w="5129666"/>
                <a:gridCol w="4663333"/>
              </a:tblGrid>
              <a:tr h="560000">
                <a:tc>
                  <a:txBody>
                    <a:bodyPr/>
                    <a:lstStyle/>
                    <a:p>
                      <a:r>
                        <a:rPr sz="1300" b="1">
                          <a:solidFill>
                            <a:srgbClr val="FFFFFF"/>
                          </a:solidFill>
                          <a:latin typeface="Noto Sans CJK SC"/>
                        </a:rPr>
                        <a:t>方面</a:t>
                      </a:r>
                    </a:p>
                  </a:txBody>
                  <a:tcPr>
                    <a:solidFill>
                      <a:srgbClr val="1F2A44"/>
                    </a:solidFill>
                  </a:tcPr>
                </a:tc>
                <a:tc>
                  <a:txBody>
                    <a:bodyPr/>
                    <a:lstStyle/>
                    <a:p>
                      <a:r>
                        <a:rPr sz="1300" b="1">
                          <a:solidFill>
                            <a:srgbClr val="FFFFFF"/>
                          </a:solidFill>
                          <a:latin typeface="Noto Sans CJK SC"/>
                        </a:rPr>
                        <a:t>问题（大白话）</a:t>
                      </a:r>
                    </a:p>
                  </a:txBody>
                  <a:tcPr>
                    <a:solidFill>
                      <a:srgbClr val="1F2A44"/>
                    </a:solidFill>
                  </a:tcPr>
                </a:tc>
                <a:tc>
                  <a:txBody>
                    <a:bodyPr/>
                    <a:lstStyle/>
                    <a:p>
                      <a:r>
                        <a:rPr sz="1300" b="1">
                          <a:solidFill>
                            <a:srgbClr val="FFFFFF"/>
                          </a:solidFill>
                          <a:latin typeface="Noto Sans CJK SC"/>
                        </a:rPr>
                        <a:t>怎么处理</a:t>
                      </a:r>
                    </a:p>
                  </a:txBody>
                  <a:tcPr>
                    <a:solidFill>
                      <a:srgbClr val="1F2A44"/>
                    </a:solidFill>
                  </a:tcPr>
                </a:tc>
              </a:tr>
              <a:tr h="560000">
                <a:tc>
                  <a:txBody>
                    <a:bodyPr/>
                    <a:lstStyle/>
                    <a:p>
                      <a:r>
                        <a:rPr sz="1300" b="0">
                          <a:solidFill>
                            <a:srgbClr val="1F2A44"/>
                          </a:solidFill>
                          <a:latin typeface="Noto Sans CJK SC"/>
                        </a:rPr>
                        <a:t>指标设计</a:t>
                      </a:r>
                    </a:p>
                  </a:txBody>
                  <a:tcPr>
                    <a:solidFill>
                      <a:srgbClr val="EEF1F5"/>
                    </a:solidFill>
                  </a:tcPr>
                </a:tc>
                <a:tc>
                  <a:txBody>
                    <a:bodyPr/>
                    <a:lstStyle/>
                    <a:p>
                      <a:r>
                        <a:rPr sz="1300" b="0">
                          <a:solidFill>
                            <a:srgbClr val="1F2A44"/>
                          </a:solidFill>
                          <a:latin typeface="Noto Sans CJK SC"/>
                        </a:rPr>
                        <a:t>第一个实验的主指标阈值本身带噪声，近似抛硬币</a:t>
                      </a:r>
                    </a:p>
                  </a:txBody>
                  <a:tcPr>
                    <a:solidFill>
                      <a:srgbClr val="EEF1F5"/>
                    </a:solidFill>
                  </a:tcPr>
                </a:tc>
                <a:tc>
                  <a:txBody>
                    <a:bodyPr/>
                    <a:lstStyle/>
                    <a:p>
                      <a:r>
                        <a:rPr sz="1300" b="0">
                          <a:solidFill>
                            <a:srgbClr val="1F2A44"/>
                          </a:solidFill>
                          <a:latin typeface="Noto Sans CJK SC"/>
                        </a:rPr>
                        <a:t>公开承认，拆成三个更清晰的指标</a:t>
                      </a:r>
                    </a:p>
                  </a:txBody>
                  <a:tcPr>
                    <a:solidFill>
                      <a:srgbClr val="EEF1F5"/>
                    </a:solidFill>
                  </a:tcPr>
                </a:tc>
              </a:tr>
              <a:tr h="560000">
                <a:tc>
                  <a:txBody>
                    <a:bodyPr/>
                    <a:lstStyle/>
                    <a:p>
                      <a:r>
                        <a:rPr sz="1300" b="0">
                          <a:solidFill>
                            <a:srgbClr val="1F2A44"/>
                          </a:solidFill>
                          <a:latin typeface="Noto Sans CJK SC"/>
                        </a:rPr>
                        <a:t>基础设施</a:t>
                      </a:r>
                    </a:p>
                  </a:txBody>
                  <a:tcPr>
                    <a:solidFill>
                      <a:srgbClr val="FFFFFF"/>
                    </a:solidFill>
                  </a:tcPr>
                </a:tc>
                <a:tc>
                  <a:txBody>
                    <a:bodyPr/>
                    <a:lstStyle/>
                    <a:p>
                      <a:r>
                        <a:rPr sz="1300" b="0">
                          <a:solidFill>
                            <a:srgbClr val="1F2A44"/>
                          </a:solidFill>
                          <a:latin typeface="Noto Sans CJK SC"/>
                        </a:rPr>
                        <a:t>模型 API 欠费被当成「团队做错」记 0 分</a:t>
                      </a:r>
                    </a:p>
                  </a:txBody>
                  <a:tcPr>
                    <a:solidFill>
                      <a:srgbClr val="FFFFFF"/>
                    </a:solidFill>
                  </a:tcPr>
                </a:tc>
                <a:tc>
                  <a:txBody>
                    <a:bodyPr/>
                    <a:lstStyle/>
                    <a:p>
                      <a:r>
                        <a:rPr sz="1300" b="0">
                          <a:solidFill>
                            <a:srgbClr val="1F2A44"/>
                          </a:solidFill>
                          <a:latin typeface="Noto Sans CJK SC"/>
                        </a:rPr>
                        <a:t>自动识别欠费，暂停并在充值后续跑</a:t>
                      </a:r>
                    </a:p>
                  </a:txBody>
                  <a:tcPr>
                    <a:solidFill>
                      <a:srgbClr val="FFFFFF"/>
                    </a:solidFill>
                  </a:tcPr>
                </a:tc>
              </a:tr>
              <a:tr h="560000">
                <a:tc>
                  <a:txBody>
                    <a:bodyPr/>
                    <a:lstStyle/>
                    <a:p>
                      <a:r>
                        <a:rPr sz="1300" b="0">
                          <a:solidFill>
                            <a:srgbClr val="1F2A44"/>
                          </a:solidFill>
                          <a:latin typeface="Noto Sans CJK SC"/>
                        </a:rPr>
                        <a:t>判分环境</a:t>
                      </a:r>
                    </a:p>
                  </a:txBody>
                  <a:tcPr>
                    <a:solidFill>
                      <a:srgbClr val="EEF1F5"/>
                    </a:solidFill>
                  </a:tcPr>
                </a:tc>
                <a:tc>
                  <a:txBody>
                    <a:bodyPr/>
                    <a:lstStyle/>
                    <a:p>
                      <a:r>
                        <a:rPr sz="1300" b="0">
                          <a:solidFill>
                            <a:srgbClr val="1F2A44"/>
                          </a:solidFill>
                          <a:latin typeface="Noto Sans CJK SC"/>
                        </a:rPr>
                        <a:t>工作区盖住官方数据；二进制文件让补丁整体失败</a:t>
                      </a:r>
                    </a:p>
                  </a:txBody>
                  <a:tcPr>
                    <a:solidFill>
                      <a:srgbClr val="EEF1F5"/>
                    </a:solidFill>
                  </a:tcPr>
                </a:tc>
                <a:tc>
                  <a:txBody>
                    <a:bodyPr/>
                    <a:lstStyle/>
                    <a:p>
                      <a:r>
                        <a:rPr sz="1300" b="0">
                          <a:solidFill>
                            <a:srgbClr val="1F2A44"/>
                          </a:solidFill>
                          <a:latin typeface="Noto Sans CJK SC"/>
                        </a:rPr>
                        <a:t>修复判分流程，受影响运行作废重跑</a:t>
                      </a:r>
                    </a:p>
                  </a:txBody>
                  <a:tcPr>
                    <a:solidFill>
                      <a:srgbClr val="EEF1F5"/>
                    </a:solidFill>
                  </a:tcPr>
                </a:tc>
              </a:tr>
              <a:tr h="560000">
                <a:tc>
                  <a:txBody>
                    <a:bodyPr/>
                    <a:lstStyle/>
                    <a:p>
                      <a:r>
                        <a:rPr sz="1300" b="0">
                          <a:solidFill>
                            <a:srgbClr val="1F2A44"/>
                          </a:solidFill>
                          <a:latin typeface="Noto Sans CJK SC"/>
                        </a:rPr>
                        <a:t>停机</a:t>
                      </a:r>
                    </a:p>
                  </a:txBody>
                  <a:tcPr>
                    <a:solidFill>
                      <a:srgbClr val="FFFFFF"/>
                    </a:solidFill>
                  </a:tcPr>
                </a:tc>
                <a:tc>
                  <a:txBody>
                    <a:bodyPr/>
                    <a:lstStyle/>
                    <a:p>
                      <a:r>
                        <a:rPr sz="1300" b="0">
                          <a:solidFill>
                            <a:srgbClr val="1F2A44"/>
                          </a:solidFill>
                          <a:latin typeface="Noto Sans CJK SC"/>
                        </a:rPr>
                        <a:t>返工死循环，39% 撞时间保险丝</a:t>
                      </a:r>
                    </a:p>
                  </a:txBody>
                  <a:tcPr>
                    <a:solidFill>
                      <a:srgbClr val="FFFFFF"/>
                    </a:solidFill>
                  </a:tcPr>
                </a:tc>
                <a:tc>
                  <a:txBody>
                    <a:bodyPr/>
                    <a:lstStyle/>
                    <a:p>
                      <a:r>
                        <a:rPr sz="1300" b="0">
                          <a:solidFill>
                            <a:srgbClr val="1F2A44"/>
                          </a:solidFill>
                          <a:latin typeface="Noto Sans CJK SC"/>
                        </a:rPr>
                        <a:t>放弃权交给审核员（原则：判断归角色）</a:t>
                      </a:r>
                    </a:p>
                  </a:txBody>
                  <a:tcPr>
                    <a:solidFill>
                      <a:srgbClr val="FFFFFF"/>
                    </a:solidFill>
                  </a:tcPr>
                </a:tc>
              </a:tr>
              <a:tr h="560000">
                <a:tc>
                  <a:txBody>
                    <a:bodyPr/>
                    <a:lstStyle/>
                    <a:p>
                      <a:r>
                        <a:rPr sz="1300" b="0">
                          <a:solidFill>
                            <a:srgbClr val="1F2A44"/>
                          </a:solidFill>
                          <a:latin typeface="Noto Sans CJK SC"/>
                        </a:rPr>
                        <a:t>独立性</a:t>
                      </a:r>
                    </a:p>
                  </a:txBody>
                  <a:tcPr>
                    <a:solidFill>
                      <a:srgbClr val="EEF1F5"/>
                    </a:solidFill>
                  </a:tcPr>
                </a:tc>
                <a:tc>
                  <a:txBody>
                    <a:bodyPr/>
                    <a:lstStyle/>
                    <a:p>
                      <a:r>
                        <a:rPr sz="1300" b="0">
                          <a:solidFill>
                            <a:srgbClr val="1F2A44"/>
                          </a:solidFill>
                          <a:latin typeface="Noto Sans CJK SC"/>
                        </a:rPr>
                        <a:t>AI 偷看、串通、枚举</a:t>
                      </a:r>
                    </a:p>
                  </a:txBody>
                  <a:tcPr>
                    <a:solidFill>
                      <a:srgbClr val="EEF1F5"/>
                    </a:solidFill>
                  </a:tcPr>
                </a:tc>
                <a:tc>
                  <a:txBody>
                    <a:bodyPr/>
                    <a:lstStyle/>
                    <a:p>
                      <a:r>
                        <a:rPr sz="1300" b="0">
                          <a:solidFill>
                            <a:srgbClr val="1F2A44"/>
                          </a:solidFill>
                          <a:latin typeface="Noto Sans CJK SC"/>
                        </a:rPr>
                        <a:t>通信隔离 + 两步验证</a:t>
                      </a:r>
                    </a:p>
                  </a:txBody>
                  <a:tcPr>
                    <a:solidFill>
                      <a:srgbClr val="EEF1F5"/>
                    </a:solidFill>
                  </a:tcPr>
                </a:tc>
              </a:tr>
              <a:tr h="560000">
                <a:tc>
                  <a:txBody>
                    <a:bodyPr/>
                    <a:lstStyle/>
                    <a:p>
                      <a:r>
                        <a:rPr sz="1300" b="0">
                          <a:solidFill>
                            <a:srgbClr val="1F2A44"/>
                          </a:solidFill>
                          <a:latin typeface="Noto Sans CJK SC"/>
                        </a:rPr>
                        <a:t>检查环境</a:t>
                      </a:r>
                    </a:p>
                  </a:txBody>
                  <a:tcPr>
                    <a:solidFill>
                      <a:srgbClr val="FFFFFF"/>
                    </a:solidFill>
                  </a:tcPr>
                </a:tc>
                <a:tc>
                  <a:txBody>
                    <a:bodyPr/>
                    <a:lstStyle/>
                    <a:p>
                      <a:r>
                        <a:rPr sz="1300" b="0">
                          <a:solidFill>
                            <a:srgbClr val="1F2A44"/>
                          </a:solidFill>
                          <a:latin typeface="Noto Sans CJK SC"/>
                        </a:rPr>
                        <a:t>7 道题缺旧版函数库等，比对 100% 误报</a:t>
                      </a:r>
                    </a:p>
                  </a:txBody>
                  <a:tcPr>
                    <a:solidFill>
                      <a:srgbClr val="FFFFFF"/>
                    </a:solidFill>
                  </a:tcPr>
                </a:tc>
                <a:tc>
                  <a:txBody>
                    <a:bodyPr/>
                    <a:lstStyle/>
                    <a:p>
                      <a:r>
                        <a:rPr sz="1300" b="0">
                          <a:solidFill>
                            <a:srgbClr val="1F2A44"/>
                          </a:solidFill>
                          <a:latin typeface="Noto Sans CJK SC"/>
                        </a:rPr>
                        <a:t>补齐兼容，28 次运行作废并自动重跑</a:t>
                      </a:r>
                    </a:p>
                  </a:txBody>
                  <a:tcPr>
                    <a:solidFill>
                      <a:srgbClr val="FFFFFF"/>
                    </a:solidFill>
                  </a:tcPr>
                </a:tc>
              </a:tr>
              <a:tr h="560000">
                <a:tc>
                  <a:txBody>
                    <a:bodyPr/>
                    <a:lstStyle/>
                    <a:p>
                      <a:r>
                        <a:rPr sz="1300" b="0">
                          <a:solidFill>
                            <a:srgbClr val="1F2A44"/>
                          </a:solidFill>
                          <a:latin typeface="Noto Sans CJK SC"/>
                        </a:rPr>
                        <a:t>数据泄漏</a:t>
                      </a:r>
                    </a:p>
                  </a:txBody>
                  <a:tcPr>
                    <a:solidFill>
                      <a:srgbClr val="EEF1F5"/>
                    </a:solidFill>
                  </a:tcPr>
                </a:tc>
                <a:tc>
                  <a:txBody>
                    <a:bodyPr/>
                    <a:lstStyle/>
                    <a:p>
                      <a:r>
                        <a:rPr sz="1300" b="0">
                          <a:solidFill>
                            <a:srgbClr val="1F2A44"/>
                          </a:solidFill>
                          <a:latin typeface="Noto Sans CJK SC"/>
                        </a:rPr>
                        <a:t>开发题库残留 git 历史，成功率虚高 25 个百分点</a:t>
                      </a:r>
                    </a:p>
                  </a:txBody>
                  <a:tcPr>
                    <a:solidFill>
                      <a:srgbClr val="EEF1F5"/>
                    </a:solidFill>
                  </a:tcPr>
                </a:tc>
                <a:tc>
                  <a:txBody>
                    <a:bodyPr/>
                    <a:lstStyle/>
                    <a:p>
                      <a:r>
                        <a:rPr sz="1300" b="0">
                          <a:solidFill>
                            <a:srgbClr val="1F2A44"/>
                          </a:solidFill>
                          <a:latin typeface="Noto Sans CJK SC"/>
                        </a:rPr>
                        <a:t>清理历史，旧结果只作记录</a:t>
                      </a:r>
                    </a:p>
                  </a:txBody>
                  <a:tcPr>
                    <a:solidFill>
                      <a:srgbClr val="EEF1F5"/>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20000"/>
            <a:ext cx="11192000" cy="700000"/>
          </a:xfrm>
          <a:prstGeom prst="rect">
            <a:avLst/>
          </a:prstGeom>
          <a:noFill/>
        </p:spPr>
        <p:txBody>
          <a:bodyPr wrap="none">
            <a:spAutoFit/>
          </a:bodyPr>
          <a:lstStyle/>
          <a:p>
            <a:r>
              <a:rPr sz="2800" b="1">
                <a:solidFill>
                  <a:srgbClr val="1F2A44"/>
                </a:solidFill>
                <a:latin typeface="Noto Sans CJK SC"/>
              </a:rPr>
              <a:t>六、发现 1：比对能发现分歧，却分不清谁对 —— 连对的也一起拦下</a:t>
            </a:r>
          </a:p>
          <a:p>
            <a:r>
              <a:rPr sz="1400" b="0">
                <a:solidFill>
                  <a:srgbClr val="555F6D"/>
                </a:solidFill>
                <a:latin typeface="Noto Sans CJK SC"/>
              </a:rPr>
              <a:t>把每次运行按「1 号对不对 × 2 号对不对」分成四种情况，就能解释上页的矛盾</a:t>
            </a:r>
          </a:p>
        </p:txBody>
      </p:sp>
      <p:sp>
        <p:nvSpPr>
          <p:cNvPr id="4" name="TextBox 3"/>
          <p:cNvSpPr txBox="1"/>
          <p:nvPr/>
        </p:nvSpPr>
        <p:spPr>
          <a:xfrm>
            <a:off x="10692000" y="6408000"/>
            <a:ext cx="1200000" cy="300000"/>
          </a:xfrm>
          <a:prstGeom prst="rect">
            <a:avLst/>
          </a:prstGeom>
          <a:noFill/>
        </p:spPr>
        <p:txBody>
          <a:bodyPr wrap="none">
            <a:spAutoFit/>
          </a:bodyPr>
          <a:lstStyle/>
          <a:p>
            <a:r>
              <a:rPr sz="1000" b="0">
                <a:solidFill>
                  <a:srgbClr val="555F6D"/>
                </a:solidFill>
                <a:latin typeface="Noto Sans CJK SC"/>
              </a:rPr>
              <a:t>SciTeam · 21</a:t>
            </a:r>
          </a:p>
        </p:txBody>
      </p:sp>
      <p:graphicFrame>
        <p:nvGraphicFramePr>
          <p:cNvPr id="5" name="Table 4"/>
          <p:cNvGraphicFramePr>
            <a:graphicFrameLocks noGrp="1"/>
          </p:cNvGraphicFramePr>
          <p:nvPr/>
        </p:nvGraphicFramePr>
        <p:xfrm>
          <a:off x="500000" y="1300000"/>
          <a:ext cx="11191997" cy="1920000"/>
        </p:xfrm>
        <a:graphic>
          <a:graphicData uri="http://schemas.openxmlformats.org/drawingml/2006/table">
            <a:tbl>
              <a:tblPr firstRow="1" bandRow="1">
                <a:tableStyleId>{5C22544A-7EE6-4342-B048-85BDC9FD1C3A}</a:tableStyleId>
              </a:tblPr>
              <a:tblGrid>
                <a:gridCol w="2487111"/>
                <a:gridCol w="1598857"/>
                <a:gridCol w="2664761"/>
                <a:gridCol w="1776507"/>
                <a:gridCol w="2664761"/>
              </a:tblGrid>
              <a:tr h="480000">
                <a:tc>
                  <a:txBody>
                    <a:bodyPr/>
                    <a:lstStyle/>
                    <a:p>
                      <a:r>
                        <a:rPr sz="1300" b="1">
                          <a:solidFill>
                            <a:srgbClr val="FFFFFF"/>
                          </a:solidFill>
                          <a:latin typeface="Noto Sans CJK SC"/>
                        </a:rPr>
                        <a:t/>
                      </a:r>
                    </a:p>
                  </a:txBody>
                  <a:tcPr>
                    <a:solidFill>
                      <a:srgbClr val="1F2A44"/>
                    </a:solidFill>
                  </a:tcPr>
                </a:tc>
                <a:tc>
                  <a:txBody>
                    <a:bodyPr/>
                    <a:lstStyle/>
                    <a:p>
                      <a:r>
                        <a:rPr sz="1300" b="1">
                          <a:solidFill>
                            <a:srgbClr val="FFFFFF"/>
                          </a:solidFill>
                          <a:latin typeface="Noto Sans CJK SC"/>
                        </a:rPr>
                        <a:t>两人都对</a:t>
                      </a:r>
                    </a:p>
                  </a:txBody>
                  <a:tcPr>
                    <a:solidFill>
                      <a:srgbClr val="1F2A44"/>
                    </a:solidFill>
                  </a:tcPr>
                </a:tc>
                <a:tc>
                  <a:txBody>
                    <a:bodyPr/>
                    <a:lstStyle/>
                    <a:p>
                      <a:r>
                        <a:rPr sz="1300" b="1">
                          <a:solidFill>
                            <a:srgbClr val="FFFFFF"/>
                          </a:solidFill>
                          <a:latin typeface="Noto Sans CJK SC"/>
                        </a:rPr>
                        <a:t>只有 1 号对</a:t>
                      </a:r>
                    </a:p>
                  </a:txBody>
                  <a:tcPr>
                    <a:solidFill>
                      <a:srgbClr val="1F2A44"/>
                    </a:solidFill>
                  </a:tcPr>
                </a:tc>
                <a:tc>
                  <a:txBody>
                    <a:bodyPr/>
                    <a:lstStyle/>
                    <a:p>
                      <a:r>
                        <a:rPr sz="1300" b="1">
                          <a:solidFill>
                            <a:srgbClr val="FFFFFF"/>
                          </a:solidFill>
                          <a:latin typeface="Noto Sans CJK SC"/>
                        </a:rPr>
                        <a:t>只有 2 号对</a:t>
                      </a:r>
                    </a:p>
                  </a:txBody>
                  <a:tcPr>
                    <a:solidFill>
                      <a:srgbClr val="1F2A44"/>
                    </a:solidFill>
                  </a:tcPr>
                </a:tc>
                <a:tc>
                  <a:txBody>
                    <a:bodyPr/>
                    <a:lstStyle/>
                    <a:p>
                      <a:r>
                        <a:rPr sz="1300" b="1">
                          <a:solidFill>
                            <a:srgbClr val="FFFFFF"/>
                          </a:solidFill>
                          <a:latin typeface="Noto Sans CJK SC"/>
                        </a:rPr>
                        <a:t>两人都错</a:t>
                      </a:r>
                    </a:p>
                  </a:txBody>
                  <a:tcPr>
                    <a:solidFill>
                      <a:srgbClr val="1F2A44"/>
                    </a:solidFill>
                  </a:tcPr>
                </a:tc>
              </a:tr>
              <a:tr h="480000">
                <a:tc>
                  <a:txBody>
                    <a:bodyPr/>
                    <a:lstStyle/>
                    <a:p>
                      <a:r>
                        <a:rPr sz="1300" b="0">
                          <a:solidFill>
                            <a:srgbClr val="1F2A44"/>
                          </a:solidFill>
                          <a:latin typeface="Noto Sans CJK SC"/>
                        </a:rPr>
                        <a:t>对照组（不比对，交 1 号）</a:t>
                      </a:r>
                    </a:p>
                  </a:txBody>
                  <a:tcPr>
                    <a:solidFill>
                      <a:srgbClr val="EEF1F5"/>
                    </a:solidFill>
                  </a:tcPr>
                </a:tc>
                <a:tc>
                  <a:txBody>
                    <a:bodyPr/>
                    <a:lstStyle/>
                    <a:p>
                      <a:r>
                        <a:rPr sz="1300" b="0">
                          <a:solidFill>
                            <a:srgbClr val="1F2A44"/>
                          </a:solidFill>
                          <a:latin typeface="Noto Sans CJK SC"/>
                        </a:rPr>
                        <a:t>17/17 完成 ✔</a:t>
                      </a:r>
                    </a:p>
                  </a:txBody>
                  <a:tcPr>
                    <a:solidFill>
                      <a:srgbClr val="EEF1F5"/>
                    </a:solidFill>
                  </a:tcPr>
                </a:tc>
                <a:tc>
                  <a:txBody>
                    <a:bodyPr/>
                    <a:lstStyle/>
                    <a:p>
                      <a:r>
                        <a:rPr sz="1300" b="1">
                          <a:solidFill>
                            <a:srgbClr val="C0392B"/>
                          </a:solidFill>
                          <a:latin typeface="Noto Sans CJK SC"/>
                        </a:rPr>
                        <a:t>14/14 完成 ✔（白捡的）</a:t>
                      </a:r>
                    </a:p>
                  </a:txBody>
                  <a:tcPr>
                    <a:solidFill>
                      <a:srgbClr val="EEF1F5"/>
                    </a:solidFill>
                  </a:tcPr>
                </a:tc>
                <a:tc>
                  <a:txBody>
                    <a:bodyPr/>
                    <a:lstStyle/>
                    <a:p>
                      <a:r>
                        <a:rPr sz="1300" b="0">
                          <a:solidFill>
                            <a:srgbClr val="1F2A44"/>
                          </a:solidFill>
                          <a:latin typeface="Noto Sans CJK SC"/>
                        </a:rPr>
                        <a:t>12/12 完成 ✘</a:t>
                      </a:r>
                    </a:p>
                  </a:txBody>
                  <a:tcPr>
                    <a:solidFill>
                      <a:srgbClr val="EEF1F5"/>
                    </a:solidFill>
                  </a:tcPr>
                </a:tc>
                <a:tc>
                  <a:txBody>
                    <a:bodyPr/>
                    <a:lstStyle/>
                    <a:p>
                      <a:r>
                        <a:rPr sz="1300" b="0">
                          <a:solidFill>
                            <a:srgbClr val="1F2A44"/>
                          </a:solidFill>
                          <a:latin typeface="Noto Sans CJK SC"/>
                        </a:rPr>
                        <a:t>52/52 完成 ✘（全漏网）</a:t>
                      </a:r>
                    </a:p>
                  </a:txBody>
                  <a:tcPr>
                    <a:solidFill>
                      <a:srgbClr val="EEF1F5"/>
                    </a:solidFill>
                  </a:tcPr>
                </a:tc>
              </a:tr>
              <a:tr h="480000">
                <a:tc>
                  <a:txBody>
                    <a:bodyPr/>
                    <a:lstStyle/>
                    <a:p>
                      <a:r>
                        <a:rPr sz="1300" b="0">
                          <a:solidFill>
                            <a:srgbClr val="1F2A44"/>
                          </a:solidFill>
                          <a:latin typeface="Noto Sans CJK SC"/>
                        </a:rPr>
                        <a:t>同模型双盲</a:t>
                      </a:r>
                    </a:p>
                  </a:txBody>
                  <a:tcPr>
                    <a:solidFill>
                      <a:srgbClr val="FFFFFF"/>
                    </a:solidFill>
                  </a:tcPr>
                </a:tc>
                <a:tc>
                  <a:txBody>
                    <a:bodyPr/>
                    <a:lstStyle/>
                    <a:p>
                      <a:r>
                        <a:rPr sz="1300" b="0">
                          <a:solidFill>
                            <a:srgbClr val="1F2A44"/>
                          </a:solidFill>
                          <a:latin typeface="Noto Sans CJK SC"/>
                        </a:rPr>
                        <a:t>16/17 完成 ✔</a:t>
                      </a:r>
                    </a:p>
                  </a:txBody>
                  <a:tcPr>
                    <a:solidFill>
                      <a:srgbClr val="FFFFFF"/>
                    </a:solidFill>
                  </a:tcPr>
                </a:tc>
                <a:tc>
                  <a:txBody>
                    <a:bodyPr/>
                    <a:lstStyle/>
                    <a:p>
                      <a:r>
                        <a:rPr sz="1300" b="0">
                          <a:solidFill>
                            <a:srgbClr val="1F2A44"/>
                          </a:solidFill>
                          <a:latin typeface="Noto Sans CJK SC"/>
                        </a:rPr>
                        <a:t>0/8（</a:t>
                      </a:r>
                      <a:r>
                        <a:rPr sz="1300" b="1">
                          <a:solidFill>
                            <a:srgbClr val="C0392B"/>
                          </a:solidFill>
                          <a:latin typeface="Noto Sans CJK SC"/>
                        </a:rPr>
                        <a:t>全拦下</a:t>
                      </a:r>
                      <a:r>
                        <a:rPr sz="1300" b="0">
                          <a:solidFill>
                            <a:srgbClr val="1F2A44"/>
                          </a:solidFill>
                          <a:latin typeface="Noto Sans CJK SC"/>
                        </a:rPr>
                        <a:t>）</a:t>
                      </a:r>
                    </a:p>
                  </a:txBody>
                  <a:tcPr>
                    <a:solidFill>
                      <a:srgbClr val="FFFFFF"/>
                    </a:solidFill>
                  </a:tcPr>
                </a:tc>
                <a:tc>
                  <a:txBody>
                    <a:bodyPr/>
                    <a:lstStyle/>
                    <a:p>
                      <a:r>
                        <a:rPr sz="1300" b="0">
                          <a:solidFill>
                            <a:srgbClr val="1F2A44"/>
                          </a:solidFill>
                          <a:latin typeface="Noto Sans CJK SC"/>
                        </a:rPr>
                        <a:t>0/5（全拦下）</a:t>
                      </a:r>
                    </a:p>
                  </a:txBody>
                  <a:tcPr>
                    <a:solidFill>
                      <a:srgbClr val="FFFFFF"/>
                    </a:solidFill>
                  </a:tcPr>
                </a:tc>
                <a:tc>
                  <a:txBody>
                    <a:bodyPr/>
                    <a:lstStyle/>
                    <a:p>
                      <a:r>
                        <a:rPr sz="1300" b="0">
                          <a:solidFill>
                            <a:srgbClr val="1F2A44"/>
                          </a:solidFill>
                          <a:latin typeface="Noto Sans CJK SC"/>
                        </a:rPr>
                        <a:t>33/48 完成 ✘（拦下 31%）</a:t>
                      </a:r>
                    </a:p>
                  </a:txBody>
                  <a:tcPr>
                    <a:solidFill>
                      <a:srgbClr val="FFFFFF"/>
                    </a:solidFill>
                  </a:tcPr>
                </a:tc>
              </a:tr>
              <a:tr h="480000">
                <a:tc>
                  <a:txBody>
                    <a:bodyPr/>
                    <a:lstStyle/>
                    <a:p>
                      <a:r>
                        <a:rPr sz="1300" b="0">
                          <a:solidFill>
                            <a:srgbClr val="1F2A44"/>
                          </a:solidFill>
                          <a:latin typeface="Noto Sans CJK SC"/>
                        </a:rPr>
                        <a:t>跨模型双盲</a:t>
                      </a:r>
                    </a:p>
                  </a:txBody>
                  <a:tcPr>
                    <a:solidFill>
                      <a:srgbClr val="EEF1F5"/>
                    </a:solidFill>
                  </a:tcPr>
                </a:tc>
                <a:tc>
                  <a:txBody>
                    <a:bodyPr/>
                    <a:lstStyle/>
                    <a:p>
                      <a:r>
                        <a:rPr sz="1300" b="0">
                          <a:solidFill>
                            <a:srgbClr val="1F2A44"/>
                          </a:solidFill>
                          <a:latin typeface="Noto Sans CJK SC"/>
                        </a:rPr>
                        <a:t>15/15 完成 ✔</a:t>
                      </a:r>
                    </a:p>
                  </a:txBody>
                  <a:tcPr>
                    <a:solidFill>
                      <a:srgbClr val="EEF1F5"/>
                    </a:solidFill>
                  </a:tcPr>
                </a:tc>
                <a:tc>
                  <a:txBody>
                    <a:bodyPr/>
                    <a:lstStyle/>
                    <a:p>
                      <a:r>
                        <a:rPr sz="1300" b="0">
                          <a:solidFill>
                            <a:srgbClr val="1F2A44"/>
                          </a:solidFill>
                          <a:latin typeface="Noto Sans CJK SC"/>
                        </a:rPr>
                        <a:t>0/2（</a:t>
                      </a:r>
                      <a:r>
                        <a:rPr sz="1300" b="1">
                          <a:solidFill>
                            <a:srgbClr val="C0392B"/>
                          </a:solidFill>
                          <a:latin typeface="Noto Sans CJK SC"/>
                        </a:rPr>
                        <a:t>全拦下</a:t>
                      </a:r>
                      <a:r>
                        <a:rPr sz="1300" b="0">
                          <a:solidFill>
                            <a:srgbClr val="1F2A44"/>
                          </a:solidFill>
                          <a:latin typeface="Noto Sans CJK SC"/>
                        </a:rPr>
                        <a:t>）</a:t>
                      </a:r>
                    </a:p>
                  </a:txBody>
                  <a:tcPr>
                    <a:solidFill>
                      <a:srgbClr val="EEF1F5"/>
                    </a:solidFill>
                  </a:tcPr>
                </a:tc>
                <a:tc>
                  <a:txBody>
                    <a:bodyPr/>
                    <a:lstStyle/>
                    <a:p>
                      <a:r>
                        <a:rPr sz="1300" b="0">
                          <a:solidFill>
                            <a:srgbClr val="1F2A44"/>
                          </a:solidFill>
                          <a:latin typeface="Noto Sans CJK SC"/>
                        </a:rPr>
                        <a:t>0/8（全拦下）</a:t>
                      </a:r>
                    </a:p>
                  </a:txBody>
                  <a:tcPr>
                    <a:solidFill>
                      <a:srgbClr val="EEF1F5"/>
                    </a:solidFill>
                  </a:tcPr>
                </a:tc>
                <a:tc>
                  <a:txBody>
                    <a:bodyPr/>
                    <a:lstStyle/>
                    <a:p>
                      <a:r>
                        <a:rPr sz="1300" b="0">
                          <a:solidFill>
                            <a:srgbClr val="1F2A44"/>
                          </a:solidFill>
                          <a:latin typeface="Noto Sans CJK SC"/>
                        </a:rPr>
                        <a:t>29/54 完成 ✘（拦下 46%）</a:t>
                      </a:r>
                    </a:p>
                  </a:txBody>
                  <a:tcPr>
                    <a:solidFill>
                      <a:srgbClr val="EEF1F5"/>
                    </a:solidFill>
                  </a:tcPr>
                </a:tc>
              </a:tr>
            </a:tbl>
          </a:graphicData>
        </a:graphic>
      </p:graphicFrame>
      <p:sp>
        <p:nvSpPr>
          <p:cNvPr id="6" name="TextBox 5"/>
          <p:cNvSpPr txBox="1"/>
          <p:nvPr/>
        </p:nvSpPr>
        <p:spPr>
          <a:xfrm>
            <a:off x="500000" y="3350000"/>
            <a:ext cx="11192000" cy="5058000"/>
          </a:xfrm>
          <a:prstGeom prst="rect">
            <a:avLst/>
          </a:prstGeom>
          <a:noFill/>
        </p:spPr>
        <p:txBody>
          <a:bodyPr wrap="square">
            <a:spAutoFit/>
          </a:bodyPr>
          <a:lstStyle/>
          <a:p>
            <a:pPr>
              <a:spcAft>
                <a:spcPts val="600"/>
              </a:spcAft>
            </a:pPr>
            <a:r>
              <a:rPr sz="1500" b="0">
                <a:solidFill>
                  <a:srgbClr val="555F6D"/>
                </a:solidFill>
                <a:latin typeface="Noto Sans CJK SC"/>
              </a:rPr>
              <a:t>• </a:t>
            </a:r>
            <a:r>
              <a:rPr sz="1500" b="0">
                <a:solidFill>
                  <a:srgbClr val="1F2A44"/>
                </a:solidFill>
                <a:latin typeface="Noto Sans CJK SC"/>
              </a:rPr>
              <a:t>对照组 31 次真正全对里，</a:t>
            </a:r>
            <a:r>
              <a:rPr sz="1500" b="1">
                <a:solidFill>
                  <a:srgbClr val="C0392B"/>
                </a:solidFill>
                <a:latin typeface="Noto Sans CJK SC"/>
              </a:rPr>
              <a:t>14 次（45%）是「恰好 1 号做对了」白捡的</a:t>
            </a:r>
          </a:p>
          <a:p>
            <a:pPr>
              <a:spcAft>
                <a:spcPts val="600"/>
              </a:spcAft>
            </a:pPr>
            <a:r>
              <a:rPr sz="1500" b="0">
                <a:solidFill>
                  <a:srgbClr val="555F6D"/>
                </a:solidFill>
                <a:latin typeface="Noto Sans CJK SC"/>
              </a:rPr>
              <a:t>• </a:t>
            </a:r>
            <a:r>
              <a:rPr sz="1500" b="0">
                <a:solidFill>
                  <a:srgbClr val="1F2A44"/>
                </a:solidFill>
                <a:latin typeface="Noto Sans CJK SC"/>
              </a:rPr>
              <a:t>比对能 100% 发现「一对一错」，但只看输出、</a:t>
            </a:r>
            <a:r>
              <a:rPr sz="1500" b="1">
                <a:solidFill>
                  <a:srgbClr val="C0392B"/>
                </a:solidFill>
                <a:latin typeface="Noto Sans CJK SC"/>
              </a:rPr>
              <a:t>分不清谁对</a:t>
            </a:r>
            <a:r>
              <a:rPr sz="1500" b="0">
                <a:solidFill>
                  <a:srgbClr val="1F2A44"/>
                </a:solidFill>
                <a:latin typeface="Noto Sans CJK SC"/>
              </a:rPr>
              <a:t>，只好连对的那份一起拦下</a:t>
            </a:r>
          </a:p>
          <a:p>
            <a:pPr>
              <a:spcAft>
                <a:spcPts val="600"/>
              </a:spcAft>
            </a:pPr>
            <a:r>
              <a:rPr sz="1500" b="0">
                <a:solidFill>
                  <a:srgbClr val="555F6D"/>
                </a:solidFill>
                <a:latin typeface="Noto Sans CJK SC"/>
              </a:rPr>
              <a:t>• </a:t>
            </a:r>
            <a:r>
              <a:rPr sz="1500" b="0">
                <a:solidFill>
                  <a:srgbClr val="1F2A44"/>
                </a:solidFill>
                <a:latin typeface="Noto Sans CJK SC"/>
              </a:rPr>
              <a:t>结果：真正全对和错误完成</a:t>
            </a:r>
            <a:r>
              <a:rPr sz="1500" b="1">
                <a:solidFill>
                  <a:srgbClr val="C0392B"/>
                </a:solidFill>
                <a:latin typeface="Noto Sans CJK SC"/>
              </a:rPr>
              <a:t>同比例减少</a:t>
            </a:r>
            <a:r>
              <a:rPr sz="1500" b="0">
                <a:solidFill>
                  <a:srgbClr val="1F2A44"/>
                </a:solidFill>
                <a:latin typeface="Noto Sans CJK SC"/>
              </a:rPr>
              <a:t> → 「完成」的可信度不变</a:t>
            </a:r>
          </a:p>
          <a:p>
            <a:pPr>
              <a:spcAft>
                <a:spcPts val="600"/>
              </a:spcAft>
            </a:pPr>
            <a:r>
              <a:rPr sz="1500" b="0">
                <a:solidFill>
                  <a:srgbClr val="555F6D"/>
                </a:solidFill>
                <a:latin typeface="Noto Sans CJK SC"/>
              </a:rPr>
              <a:t>• </a:t>
            </a:r>
            <a:r>
              <a:rPr sz="1500" b="0">
                <a:solidFill>
                  <a:srgbClr val="1F2A44"/>
                </a:solidFill>
                <a:latin typeface="Noto Sans CJK SC"/>
              </a:rPr>
              <a:t>→ 下一步：检查者要</a:t>
            </a:r>
            <a:r>
              <a:rPr sz="1500" b="1">
                <a:solidFill>
                  <a:srgbClr val="C0392B"/>
                </a:solidFill>
                <a:latin typeface="Noto Sans CJK SC"/>
              </a:rPr>
              <a:t>看推导过程、指出哪一方错了</a:t>
            </a:r>
            <a:r>
              <a:rPr sz="1500" b="0">
                <a:solidFill>
                  <a:srgbClr val="1F2A44"/>
                </a:solidFill>
                <a:latin typeface="Noto Sans CJK SC"/>
              </a:rPr>
              <a:t>，只退回错的一方（这正是 X-cog 要检验的）</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20000"/>
            <a:ext cx="11192000" cy="700000"/>
          </a:xfrm>
          <a:prstGeom prst="rect">
            <a:avLst/>
          </a:prstGeom>
          <a:noFill/>
        </p:spPr>
        <p:txBody>
          <a:bodyPr wrap="none">
            <a:spAutoFit/>
          </a:bodyPr>
          <a:lstStyle/>
          <a:p>
            <a:r>
              <a:rPr sz="2800" b="1">
                <a:solidFill>
                  <a:srgbClr val="1F2A44"/>
                </a:solidFill>
                <a:latin typeface="Noto Sans CJK SC"/>
              </a:rPr>
              <a:t>六、发现 2：AI「知道自己会被同伴核对」后，单干表现明显变好？</a:t>
            </a:r>
          </a:p>
          <a:p>
            <a:r>
              <a:rPr sz="1400" b="0">
                <a:solidFill>
                  <a:srgbClr val="555F6D"/>
                </a:solidFill>
                <a:latin typeface="Noto Sans CJK SC"/>
              </a:rPr>
              <a:t>这条推翻了我们实验前的预测，很有意思，但还需要专门实验确认</a:t>
            </a:r>
          </a:p>
        </p:txBody>
      </p:sp>
      <p:sp>
        <p:nvSpPr>
          <p:cNvPr id="4" name="TextBox 3"/>
          <p:cNvSpPr txBox="1"/>
          <p:nvPr/>
        </p:nvSpPr>
        <p:spPr>
          <a:xfrm>
            <a:off x="10692000" y="6408000"/>
            <a:ext cx="1200000" cy="300000"/>
          </a:xfrm>
          <a:prstGeom prst="rect">
            <a:avLst/>
          </a:prstGeom>
          <a:noFill/>
        </p:spPr>
        <p:txBody>
          <a:bodyPr wrap="none">
            <a:spAutoFit/>
          </a:bodyPr>
          <a:lstStyle/>
          <a:p>
            <a:r>
              <a:rPr sz="1000" b="0">
                <a:solidFill>
                  <a:srgbClr val="555F6D"/>
                </a:solidFill>
                <a:latin typeface="Noto Sans CJK SC"/>
              </a:rPr>
              <a:t>SciTeam · 22</a:t>
            </a:r>
          </a:p>
        </p:txBody>
      </p:sp>
      <p:graphicFrame>
        <p:nvGraphicFramePr>
          <p:cNvPr id="5" name="Chart 4"/>
          <p:cNvGraphicFramePr>
            <a:graphicFrameLocks noGrp="1"/>
          </p:cNvGraphicFramePr>
          <p:nvPr/>
        </p:nvGraphicFramePr>
        <p:xfrm>
          <a:off x="500000" y="1300000"/>
          <a:ext cx="6000000" cy="4200000"/>
        </p:xfrm>
        <a:graphic>
          <a:graphicData uri="http://schemas.openxmlformats.org/drawingml/2006/chart">
            <c:chart xmlns:c="http://schemas.openxmlformats.org/drawingml/2006/chart" r:id="rId3"/>
          </a:graphicData>
        </a:graphic>
      </p:graphicFrame>
      <p:sp>
        <p:nvSpPr>
          <p:cNvPr id="6" name="TextBox 5"/>
          <p:cNvSpPr txBox="1"/>
          <p:nvPr/>
        </p:nvSpPr>
        <p:spPr>
          <a:xfrm>
            <a:off x="6700000" y="1400000"/>
            <a:ext cx="5000000" cy="5058000"/>
          </a:xfrm>
          <a:prstGeom prst="rect">
            <a:avLst/>
          </a:prstGeom>
          <a:noFill/>
        </p:spPr>
        <p:txBody>
          <a:bodyPr wrap="square">
            <a:spAutoFit/>
          </a:bodyPr>
          <a:lstStyle/>
          <a:p>
            <a:pPr>
              <a:spcAft>
                <a:spcPts val="600"/>
              </a:spcAft>
            </a:pPr>
            <a:r>
              <a:rPr sz="1400" b="0">
                <a:solidFill>
                  <a:srgbClr val="555F6D"/>
                </a:solidFill>
                <a:latin typeface="Noto Sans CJK SC"/>
              </a:rPr>
              <a:t>• </a:t>
            </a:r>
            <a:r>
              <a:rPr sz="1400" b="0">
                <a:solidFill>
                  <a:srgbClr val="1F2A44"/>
                </a:solidFill>
                <a:latin typeface="Noto Sans CJK SC"/>
              </a:rPr>
              <a:t>实验前预测：对照组 1 号 ≈ 单人基线 19%（±5 个百分点）</a:t>
            </a:r>
          </a:p>
          <a:p>
            <a:pPr>
              <a:spcAft>
                <a:spcPts val="600"/>
              </a:spcAft>
            </a:pPr>
            <a:r>
              <a:rPr sz="1400" b="0">
                <a:solidFill>
                  <a:srgbClr val="555F6D"/>
                </a:solidFill>
                <a:latin typeface="Noto Sans CJK SC"/>
              </a:rPr>
              <a:t>• </a:t>
            </a:r>
            <a:r>
              <a:rPr sz="1400" b="0">
                <a:solidFill>
                  <a:srgbClr val="1F2A44"/>
                </a:solidFill>
                <a:latin typeface="Noto Sans CJK SC"/>
              </a:rPr>
              <a:t>实测 </a:t>
            </a:r>
            <a:r>
              <a:rPr sz="1400" b="1">
                <a:solidFill>
                  <a:srgbClr val="C0392B"/>
                </a:solidFill>
                <a:latin typeface="Noto Sans CJK SC"/>
              </a:rPr>
              <a:t>32.6%</a:t>
            </a:r>
            <a:r>
              <a:rPr sz="1400" b="0">
                <a:solidFill>
                  <a:srgbClr val="1F2A44"/>
                </a:solidFill>
                <a:latin typeface="Noto Sans CJK SC"/>
              </a:rPr>
              <a:t>，高出约 14 个百分点</a:t>
            </a:r>
          </a:p>
          <a:p>
            <a:pPr>
              <a:spcAft>
                <a:spcPts val="600"/>
              </a:spcAft>
            </a:pPr>
            <a:r>
              <a:rPr sz="1400" b="0">
                <a:solidFill>
                  <a:srgbClr val="555F6D"/>
                </a:solidFill>
                <a:latin typeface="Noto Sans CJK SC"/>
              </a:rPr>
              <a:t>• </a:t>
            </a:r>
            <a:r>
              <a:rPr sz="1400" b="0">
                <a:solidFill>
                  <a:srgbClr val="1F2A44"/>
                </a:solidFill>
                <a:latin typeface="Noto Sans CJK SC"/>
              </a:rPr>
              <a:t>可能的原因：任务说明写着「你的输出必须与另一位实现者</a:t>
            </a:r>
            <a:r>
              <a:rPr sz="1400" b="1">
                <a:solidFill>
                  <a:srgbClr val="C0392B"/>
                </a:solidFill>
                <a:latin typeface="Noto Sans CJK SC"/>
              </a:rPr>
              <a:t>完全一致</a:t>
            </a:r>
            <a:r>
              <a:rPr sz="1400" b="0">
                <a:solidFill>
                  <a:srgbClr val="1F2A44"/>
                </a:solidFill>
                <a:latin typeface="Noto Sans CJK SC"/>
              </a:rPr>
              <a:t>才会被接受」—— 对照组其实不比对，但 AI 不知道；抽查发现它们自写了大量边界测试</a:t>
            </a:r>
          </a:p>
          <a:p>
            <a:pPr>
              <a:spcAft>
                <a:spcPts val="600"/>
              </a:spcAft>
            </a:pPr>
            <a:r>
              <a:rPr sz="1400" b="0">
                <a:solidFill>
                  <a:srgbClr val="555F6D"/>
                </a:solidFill>
                <a:latin typeface="Noto Sans CJK SC"/>
              </a:rPr>
              <a:t>• </a:t>
            </a:r>
            <a:r>
              <a:rPr sz="1400" b="1">
                <a:solidFill>
                  <a:srgbClr val="C0392B"/>
                </a:solidFill>
                <a:latin typeface="Noto Sans CJK SC"/>
              </a:rPr>
              <a:t>还不能下结论</a:t>
            </a:r>
            <a:r>
              <a:rPr sz="1400" b="0">
                <a:solidFill>
                  <a:srgbClr val="1F2A44"/>
                </a:solidFill>
                <a:latin typeface="Noto Sans CJK SC"/>
              </a:rPr>
              <a:t>：措辞、私人文件夹、两人流程同时不同；同样的 flash 在跨模型组只有 21.5%</a:t>
            </a:r>
          </a:p>
          <a:p>
            <a:pPr>
              <a:spcAft>
                <a:spcPts val="600"/>
              </a:spcAft>
            </a:pPr>
            <a:r>
              <a:rPr sz="1400" b="0">
                <a:solidFill>
                  <a:srgbClr val="555F6D"/>
                </a:solidFill>
                <a:latin typeface="Noto Sans CJK SC"/>
              </a:rPr>
              <a:t>• </a:t>
            </a:r>
            <a:r>
              <a:rPr sz="1400" b="0">
                <a:solidFill>
                  <a:srgbClr val="1F2A44"/>
                </a:solidFill>
                <a:latin typeface="Noto Sans CJK SC"/>
              </a:rPr>
              <a:t>要确认：做一个「只改是否告知会被比对」的单人对照</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20000"/>
            <a:ext cx="11192000" cy="700000"/>
          </a:xfrm>
          <a:prstGeom prst="rect">
            <a:avLst/>
          </a:prstGeom>
          <a:noFill/>
        </p:spPr>
        <p:txBody>
          <a:bodyPr wrap="none">
            <a:spAutoFit/>
          </a:bodyPr>
          <a:lstStyle/>
          <a:p>
            <a:r>
              <a:rPr sz="2800" b="1">
                <a:solidFill>
                  <a:srgbClr val="1F2A44"/>
                </a:solidFill>
                <a:latin typeface="Noto Sans CJK SC"/>
              </a:rPr>
              <a:t>六、发现 3：只告诉「哪一步不一致」，两人会一起改向同一个常见错误</a:t>
            </a:r>
          </a:p>
          <a:p>
            <a:r>
              <a:rPr sz="1400" b="0">
                <a:solidFill>
                  <a:srgbClr val="555F6D"/>
                </a:solidFill>
                <a:latin typeface="Noto Sans CJK SC"/>
              </a:rPr>
              <a:t>把团队完成的任务分成：第一次比对就一致 / 各自再查一轮后才一致</a:t>
            </a:r>
          </a:p>
        </p:txBody>
      </p:sp>
      <p:sp>
        <p:nvSpPr>
          <p:cNvPr id="4" name="TextBox 3"/>
          <p:cNvSpPr txBox="1"/>
          <p:nvPr/>
        </p:nvSpPr>
        <p:spPr>
          <a:xfrm>
            <a:off x="10692000" y="6408000"/>
            <a:ext cx="1200000" cy="300000"/>
          </a:xfrm>
          <a:prstGeom prst="rect">
            <a:avLst/>
          </a:prstGeom>
          <a:noFill/>
        </p:spPr>
        <p:txBody>
          <a:bodyPr wrap="none">
            <a:spAutoFit/>
          </a:bodyPr>
          <a:lstStyle/>
          <a:p>
            <a:r>
              <a:rPr sz="1000" b="0">
                <a:solidFill>
                  <a:srgbClr val="555F6D"/>
                </a:solidFill>
                <a:latin typeface="Noto Sans CJK SC"/>
              </a:rPr>
              <a:t>SciTeam · 23</a:t>
            </a:r>
          </a:p>
        </p:txBody>
      </p:sp>
      <p:graphicFrame>
        <p:nvGraphicFramePr>
          <p:cNvPr id="5" name="Table 4"/>
          <p:cNvGraphicFramePr>
            <a:graphicFrameLocks noGrp="1"/>
          </p:cNvGraphicFramePr>
          <p:nvPr/>
        </p:nvGraphicFramePr>
        <p:xfrm>
          <a:off x="500000" y="1300000"/>
          <a:ext cx="11191998" cy="1440000"/>
        </p:xfrm>
        <a:graphic>
          <a:graphicData uri="http://schemas.openxmlformats.org/drawingml/2006/table">
            <a:tbl>
              <a:tblPr firstRow="1" bandRow="1">
                <a:tableStyleId>{5C22544A-7EE6-4342-B048-85BDC9FD1C3A}</a:tableStyleId>
              </a:tblPr>
              <a:tblGrid>
                <a:gridCol w="1865333"/>
                <a:gridCol w="3730666"/>
                <a:gridCol w="3730666"/>
                <a:gridCol w="1865333"/>
              </a:tblGrid>
              <a:tr h="480000">
                <a:tc>
                  <a:txBody>
                    <a:bodyPr/>
                    <a:lstStyle/>
                    <a:p>
                      <a:r>
                        <a:rPr sz="1400" b="1">
                          <a:solidFill>
                            <a:srgbClr val="FFFFFF"/>
                          </a:solidFill>
                          <a:latin typeface="Noto Sans CJK SC"/>
                        </a:rPr>
                        <a:t/>
                      </a:r>
                    </a:p>
                  </a:txBody>
                  <a:tcPr>
                    <a:solidFill>
                      <a:srgbClr val="1F2A44"/>
                    </a:solidFill>
                  </a:tcPr>
                </a:tc>
                <a:tc>
                  <a:txBody>
                    <a:bodyPr/>
                    <a:lstStyle/>
                    <a:p>
                      <a:r>
                        <a:rPr sz="1400" b="1">
                          <a:solidFill>
                            <a:srgbClr val="FFFFFF"/>
                          </a:solidFill>
                          <a:latin typeface="Noto Sans CJK SC"/>
                        </a:rPr>
                        <a:t>第一次比对就一致（真对 / 其实错，精确率）</a:t>
                      </a:r>
                    </a:p>
                  </a:txBody>
                  <a:tcPr>
                    <a:solidFill>
                      <a:srgbClr val="1F2A44"/>
                    </a:solidFill>
                  </a:tcPr>
                </a:tc>
                <a:tc>
                  <a:txBody>
                    <a:bodyPr/>
                    <a:lstStyle/>
                    <a:p>
                      <a:r>
                        <a:rPr sz="1400" b="1">
                          <a:solidFill>
                            <a:srgbClr val="FFFFFF"/>
                          </a:solidFill>
                          <a:latin typeface="Noto Sans CJK SC"/>
                        </a:rPr>
                        <a:t>再查一轮后才一致（真对 / 其实错，精确率）</a:t>
                      </a:r>
                    </a:p>
                  </a:txBody>
                  <a:tcPr>
                    <a:solidFill>
                      <a:srgbClr val="1F2A44"/>
                    </a:solidFill>
                  </a:tcPr>
                </a:tc>
                <a:tc>
                  <a:txBody>
                    <a:bodyPr/>
                    <a:lstStyle/>
                    <a:p>
                      <a:r>
                        <a:rPr sz="1400" b="1">
                          <a:solidFill>
                            <a:srgbClr val="FFFFFF"/>
                          </a:solidFill>
                          <a:latin typeface="Noto Sans CJK SC"/>
                        </a:rPr>
                        <a:t>合计精确率</a:t>
                      </a:r>
                    </a:p>
                  </a:txBody>
                  <a:tcPr>
                    <a:solidFill>
                      <a:srgbClr val="1F2A44"/>
                    </a:solidFill>
                  </a:tcPr>
                </a:tc>
              </a:tr>
              <a:tr h="480000">
                <a:tc>
                  <a:txBody>
                    <a:bodyPr/>
                    <a:lstStyle/>
                    <a:p>
                      <a:r>
                        <a:rPr sz="1400" b="0">
                          <a:solidFill>
                            <a:srgbClr val="1F2A44"/>
                          </a:solidFill>
                          <a:latin typeface="Noto Sans CJK SC"/>
                        </a:rPr>
                        <a:t>同模型双盲</a:t>
                      </a:r>
                    </a:p>
                  </a:txBody>
                  <a:tcPr>
                    <a:solidFill>
                      <a:srgbClr val="EEF1F5"/>
                    </a:solidFill>
                  </a:tcPr>
                </a:tc>
                <a:tc>
                  <a:txBody>
                    <a:bodyPr/>
                    <a:lstStyle/>
                    <a:p>
                      <a:r>
                        <a:rPr sz="1400" b="0">
                          <a:solidFill>
                            <a:srgbClr val="1F2A44"/>
                          </a:solidFill>
                          <a:latin typeface="Noto Sans CJK SC"/>
                        </a:rPr>
                        <a:t>12 / 26，0.316</a:t>
                      </a:r>
                    </a:p>
                  </a:txBody>
                  <a:tcPr>
                    <a:solidFill>
                      <a:srgbClr val="EEF1F5"/>
                    </a:solidFill>
                  </a:tcPr>
                </a:tc>
                <a:tc>
                  <a:txBody>
                    <a:bodyPr/>
                    <a:lstStyle/>
                    <a:p>
                      <a:r>
                        <a:rPr sz="1400" b="0">
                          <a:solidFill>
                            <a:srgbClr val="1F2A44"/>
                          </a:solidFill>
                          <a:latin typeface="Noto Sans CJK SC"/>
                        </a:rPr>
                        <a:t>4 / 7，0.364</a:t>
                      </a:r>
                    </a:p>
                  </a:txBody>
                  <a:tcPr>
                    <a:solidFill>
                      <a:srgbClr val="EEF1F5"/>
                    </a:solidFill>
                  </a:tcPr>
                </a:tc>
                <a:tc>
                  <a:txBody>
                    <a:bodyPr/>
                    <a:lstStyle/>
                    <a:p>
                      <a:r>
                        <a:rPr sz="1400" b="0">
                          <a:solidFill>
                            <a:srgbClr val="1F2A44"/>
                          </a:solidFill>
                          <a:latin typeface="Noto Sans CJK SC"/>
                        </a:rPr>
                        <a:t>0.327</a:t>
                      </a:r>
                    </a:p>
                  </a:txBody>
                  <a:tcPr>
                    <a:solidFill>
                      <a:srgbClr val="EEF1F5"/>
                    </a:solidFill>
                  </a:tcPr>
                </a:tc>
              </a:tr>
              <a:tr h="480000">
                <a:tc>
                  <a:txBody>
                    <a:bodyPr/>
                    <a:lstStyle/>
                    <a:p>
                      <a:r>
                        <a:rPr sz="1400" b="0">
                          <a:solidFill>
                            <a:srgbClr val="1F2A44"/>
                          </a:solidFill>
                          <a:latin typeface="Noto Sans CJK SC"/>
                        </a:rPr>
                        <a:t>跨模型双盲</a:t>
                      </a:r>
                    </a:p>
                  </a:txBody>
                  <a:tcPr>
                    <a:solidFill>
                      <a:srgbClr val="FFFFFF"/>
                    </a:solidFill>
                  </a:tcPr>
                </a:tc>
                <a:tc>
                  <a:txBody>
                    <a:bodyPr/>
                    <a:lstStyle/>
                    <a:p>
                      <a:r>
                        <a:rPr sz="1400" b="1">
                          <a:solidFill>
                            <a:srgbClr val="C0392B"/>
                          </a:solidFill>
                          <a:latin typeface="Noto Sans CJK SC"/>
                        </a:rPr>
                        <a:t>10 / 14，0.417</a:t>
                      </a:r>
                    </a:p>
                  </a:txBody>
                  <a:tcPr>
                    <a:solidFill>
                      <a:srgbClr val="FFFFFF"/>
                    </a:solidFill>
                  </a:tcPr>
                </a:tc>
                <a:tc>
                  <a:txBody>
                    <a:bodyPr/>
                    <a:lstStyle/>
                    <a:p>
                      <a:r>
                        <a:rPr sz="1400" b="0">
                          <a:solidFill>
                            <a:srgbClr val="1F2A44"/>
                          </a:solidFill>
                          <a:latin typeface="Noto Sans CJK SC"/>
                        </a:rPr>
                        <a:t>5 / </a:t>
                      </a:r>
                      <a:r>
                        <a:rPr sz="1400" b="1">
                          <a:solidFill>
                            <a:srgbClr val="C0392B"/>
                          </a:solidFill>
                          <a:latin typeface="Noto Sans CJK SC"/>
                        </a:rPr>
                        <a:t>15</a:t>
                      </a:r>
                      <a:r>
                        <a:rPr sz="1400" b="0">
                          <a:solidFill>
                            <a:srgbClr val="1F2A44"/>
                          </a:solidFill>
                          <a:latin typeface="Noto Sans CJK SC"/>
                        </a:rPr>
                        <a:t>，0.250</a:t>
                      </a:r>
                    </a:p>
                  </a:txBody>
                  <a:tcPr>
                    <a:solidFill>
                      <a:srgbClr val="FFFFFF"/>
                    </a:solidFill>
                  </a:tcPr>
                </a:tc>
                <a:tc>
                  <a:txBody>
                    <a:bodyPr/>
                    <a:lstStyle/>
                    <a:p>
                      <a:r>
                        <a:rPr sz="1400" b="0">
                          <a:solidFill>
                            <a:srgbClr val="1F2A44"/>
                          </a:solidFill>
                          <a:latin typeface="Noto Sans CJK SC"/>
                        </a:rPr>
                        <a:t>0.341</a:t>
                      </a:r>
                    </a:p>
                  </a:txBody>
                  <a:tcPr>
                    <a:solidFill>
                      <a:srgbClr val="FFFFFF"/>
                    </a:solidFill>
                  </a:tcPr>
                </a:tc>
              </a:tr>
            </a:tbl>
          </a:graphicData>
        </a:graphic>
      </p:graphicFrame>
      <p:sp>
        <p:nvSpPr>
          <p:cNvPr id="6" name="TextBox 5"/>
          <p:cNvSpPr txBox="1"/>
          <p:nvPr/>
        </p:nvSpPr>
        <p:spPr>
          <a:xfrm>
            <a:off x="500000" y="2500000"/>
            <a:ext cx="11192000" cy="5058000"/>
          </a:xfrm>
          <a:prstGeom prst="rect">
            <a:avLst/>
          </a:prstGeom>
          <a:noFill/>
        </p:spPr>
        <p:txBody>
          <a:bodyPr wrap="square">
            <a:spAutoFit/>
          </a:bodyPr>
          <a:lstStyle/>
          <a:p>
            <a:pPr>
              <a:spcAft>
                <a:spcPts val="600"/>
              </a:spcAft>
            </a:pPr>
            <a:r>
              <a:rPr sz="1500" b="0">
                <a:solidFill>
                  <a:srgbClr val="555F6D"/>
                </a:solidFill>
                <a:latin typeface="Noto Sans CJK SC"/>
              </a:rPr>
              <a:t>• </a:t>
            </a:r>
            <a:r>
              <a:rPr sz="1500" b="0">
                <a:solidFill>
                  <a:srgbClr val="1F2A44"/>
                </a:solidFill>
                <a:latin typeface="Noto Sans CJK SC"/>
              </a:rPr>
              <a:t>跨模型组第一次比对就一致时，精确率 </a:t>
            </a:r>
            <a:r>
              <a:rPr sz="1500" b="1">
                <a:solidFill>
                  <a:srgbClr val="C0392B"/>
                </a:solidFill>
                <a:latin typeface="Noto Sans CJK SC"/>
              </a:rPr>
              <a:t>0.417</a:t>
            </a:r>
            <a:r>
              <a:rPr sz="1500" b="0">
                <a:solidFill>
                  <a:srgbClr val="1F2A44"/>
                </a:solidFill>
                <a:latin typeface="Noto Sans CJK SC"/>
              </a:rPr>
              <a:t>，比对照组高 9 个百分点 —— 首轮独立比对最有价值</a:t>
            </a:r>
          </a:p>
          <a:p>
            <a:pPr>
              <a:spcAft>
                <a:spcPts val="600"/>
              </a:spcAft>
            </a:pPr>
            <a:r>
              <a:rPr sz="1500" b="0">
                <a:solidFill>
                  <a:srgbClr val="555F6D"/>
                </a:solidFill>
                <a:latin typeface="Noto Sans CJK SC"/>
              </a:rPr>
              <a:t>• </a:t>
            </a:r>
            <a:r>
              <a:rPr sz="1500" b="0">
                <a:solidFill>
                  <a:srgbClr val="1F2A44"/>
                </a:solidFill>
                <a:latin typeface="Noto Sans CJK SC"/>
              </a:rPr>
              <a:t>第二轮确实救回了 5 个真解，但同时多出 </a:t>
            </a:r>
            <a:r>
              <a:rPr sz="1500" b="1">
                <a:solidFill>
                  <a:srgbClr val="C0392B"/>
                </a:solidFill>
                <a:latin typeface="Noto Sans CJK SC"/>
              </a:rPr>
              <a:t>15 个错误完成</a:t>
            </a:r>
          </a:p>
          <a:p>
            <a:pPr>
              <a:spcAft>
                <a:spcPts val="600"/>
              </a:spcAft>
            </a:pPr>
            <a:r>
              <a:rPr sz="1500" b="0">
                <a:solidFill>
                  <a:srgbClr val="555F6D"/>
                </a:solidFill>
                <a:latin typeface="Noto Sans CJK SC"/>
              </a:rPr>
              <a:t>• </a:t>
            </a:r>
            <a:r>
              <a:rPr sz="1500" b="0">
                <a:solidFill>
                  <a:srgbClr val="1F2A44"/>
                </a:solidFill>
                <a:latin typeface="Noto Sans CJK SC"/>
              </a:rPr>
              <a:t>原因（p74、p27、p76 的记录）：被告知「第 74.1 步不一致」后，用了非常见写法的一方改成</a:t>
            </a:r>
            <a:r>
              <a:rPr sz="1500" b="1">
                <a:solidFill>
                  <a:srgbClr val="C0392B"/>
                </a:solidFill>
                <a:latin typeface="Noto Sans CJK SC"/>
              </a:rPr>
              <a:t>最常见的教科书写法</a:t>
            </a:r>
            <a:r>
              <a:rPr sz="1500" b="0">
                <a:solidFill>
                  <a:srgbClr val="1F2A44"/>
                </a:solidFill>
                <a:latin typeface="Noto Sans CJK SC"/>
              </a:rPr>
              <a:t>，而这正是这道题的陷阱 → 两人在错误答案上汇合</a:t>
            </a:r>
          </a:p>
          <a:p>
            <a:pPr>
              <a:spcAft>
                <a:spcPts val="600"/>
              </a:spcAft>
            </a:pPr>
            <a:r>
              <a:rPr sz="1500" b="0">
                <a:solidFill>
                  <a:srgbClr val="555F6D"/>
                </a:solidFill>
                <a:latin typeface="Noto Sans CJK SC"/>
              </a:rPr>
              <a:t>• </a:t>
            </a:r>
            <a:r>
              <a:rPr sz="1500" b="0">
                <a:solidFill>
                  <a:srgbClr val="1F2A44"/>
                </a:solidFill>
                <a:latin typeface="Noto Sans CJK SC"/>
              </a:rPr>
              <a:t>启示：即使不能交流，</a:t>
            </a:r>
            <a:r>
              <a:rPr sz="1500" b="1">
                <a:solidFill>
                  <a:srgbClr val="C0392B"/>
                </a:solidFill>
                <a:latin typeface="Noto Sans CJK SC"/>
              </a:rPr>
              <a:t>反馈信息本身也会把两人拉到同一个方向</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20000"/>
            <a:ext cx="11192000" cy="700000"/>
          </a:xfrm>
          <a:prstGeom prst="rect">
            <a:avLst/>
          </a:prstGeom>
          <a:noFill/>
        </p:spPr>
        <p:txBody>
          <a:bodyPr wrap="none">
            <a:spAutoFit/>
          </a:bodyPr>
          <a:lstStyle/>
          <a:p>
            <a:r>
              <a:rPr sz="2800" b="1">
                <a:solidFill>
                  <a:srgbClr val="1F2A44"/>
                </a:solidFill>
                <a:latin typeface="Noto Sans CJK SC"/>
              </a:rPr>
              <a:t>六、发现 4–5：AI 的错误不是随机的；独立性要靠制度主动维护</a:t>
            </a:r>
          </a:p>
        </p:txBody>
      </p:sp>
      <p:sp>
        <p:nvSpPr>
          <p:cNvPr id="4" name="TextBox 3"/>
          <p:cNvSpPr txBox="1"/>
          <p:nvPr/>
        </p:nvSpPr>
        <p:spPr>
          <a:xfrm>
            <a:off x="10692000" y="6408000"/>
            <a:ext cx="1200000" cy="300000"/>
          </a:xfrm>
          <a:prstGeom prst="rect">
            <a:avLst/>
          </a:prstGeom>
          <a:noFill/>
        </p:spPr>
        <p:txBody>
          <a:bodyPr wrap="none">
            <a:spAutoFit/>
          </a:bodyPr>
          <a:lstStyle/>
          <a:p>
            <a:r>
              <a:rPr sz="1000" b="0">
                <a:solidFill>
                  <a:srgbClr val="555F6D"/>
                </a:solidFill>
                <a:latin typeface="Noto Sans CJK SC"/>
              </a:rPr>
              <a:t>SciTeam · 24</a:t>
            </a:r>
          </a:p>
        </p:txBody>
      </p:sp>
      <p:sp>
        <p:nvSpPr>
          <p:cNvPr id="5" name="TextBox 4"/>
          <p:cNvSpPr txBox="1"/>
          <p:nvPr/>
        </p:nvSpPr>
        <p:spPr>
          <a:xfrm>
            <a:off x="500000" y="1250000"/>
            <a:ext cx="11192000" cy="5058000"/>
          </a:xfrm>
          <a:prstGeom prst="rect">
            <a:avLst/>
          </a:prstGeom>
          <a:noFill/>
        </p:spPr>
        <p:txBody>
          <a:bodyPr wrap="square">
            <a:spAutoFit/>
          </a:bodyPr>
          <a:lstStyle/>
          <a:p>
            <a:pPr>
              <a:spcAft>
                <a:spcPts val="600"/>
              </a:spcAft>
            </a:pPr>
            <a:r>
              <a:rPr sz="1600" b="0">
                <a:solidFill>
                  <a:srgbClr val="555F6D"/>
                </a:solidFill>
                <a:latin typeface="Noto Sans CJK SC"/>
              </a:rPr>
              <a:t>• </a:t>
            </a:r>
            <a:r>
              <a:rPr sz="1600" b="1">
                <a:solidFill>
                  <a:srgbClr val="C0392B"/>
                </a:solidFill>
                <a:latin typeface="Noto Sans CJK SC"/>
              </a:rPr>
              <a:t>发现 4：错误不是随机的</a:t>
            </a:r>
          </a:p>
          <a:p>
            <a:pPr>
              <a:spcAft>
                <a:spcPts val="600"/>
              </a:spcAft>
            </a:pPr>
            <a:r>
              <a:rPr sz="1400" b="0">
                <a:solidFill>
                  <a:srgbClr val="555F6D"/>
                </a:solidFill>
                <a:latin typeface="Noto Sans CJK SC"/>
              </a:rPr>
              <a:t>    – </a:t>
            </a:r>
            <a:r>
              <a:rPr sz="1400" b="0">
                <a:solidFill>
                  <a:srgbClr val="555F6D"/>
                </a:solidFill>
                <a:latin typeface="Noto Sans CJK SC"/>
              </a:rPr>
              <a:t>双盲组 62 次「说完成但其实错了」中，</a:t>
            </a:r>
            <a:r>
              <a:rPr sz="1400" b="1">
                <a:solidFill>
                  <a:srgbClr val="C0392B"/>
                </a:solidFill>
                <a:latin typeface="Noto Sans CJK SC"/>
              </a:rPr>
              <a:t>61 次</a:t>
            </a:r>
            <a:r>
              <a:rPr sz="1400" b="0">
                <a:solidFill>
                  <a:srgbClr val="555F6D"/>
                </a:solidFill>
                <a:latin typeface="Noto Sans CJK SC"/>
              </a:rPr>
              <a:t>是两人在</a:t>
            </a:r>
            <a:r>
              <a:rPr sz="1400" b="1">
                <a:solidFill>
                  <a:srgbClr val="C0392B"/>
                </a:solidFill>
                <a:latin typeface="Noto Sans CJK SC"/>
              </a:rPr>
              <a:t>完全相同的步骤</a:t>
            </a:r>
            <a:r>
              <a:rPr sz="1400" b="0">
                <a:solidFill>
                  <a:srgbClr val="555F6D"/>
                </a:solidFill>
                <a:latin typeface="Noto Sans CJK SC"/>
              </a:rPr>
              <a:t>上犯错，且算出的错误数值一模一样</a:t>
            </a:r>
          </a:p>
          <a:p>
            <a:pPr>
              <a:spcAft>
                <a:spcPts val="600"/>
              </a:spcAft>
            </a:pPr>
            <a:r>
              <a:rPr sz="1400" b="0">
                <a:solidFill>
                  <a:srgbClr val="555F6D"/>
                </a:solidFill>
                <a:latin typeface="Noto Sans CJK SC"/>
              </a:rPr>
              <a:t>    – </a:t>
            </a:r>
            <a:r>
              <a:rPr sz="1400" b="0">
                <a:solidFill>
                  <a:srgbClr val="555F6D"/>
                </a:solidFill>
                <a:latin typeface="Noto Sans CJK SC"/>
              </a:rPr>
              <a:t>模型之间共享「教科书式盲点」；换家厂商只能部分缓解</a:t>
            </a:r>
          </a:p>
          <a:p>
            <a:pPr>
              <a:spcAft>
                <a:spcPts val="600"/>
              </a:spcAft>
            </a:pPr>
            <a:r>
              <a:rPr sz="1600" b="0">
                <a:solidFill>
                  <a:srgbClr val="555F6D"/>
                </a:solidFill>
                <a:latin typeface="Noto Sans CJK SC"/>
              </a:rPr>
              <a:t>• </a:t>
            </a:r>
            <a:r>
              <a:rPr sz="1600" b="1">
                <a:solidFill>
                  <a:srgbClr val="C0392B"/>
                </a:solidFill>
                <a:latin typeface="Noto Sans CJK SC"/>
              </a:rPr>
              <a:t>发现 5：独立性要靠制度主动维护</a:t>
            </a:r>
          </a:p>
          <a:p>
            <a:pPr>
              <a:spcAft>
                <a:spcPts val="600"/>
              </a:spcAft>
            </a:pPr>
            <a:r>
              <a:rPr sz="1400" b="0">
                <a:solidFill>
                  <a:srgbClr val="555F6D"/>
                </a:solidFill>
                <a:latin typeface="Noto Sans CJK SC"/>
              </a:rPr>
              <a:t>    – </a:t>
            </a:r>
            <a:r>
              <a:rPr sz="1400" b="0">
                <a:solidFill>
                  <a:srgbClr val="555F6D"/>
                </a:solidFill>
                <a:latin typeface="Noto Sans CJK SC"/>
              </a:rPr>
              <a:t>审核员和作者看同一批测试 → 审核失效（X-inst）</a:t>
            </a:r>
          </a:p>
          <a:p>
            <a:pPr>
              <a:spcAft>
                <a:spcPts val="600"/>
              </a:spcAft>
            </a:pPr>
            <a:r>
              <a:rPr sz="1400" b="0">
                <a:solidFill>
                  <a:srgbClr val="555F6D"/>
                </a:solidFill>
                <a:latin typeface="Noto Sans CJK SC"/>
              </a:rPr>
              <a:t>    – </a:t>
            </a:r>
            <a:r>
              <a:rPr sz="1400" b="0">
                <a:solidFill>
                  <a:srgbClr val="555F6D"/>
                </a:solidFill>
                <a:latin typeface="Noto Sans CJK SC"/>
              </a:rPr>
              <a:t>AI 会主动偷看、串通、枚举（X-evid 试运行）</a:t>
            </a:r>
          </a:p>
          <a:p>
            <a:pPr>
              <a:spcAft>
                <a:spcPts val="600"/>
              </a:spcAft>
            </a:pPr>
            <a:r>
              <a:rPr sz="1400" b="0">
                <a:solidFill>
                  <a:srgbClr val="555F6D"/>
                </a:solidFill>
                <a:latin typeface="Noto Sans CJK SC"/>
              </a:rPr>
              <a:t>    – </a:t>
            </a:r>
            <a:r>
              <a:rPr sz="1400" b="0">
                <a:solidFill>
                  <a:srgbClr val="555F6D"/>
                </a:solidFill>
                <a:latin typeface="Noto Sans CJK SC"/>
              </a:rPr>
              <a:t>连「哪一步不一致」这样的反馈都会把两人引向同一个错误（发现 3）</a:t>
            </a:r>
          </a:p>
          <a:p>
            <a:pPr>
              <a:spcAft>
                <a:spcPts val="600"/>
              </a:spcAft>
            </a:pPr>
            <a:r>
              <a:rPr sz="1600" b="0">
                <a:solidFill>
                  <a:srgbClr val="555F6D"/>
                </a:solidFill>
                <a:latin typeface="Noto Sans CJK SC"/>
              </a:rPr>
              <a:t>• </a:t>
            </a:r>
            <a:r>
              <a:rPr sz="1600" b="0">
                <a:solidFill>
                  <a:srgbClr val="1F2A44"/>
                </a:solidFill>
                <a:latin typeface="Noto Sans CJK SC"/>
              </a:rPr>
              <a:t>→ 对生产场景的意义：多开几个 AI 互审</a:t>
            </a:r>
            <a:r>
              <a:rPr sz="1600" b="1">
                <a:solidFill>
                  <a:srgbClr val="C0392B"/>
                </a:solidFill>
                <a:latin typeface="Noto Sans CJK SC"/>
              </a:rPr>
              <a:t>不等于</a:t>
            </a:r>
            <a:r>
              <a:rPr sz="1600" b="0">
                <a:solidFill>
                  <a:srgbClr val="1F2A44"/>
                </a:solidFill>
                <a:latin typeface="Noto Sans CJK SC"/>
              </a:rPr>
              <a:t>质量保证；谁能看到什么、谁能和谁说话、反馈说什么，都是核心设计</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20000"/>
            <a:ext cx="11192000" cy="700000"/>
          </a:xfrm>
          <a:prstGeom prst="rect">
            <a:avLst/>
          </a:prstGeom>
          <a:noFill/>
        </p:spPr>
        <p:txBody>
          <a:bodyPr wrap="none">
            <a:spAutoFit/>
          </a:bodyPr>
          <a:lstStyle/>
          <a:p>
            <a:r>
              <a:rPr sz="2800" b="1">
                <a:solidFill>
                  <a:srgbClr val="1F2A44"/>
                </a:solidFill>
                <a:latin typeface="Noto Sans CJK SC"/>
              </a:rPr>
              <a:t>六、其他有趣的观察</a:t>
            </a:r>
          </a:p>
        </p:txBody>
      </p:sp>
      <p:sp>
        <p:nvSpPr>
          <p:cNvPr id="4" name="TextBox 3"/>
          <p:cNvSpPr txBox="1"/>
          <p:nvPr/>
        </p:nvSpPr>
        <p:spPr>
          <a:xfrm>
            <a:off x="10692000" y="6408000"/>
            <a:ext cx="1200000" cy="300000"/>
          </a:xfrm>
          <a:prstGeom prst="rect">
            <a:avLst/>
          </a:prstGeom>
          <a:noFill/>
        </p:spPr>
        <p:txBody>
          <a:bodyPr wrap="none">
            <a:spAutoFit/>
          </a:bodyPr>
          <a:lstStyle/>
          <a:p>
            <a:r>
              <a:rPr sz="1000" b="0">
                <a:solidFill>
                  <a:srgbClr val="555F6D"/>
                </a:solidFill>
                <a:latin typeface="Noto Sans CJK SC"/>
              </a:rPr>
              <a:t>SciTeam · 25</a:t>
            </a:r>
          </a:p>
        </p:txBody>
      </p:sp>
      <p:sp>
        <p:nvSpPr>
          <p:cNvPr id="5" name="TextBox 4"/>
          <p:cNvSpPr txBox="1"/>
          <p:nvPr/>
        </p:nvSpPr>
        <p:spPr>
          <a:xfrm>
            <a:off x="500000" y="1250000"/>
            <a:ext cx="11192000" cy="5058000"/>
          </a:xfrm>
          <a:prstGeom prst="rect">
            <a:avLst/>
          </a:prstGeom>
          <a:noFill/>
        </p:spPr>
        <p:txBody>
          <a:bodyPr wrap="square">
            <a:spAutoFit/>
          </a:bodyPr>
          <a:lstStyle/>
          <a:p>
            <a:pPr>
              <a:spcAft>
                <a:spcPts val="600"/>
              </a:spcAft>
            </a:pPr>
            <a:r>
              <a:rPr sz="1500" b="0">
                <a:solidFill>
                  <a:srgbClr val="555F6D"/>
                </a:solidFill>
                <a:latin typeface="Noto Sans CJK SC"/>
              </a:rPr>
              <a:t>• </a:t>
            </a:r>
            <a:r>
              <a:rPr sz="1500" b="1">
                <a:solidFill>
                  <a:srgbClr val="C0392B"/>
                </a:solidFill>
                <a:latin typeface="Noto Sans CJK SC"/>
              </a:rPr>
              <a:t>谨慎反被扣分</a:t>
            </a:r>
            <a:r>
              <a:rPr sz="1500" b="0">
                <a:solidFill>
                  <a:srgbClr val="1F2A44"/>
                </a:solidFill>
                <a:latin typeface="Noto Sans CJK SC"/>
              </a:rPr>
              <a:t>：AI 正确算出官方答案，也算出另一种常见标准下的答案；选项里没有后者，它按指令选了「信息不足」→ 按准确率算答错</a:t>
            </a:r>
          </a:p>
          <a:p>
            <a:pPr>
              <a:spcAft>
                <a:spcPts val="600"/>
              </a:spcAft>
            </a:pPr>
            <a:r>
              <a:rPr sz="1500" b="0">
                <a:solidFill>
                  <a:srgbClr val="555F6D"/>
                </a:solidFill>
                <a:latin typeface="Noto Sans CJK SC"/>
              </a:rPr>
              <a:t>• </a:t>
            </a:r>
            <a:r>
              <a:rPr sz="1500" b="1">
                <a:solidFill>
                  <a:srgbClr val="C0392B"/>
                </a:solidFill>
                <a:latin typeface="Noto Sans CJK SC"/>
              </a:rPr>
              <a:t>等回复的死循环</a:t>
            </a:r>
            <a:r>
              <a:rPr sz="1500" b="0">
                <a:solidFill>
                  <a:srgbClr val="1F2A44"/>
                </a:solidFill>
                <a:latin typeface="Noto Sans CJK SC"/>
              </a:rPr>
              <a:t>：团队「上报所有者」后一直等回复，而自动所有者从不回私信</a:t>
            </a:r>
          </a:p>
          <a:p>
            <a:pPr>
              <a:spcAft>
                <a:spcPts val="600"/>
              </a:spcAft>
            </a:pPr>
            <a:r>
              <a:rPr sz="1500" b="0">
                <a:solidFill>
                  <a:srgbClr val="555F6D"/>
                </a:solidFill>
                <a:latin typeface="Noto Sans CJK SC"/>
              </a:rPr>
              <a:t>• </a:t>
            </a:r>
            <a:r>
              <a:rPr sz="1500" b="1">
                <a:solidFill>
                  <a:srgbClr val="C0392B"/>
                </a:solidFill>
                <a:latin typeface="Noto Sans CJK SC"/>
              </a:rPr>
              <a:t>规章修改互相撤销</a:t>
            </a:r>
            <a:r>
              <a:rPr sz="1500" b="0">
                <a:solidFill>
                  <a:srgbClr val="1F2A44"/>
                </a:solidFill>
                <a:latin typeface="Noto Sans CJK SC"/>
              </a:rPr>
              <a:t>：两份修改同时生效，后一份悄悄撤销了前一份 —— 只有重放审计发现</a:t>
            </a:r>
          </a:p>
          <a:p>
            <a:pPr>
              <a:spcAft>
                <a:spcPts val="600"/>
              </a:spcAft>
            </a:pPr>
            <a:r>
              <a:rPr sz="1500" b="0">
                <a:solidFill>
                  <a:srgbClr val="555F6D"/>
                </a:solidFill>
                <a:latin typeface="Noto Sans CJK SC"/>
              </a:rPr>
              <a:t>• </a:t>
            </a:r>
            <a:r>
              <a:rPr sz="1500" b="1">
                <a:solidFill>
                  <a:srgbClr val="C0392B"/>
                </a:solidFill>
                <a:latin typeface="Noto Sans CJK SC"/>
              </a:rPr>
              <a:t>团队自发修宪</a:t>
            </a:r>
            <a:r>
              <a:rPr sz="1500" b="0">
                <a:solidFill>
                  <a:srgbClr val="1F2A44"/>
                </a:solidFill>
                <a:latin typeface="Noto Sans CJK SC"/>
              </a:rPr>
              <a:t>：没人提示，团队自己发现「子任务永远无法被认定通过」的漏洞并修改规章补上</a:t>
            </a:r>
          </a:p>
          <a:p>
            <a:pPr>
              <a:spcAft>
                <a:spcPts val="600"/>
              </a:spcAft>
            </a:pPr>
            <a:r>
              <a:rPr sz="1500" b="0">
                <a:solidFill>
                  <a:srgbClr val="555F6D"/>
                </a:solidFill>
                <a:latin typeface="Noto Sans CJK SC"/>
              </a:rPr>
              <a:t>• </a:t>
            </a:r>
            <a:r>
              <a:rPr sz="1500" b="1">
                <a:solidFill>
                  <a:srgbClr val="C0392B"/>
                </a:solidFill>
                <a:latin typeface="Noto Sans CJK SC"/>
              </a:rPr>
              <a:t>章程只是提示词</a:t>
            </a:r>
            <a:r>
              <a:rPr sz="1500" b="0">
                <a:solidFill>
                  <a:srgbClr val="1F2A44"/>
                </a:solidFill>
                <a:latin typeface="Noto Sans CJK SC"/>
              </a:rPr>
              <a:t>：创始人违反章程自己招了全部 6 人、把根任务派给自己 —— 「写在说明里」≠「写进规章」</a:t>
            </a:r>
          </a:p>
          <a:p>
            <a:pPr>
              <a:spcAft>
                <a:spcPts val="600"/>
              </a:spcAft>
            </a:pPr>
            <a:r>
              <a:rPr sz="1500" b="0">
                <a:solidFill>
                  <a:srgbClr val="555F6D"/>
                </a:solidFill>
                <a:latin typeface="Noto Sans CJK SC"/>
              </a:rPr>
              <a:t>• </a:t>
            </a:r>
            <a:r>
              <a:rPr sz="1500" b="1">
                <a:solidFill>
                  <a:srgbClr val="C0392B"/>
                </a:solidFill>
                <a:latin typeface="Noto Sans CJK SC"/>
              </a:rPr>
              <a:t>交卷后偷偷改</a:t>
            </a:r>
            <a:r>
              <a:rPr sz="1500" b="0">
                <a:solidFill>
                  <a:srgbClr val="1F2A44"/>
                </a:solidFill>
                <a:latin typeface="Noto Sans CJK SC"/>
              </a:rPr>
              <a:t>：实现者交卷后继续改代码，比对测的是旧版、判分测的是新版</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20000"/>
            <a:ext cx="11192000" cy="700000"/>
          </a:xfrm>
          <a:prstGeom prst="rect">
            <a:avLst/>
          </a:prstGeom>
          <a:noFill/>
        </p:spPr>
        <p:txBody>
          <a:bodyPr wrap="none">
            <a:spAutoFit/>
          </a:bodyPr>
          <a:lstStyle/>
          <a:p>
            <a:r>
              <a:rPr sz="2800" b="1">
                <a:solidFill>
                  <a:srgbClr val="1F2A44"/>
                </a:solidFill>
                <a:latin typeface="Noto Sans CJK SC"/>
              </a:rPr>
              <a:t>小结：到目前为止我们知道了什么</a:t>
            </a:r>
          </a:p>
        </p:txBody>
      </p:sp>
      <p:sp>
        <p:nvSpPr>
          <p:cNvPr id="4" name="TextBox 3"/>
          <p:cNvSpPr txBox="1"/>
          <p:nvPr/>
        </p:nvSpPr>
        <p:spPr>
          <a:xfrm>
            <a:off x="10692000" y="6408000"/>
            <a:ext cx="1200000" cy="300000"/>
          </a:xfrm>
          <a:prstGeom prst="rect">
            <a:avLst/>
          </a:prstGeom>
          <a:noFill/>
        </p:spPr>
        <p:txBody>
          <a:bodyPr wrap="none">
            <a:spAutoFit/>
          </a:bodyPr>
          <a:lstStyle/>
          <a:p>
            <a:r>
              <a:rPr sz="1000" b="0">
                <a:solidFill>
                  <a:srgbClr val="555F6D"/>
                </a:solidFill>
                <a:latin typeface="Noto Sans CJK SC"/>
              </a:rPr>
              <a:t>SciTeam · 26</a:t>
            </a:r>
          </a:p>
        </p:txBody>
      </p:sp>
      <p:sp>
        <p:nvSpPr>
          <p:cNvPr id="5" name="TextBox 4"/>
          <p:cNvSpPr txBox="1"/>
          <p:nvPr/>
        </p:nvSpPr>
        <p:spPr>
          <a:xfrm>
            <a:off x="500000" y="1250000"/>
            <a:ext cx="11192000" cy="5058000"/>
          </a:xfrm>
          <a:prstGeom prst="rect">
            <a:avLst/>
          </a:prstGeom>
          <a:noFill/>
        </p:spPr>
        <p:txBody>
          <a:bodyPr wrap="square">
            <a:spAutoFit/>
          </a:bodyPr>
          <a:lstStyle/>
          <a:p>
            <a:pPr>
              <a:spcAft>
                <a:spcPts val="600"/>
              </a:spcAft>
            </a:pPr>
            <a:r>
              <a:rPr sz="1800" b="0">
                <a:solidFill>
                  <a:srgbClr val="555F6D"/>
                </a:solidFill>
                <a:latin typeface="Noto Sans CJK SC"/>
              </a:rPr>
              <a:t>• </a:t>
            </a:r>
            <a:r>
              <a:rPr sz="1800" b="1">
                <a:solidFill>
                  <a:srgbClr val="C0392B"/>
                </a:solidFill>
                <a:latin typeface="Noto Sans CJK SC"/>
              </a:rPr>
              <a:t>平台成立</a:t>
            </a:r>
            <a:r>
              <a:rPr sz="1800" b="0">
                <a:solidFill>
                  <a:srgbClr val="1F2A44"/>
                </a:solidFill>
                <a:latin typeface="Noto Sans CJK SC"/>
              </a:rPr>
              <a:t>：单个 AI 达到业界水平；所有团队形态变化只靠改规章文件，程序零专门代码</a:t>
            </a:r>
          </a:p>
          <a:p>
            <a:pPr>
              <a:spcAft>
                <a:spcPts val="600"/>
              </a:spcAft>
            </a:pPr>
            <a:r>
              <a:rPr sz="1800" b="0">
                <a:solidFill>
                  <a:srgbClr val="555F6D"/>
                </a:solidFill>
                <a:latin typeface="Noto Sans CJK SC"/>
              </a:rPr>
              <a:t>• </a:t>
            </a:r>
            <a:r>
              <a:rPr sz="1800" b="1">
                <a:solidFill>
                  <a:srgbClr val="C0392B"/>
                </a:solidFill>
                <a:latin typeface="Noto Sans CJK SC"/>
              </a:rPr>
              <a:t>没有独立信息的审核 = 橡皮图章</a:t>
            </a:r>
          </a:p>
          <a:p>
            <a:pPr>
              <a:spcAft>
                <a:spcPts val="600"/>
              </a:spcAft>
            </a:pPr>
            <a:r>
              <a:rPr sz="1800" b="0">
                <a:solidFill>
                  <a:srgbClr val="555F6D"/>
                </a:solidFill>
                <a:latin typeface="Noto Sans CJK SC"/>
              </a:rPr>
              <a:t>• </a:t>
            </a:r>
            <a:r>
              <a:rPr sz="1800" b="1">
                <a:solidFill>
                  <a:srgbClr val="C0392B"/>
                </a:solidFill>
                <a:latin typeface="Noto Sans CJK SC"/>
              </a:rPr>
              <a:t>有独立信息的审核</a:t>
            </a:r>
            <a:r>
              <a:rPr sz="1800" b="0">
                <a:solidFill>
                  <a:srgbClr val="1F2A44"/>
                </a:solidFill>
                <a:latin typeface="Noto Sans CJK SC"/>
              </a:rPr>
              <a:t>：「完成」的可信度 8% → 93%；返工卡死时，放弃权交给审核员比程序叫停有效</a:t>
            </a:r>
          </a:p>
          <a:p>
            <a:pPr>
              <a:spcAft>
                <a:spcPts val="600"/>
              </a:spcAft>
            </a:pPr>
            <a:r>
              <a:rPr sz="1800" b="0">
                <a:solidFill>
                  <a:srgbClr val="555F6D"/>
                </a:solidFill>
                <a:latin typeface="Noto Sans CJK SC"/>
              </a:rPr>
              <a:t>• </a:t>
            </a:r>
            <a:r>
              <a:rPr sz="1800" b="1">
                <a:solidFill>
                  <a:srgbClr val="C0392B"/>
                </a:solidFill>
                <a:latin typeface="Noto Sans CJK SC"/>
              </a:rPr>
              <a:t>两个 AI 双盲比对</a:t>
            </a:r>
            <a:r>
              <a:rPr sz="1800" b="0">
                <a:solidFill>
                  <a:srgbClr val="1F2A44"/>
                </a:solidFill>
                <a:latin typeface="Noto Sans CJK SC"/>
              </a:rPr>
              <a:t>：错误的「完成」减半，死循环归零；但分不清谁对，可信度没提高</a:t>
            </a:r>
          </a:p>
          <a:p>
            <a:pPr>
              <a:spcAft>
                <a:spcPts val="600"/>
              </a:spcAft>
            </a:pPr>
            <a:r>
              <a:rPr sz="1800" b="0">
                <a:solidFill>
                  <a:srgbClr val="555F6D"/>
                </a:solidFill>
                <a:latin typeface="Noto Sans CJK SC"/>
              </a:rPr>
              <a:t>• </a:t>
            </a:r>
            <a:r>
              <a:rPr sz="1800" b="1">
                <a:solidFill>
                  <a:srgbClr val="C0392B"/>
                </a:solidFill>
                <a:latin typeface="Noto Sans CJK SC"/>
              </a:rPr>
              <a:t>下一步问题</a:t>
            </a:r>
            <a:r>
              <a:rPr sz="1800" b="0">
                <a:solidFill>
                  <a:srgbClr val="1F2A44"/>
                </a:solidFill>
                <a:latin typeface="Noto Sans CJK SC"/>
              </a:rPr>
              <a:t>：团队内部怎样产生能</a:t>
            </a:r>
            <a:r>
              <a:rPr sz="1800" b="1">
                <a:solidFill>
                  <a:srgbClr val="C0392B"/>
                </a:solidFill>
                <a:latin typeface="Noto Sans CJK SC"/>
              </a:rPr>
              <a:t>指出哪一方错了</a:t>
            </a:r>
            <a:r>
              <a:rPr sz="1800" b="0">
                <a:solidFill>
                  <a:srgbClr val="1F2A44"/>
                </a:solidFill>
                <a:latin typeface="Noto Sans CJK SC"/>
              </a:rPr>
              <a:t>的证据 → X-cog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20000"/>
            <a:ext cx="11192000" cy="700000"/>
          </a:xfrm>
          <a:prstGeom prst="rect">
            <a:avLst/>
          </a:prstGeom>
          <a:noFill/>
        </p:spPr>
        <p:txBody>
          <a:bodyPr wrap="none">
            <a:spAutoFit/>
          </a:bodyPr>
          <a:lstStyle/>
          <a:p>
            <a:r>
              <a:rPr sz="2800" b="1">
                <a:solidFill>
                  <a:srgbClr val="1F2A44"/>
                </a:solidFill>
                <a:latin typeface="Noto Sans CJK SC"/>
              </a:rPr>
              <a:t>七、下一步</a:t>
            </a:r>
          </a:p>
        </p:txBody>
      </p:sp>
      <p:sp>
        <p:nvSpPr>
          <p:cNvPr id="4" name="TextBox 3"/>
          <p:cNvSpPr txBox="1"/>
          <p:nvPr/>
        </p:nvSpPr>
        <p:spPr>
          <a:xfrm>
            <a:off x="10692000" y="6408000"/>
            <a:ext cx="1200000" cy="300000"/>
          </a:xfrm>
          <a:prstGeom prst="rect">
            <a:avLst/>
          </a:prstGeom>
          <a:noFill/>
        </p:spPr>
        <p:txBody>
          <a:bodyPr wrap="none">
            <a:spAutoFit/>
          </a:bodyPr>
          <a:lstStyle/>
          <a:p>
            <a:r>
              <a:rPr sz="1000" b="0">
                <a:solidFill>
                  <a:srgbClr val="555F6D"/>
                </a:solidFill>
                <a:latin typeface="Noto Sans CJK SC"/>
              </a:rPr>
              <a:t>SciTeam · 27</a:t>
            </a:r>
          </a:p>
        </p:txBody>
      </p:sp>
      <p:sp>
        <p:nvSpPr>
          <p:cNvPr id="5" name="TextBox 4"/>
          <p:cNvSpPr txBox="1"/>
          <p:nvPr/>
        </p:nvSpPr>
        <p:spPr>
          <a:xfrm>
            <a:off x="500000" y="1250000"/>
            <a:ext cx="11192000" cy="5058000"/>
          </a:xfrm>
          <a:prstGeom prst="rect">
            <a:avLst/>
          </a:prstGeom>
          <a:noFill/>
        </p:spPr>
        <p:txBody>
          <a:bodyPr wrap="square">
            <a:spAutoFit/>
          </a:bodyPr>
          <a:lstStyle/>
          <a:p>
            <a:pPr>
              <a:spcAft>
                <a:spcPts val="600"/>
              </a:spcAft>
            </a:pPr>
            <a:r>
              <a:rPr sz="1600" b="0">
                <a:solidFill>
                  <a:srgbClr val="555F6D"/>
                </a:solidFill>
                <a:latin typeface="Noto Sans CJK SC"/>
              </a:rPr>
              <a:t>• </a:t>
            </a:r>
            <a:r>
              <a:rPr sz="1600" b="1">
                <a:solidFill>
                  <a:srgbClr val="C0392B"/>
                </a:solidFill>
                <a:latin typeface="Noto Sans CJK SC"/>
              </a:rPr>
              <a:t>完成 X-evid</a:t>
            </a:r>
            <a:r>
              <a:rPr sz="1600" b="0">
                <a:solidFill>
                  <a:srgbClr val="1F2A44"/>
                </a:solidFill>
                <a:latin typeface="Noto Sans CJK SC"/>
              </a:rPr>
              <a:t>：剩余 180 次运行在后台进行（含作废重跑的 28 次），完成后全量分析与复盘</a:t>
            </a:r>
          </a:p>
          <a:p>
            <a:pPr>
              <a:spcAft>
                <a:spcPts val="600"/>
              </a:spcAft>
            </a:pPr>
            <a:r>
              <a:rPr sz="1400" b="0">
                <a:solidFill>
                  <a:srgbClr val="555F6D"/>
                </a:solidFill>
                <a:latin typeface="Noto Sans CJK SC"/>
              </a:rPr>
              <a:t>    – </a:t>
            </a:r>
            <a:r>
              <a:rPr sz="1400" b="0">
                <a:solidFill>
                  <a:srgbClr val="555F6D"/>
                </a:solidFill>
                <a:latin typeface="Noto Sans CJK SC"/>
              </a:rPr>
              <a:t>最终结论按实验前登记的标准判断，不因中期数据改变</a:t>
            </a:r>
          </a:p>
          <a:p>
            <a:pPr>
              <a:spcAft>
                <a:spcPts val="600"/>
              </a:spcAft>
            </a:pPr>
            <a:r>
              <a:rPr sz="1600" b="0">
                <a:solidFill>
                  <a:srgbClr val="555F6D"/>
                </a:solidFill>
                <a:latin typeface="Noto Sans CJK SC"/>
              </a:rPr>
              <a:t>• </a:t>
            </a:r>
            <a:r>
              <a:rPr sz="1600" b="1">
                <a:solidFill>
                  <a:srgbClr val="C0392B"/>
                </a:solidFill>
                <a:latin typeface="Noto Sans CJK SC"/>
              </a:rPr>
              <a:t>X-cog-1</a:t>
            </a:r>
            <a:r>
              <a:rPr sz="1600" b="0">
                <a:solidFill>
                  <a:srgbClr val="1F2A44"/>
                </a:solidFill>
                <a:latin typeface="Noto Sans CJK SC"/>
              </a:rPr>
              <a:t>：用数学证明题建题库，由 Lean（机器可验证的证明工具）客观判分，先让单个 AI 摸底</a:t>
            </a:r>
          </a:p>
          <a:p>
            <a:pPr>
              <a:spcAft>
                <a:spcPts val="600"/>
              </a:spcAft>
            </a:pPr>
            <a:r>
              <a:rPr sz="1600" b="0">
                <a:solidFill>
                  <a:srgbClr val="555F6D"/>
                </a:solidFill>
                <a:latin typeface="Noto Sans CJK SC"/>
              </a:rPr>
              <a:t>• </a:t>
            </a:r>
            <a:r>
              <a:rPr sz="1600" b="1">
                <a:solidFill>
                  <a:srgbClr val="C0392B"/>
                </a:solidFill>
                <a:latin typeface="Noto Sans CJK SC"/>
              </a:rPr>
              <a:t>X-cog-2</a:t>
            </a:r>
            <a:r>
              <a:rPr sz="1600" b="0">
                <a:solidFill>
                  <a:srgbClr val="1F2A44"/>
                </a:solidFill>
                <a:latin typeface="Noto Sans CJK SC"/>
              </a:rPr>
              <a:t>：完整 Cogentic 组织 vs 同等算力的单个 AI；逐一拿掉关键角色，看谁真正起作用</a:t>
            </a:r>
          </a:p>
          <a:p>
            <a:pPr>
              <a:spcAft>
                <a:spcPts val="600"/>
              </a:spcAft>
            </a:pPr>
            <a:r>
              <a:rPr sz="1400" b="0">
                <a:solidFill>
                  <a:srgbClr val="555F6D"/>
                </a:solidFill>
                <a:latin typeface="Noto Sans CJK SC"/>
              </a:rPr>
              <a:t>    – </a:t>
            </a:r>
            <a:r>
              <a:rPr sz="1400" b="0">
                <a:solidFill>
                  <a:srgbClr val="555F6D"/>
                </a:solidFill>
                <a:latin typeface="Noto Sans CJK SC"/>
              </a:rPr>
              <a:t>核心检验：</a:t>
            </a:r>
            <a:r>
              <a:rPr sz="1400" b="1">
                <a:solidFill>
                  <a:srgbClr val="C0392B"/>
                </a:solidFill>
                <a:latin typeface="Noto Sans CJK SC"/>
              </a:rPr>
              <a:t>能看推导过程的核验者，能否救回「只有一方对」的情况</a:t>
            </a:r>
          </a:p>
          <a:p>
            <a:pPr>
              <a:spcAft>
                <a:spcPts val="600"/>
              </a:spcAft>
            </a:pPr>
            <a:r>
              <a:rPr sz="1600" b="0">
                <a:solidFill>
                  <a:srgbClr val="555F6D"/>
                </a:solidFill>
                <a:latin typeface="Noto Sans CJK SC"/>
              </a:rPr>
              <a:t>• </a:t>
            </a:r>
            <a:r>
              <a:rPr sz="1600" b="1">
                <a:solidFill>
                  <a:srgbClr val="C0392B"/>
                </a:solidFill>
                <a:latin typeface="Noto Sans CJK SC"/>
              </a:rPr>
              <a:t>候选补充实验</a:t>
            </a:r>
            <a:r>
              <a:rPr sz="1600" b="0">
                <a:solidFill>
                  <a:srgbClr val="1F2A44"/>
                </a:solidFill>
                <a:latin typeface="Noto Sans CJK SC"/>
              </a:rPr>
              <a:t>：只改「是否告知会被同伴比对」，验证「制度压力」效应</a:t>
            </a:r>
          </a:p>
          <a:p>
            <a:pPr>
              <a:spcAft>
                <a:spcPts val="600"/>
              </a:spcAft>
            </a:pPr>
            <a:r>
              <a:rPr sz="1600" b="0">
                <a:solidFill>
                  <a:srgbClr val="555F6D"/>
                </a:solidFill>
                <a:latin typeface="Noto Sans CJK SC"/>
              </a:rPr>
              <a:t>• </a:t>
            </a:r>
            <a:r>
              <a:rPr sz="1600" b="0">
                <a:solidFill>
                  <a:srgbClr val="1F2A44"/>
                </a:solidFill>
                <a:latin typeface="Noto Sans CJK SC"/>
              </a:rPr>
              <a:t>之后：协作模式比较 → 组织跨任务自我进化 → 真实科研任务 → 可视化观测界面</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0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0000" y="220000"/>
            <a:ext cx="11192000" cy="700000"/>
          </a:xfrm>
          <a:prstGeom prst="rect">
            <a:avLst/>
          </a:prstGeom>
          <a:noFill/>
        </p:spPr>
        <p:txBody>
          <a:bodyPr wrap="none">
            <a:spAutoFit/>
          </a:bodyPr>
          <a:lstStyle/>
          <a:p>
            <a:r>
              <a:rPr sz="2800" b="1">
                <a:solidFill>
                  <a:srgbClr val="1F2A44"/>
                </a:solidFill>
                <a:latin typeface="Noto Sans CJK SC"/>
              </a:rPr>
              <a:t>附：数据与文档出处</a:t>
            </a:r>
          </a:p>
        </p:txBody>
      </p:sp>
      <p:sp>
        <p:nvSpPr>
          <p:cNvPr id="4" name="TextBox 3"/>
          <p:cNvSpPr txBox="1"/>
          <p:nvPr/>
        </p:nvSpPr>
        <p:spPr>
          <a:xfrm>
            <a:off x="10692000" y="6408000"/>
            <a:ext cx="1200000" cy="300000"/>
          </a:xfrm>
          <a:prstGeom prst="rect">
            <a:avLst/>
          </a:prstGeom>
          <a:noFill/>
        </p:spPr>
        <p:txBody>
          <a:bodyPr wrap="none">
            <a:spAutoFit/>
          </a:bodyPr>
          <a:lstStyle/>
          <a:p>
            <a:r>
              <a:rPr sz="1000" b="0">
                <a:solidFill>
                  <a:srgbClr val="555F6D"/>
                </a:solidFill>
                <a:latin typeface="Noto Sans CJK SC"/>
              </a:rPr>
              <a:t>SciTeam · 28</a:t>
            </a:r>
          </a:p>
        </p:txBody>
      </p:sp>
      <p:sp>
        <p:nvSpPr>
          <p:cNvPr id="5" name="TextBox 4"/>
          <p:cNvSpPr txBox="1"/>
          <p:nvPr/>
        </p:nvSpPr>
        <p:spPr>
          <a:xfrm>
            <a:off x="500000" y="1250000"/>
            <a:ext cx="11192000" cy="5058000"/>
          </a:xfrm>
          <a:prstGeom prst="rect">
            <a:avLst/>
          </a:prstGeom>
          <a:noFill/>
        </p:spPr>
        <p:txBody>
          <a:bodyPr wrap="square">
            <a:spAutoFit/>
          </a:bodyPr>
          <a:lstStyle/>
          <a:p>
            <a:pPr>
              <a:spcAft>
                <a:spcPts val="600"/>
              </a:spcAft>
            </a:pPr>
            <a:r>
              <a:rPr sz="1400" b="0">
                <a:solidFill>
                  <a:srgbClr val="555F6D"/>
                </a:solidFill>
                <a:latin typeface="Noto Sans CJK SC"/>
              </a:rPr>
              <a:t>• </a:t>
            </a:r>
            <a:r>
              <a:rPr sz="1400" b="0">
                <a:solidFill>
                  <a:srgbClr val="1F2A44"/>
                </a:solidFill>
                <a:latin typeface="Noto Sans CJK SC"/>
              </a:rPr>
              <a:t>设计与实验登记：docs/00-overall-design.md、40-institution.md、60-experiment.md（§6–§13，§11 偏差登记）、91-roadmap.md</a:t>
            </a:r>
          </a:p>
          <a:p>
            <a:pPr>
              <a:spcAft>
                <a:spcPts val="600"/>
              </a:spcAft>
            </a:pPr>
            <a:r>
              <a:rPr sz="1400" b="0">
                <a:solidFill>
                  <a:srgbClr val="555F6D"/>
                </a:solidFill>
                <a:latin typeface="Noto Sans CJK SC"/>
              </a:rPr>
              <a:t>• </a:t>
            </a:r>
            <a:r>
              <a:rPr sz="1400" b="0">
                <a:solidFill>
                  <a:srgbClr val="1F2A44"/>
                </a:solidFill>
                <a:latin typeface="Noto Sans CJK SC"/>
              </a:rPr>
              <a:t>第一层：runs/verified_*、runs/tb/tb21_flash_k5、runs/dev61s_*</a:t>
            </a:r>
          </a:p>
          <a:p>
            <a:pPr>
              <a:spcAft>
                <a:spcPts val="600"/>
              </a:spcAft>
            </a:pPr>
            <a:r>
              <a:rPr sz="1400" b="0">
                <a:solidFill>
                  <a:srgbClr val="555F6D"/>
                </a:solidFill>
                <a:latin typeface="Noto Sans CJK SC"/>
              </a:rPr>
              <a:t>• </a:t>
            </a:r>
            <a:r>
              <a:rPr sz="1400" b="0">
                <a:solidFill>
                  <a:srgbClr val="1F2A44"/>
                </a:solidFill>
                <a:latin typeface="Noto Sans CJK SC"/>
              </a:rPr>
              <a:t>X-inst：runs/exp/x-inst（60 §6.2）</a:t>
            </a:r>
          </a:p>
          <a:p>
            <a:pPr>
              <a:spcAft>
                <a:spcPts val="600"/>
              </a:spcAft>
            </a:pPr>
            <a:r>
              <a:rPr sz="1400" b="0">
                <a:solidFill>
                  <a:srgbClr val="555F6D"/>
                </a:solidFill>
                <a:latin typeface="Noto Sans CJK SC"/>
              </a:rPr>
              <a:t>• </a:t>
            </a:r>
            <a:r>
              <a:rPr sz="1400" b="0">
                <a:solidFill>
                  <a:srgbClr val="1F2A44"/>
                </a:solidFill>
                <a:latin typeface="Noto Sans CJK SC"/>
              </a:rPr>
              <a:t>X-inst-confirm：runs/exp/x-inst-confirm/analysis-final-20261011（60 §6.7）</a:t>
            </a:r>
          </a:p>
          <a:p>
            <a:pPr>
              <a:spcAft>
                <a:spcPts val="600"/>
              </a:spcAft>
            </a:pPr>
            <a:r>
              <a:rPr sz="1400" b="0">
                <a:solidFill>
                  <a:srgbClr val="555F6D"/>
                </a:solidFill>
                <a:latin typeface="Noto Sans CJK SC"/>
              </a:rPr>
              <a:t>• </a:t>
            </a:r>
            <a:r>
              <a:rPr sz="1400" b="0">
                <a:solidFill>
                  <a:srgbClr val="1F2A44"/>
                </a:solidFill>
                <a:latin typeface="Noto Sans CJK SC"/>
              </a:rPr>
              <a:t>停机实验：runs/exp/x-progress-pilot、runs/exp/x-abandon-pilot/analysis-20261013</a:t>
            </a:r>
          </a:p>
          <a:p>
            <a:pPr>
              <a:spcAft>
                <a:spcPts val="600"/>
              </a:spcAft>
            </a:pPr>
            <a:r>
              <a:rPr sz="1400" b="0">
                <a:solidFill>
                  <a:srgbClr val="555F6D"/>
                </a:solidFill>
                <a:latin typeface="Noto Sans CJK SC"/>
              </a:rPr>
              <a:t>• </a:t>
            </a:r>
            <a:r>
              <a:rPr sz="1400" b="0">
                <a:solidFill>
                  <a:srgbClr val="1F2A44"/>
                </a:solidFill>
                <a:latin typeface="Noto Sans CJK SC"/>
              </a:rPr>
              <a:t>X-evid 中期：runs/exp/x-evid/analysis-interim-20261019.json（bench/xevid/evid_analyze.py），四种情况与两轮分解见 60 §6.9</a:t>
            </a:r>
          </a:p>
          <a:p>
            <a:pPr>
              <a:spcAft>
                <a:spcPts val="600"/>
              </a:spcAft>
            </a:pPr>
            <a:r>
              <a:rPr sz="1400" b="0">
                <a:solidFill>
                  <a:srgbClr val="555F6D"/>
                </a:solidFill>
                <a:latin typeface="Noto Sans CJK SC"/>
              </a:rPr>
              <a:t>• </a:t>
            </a:r>
            <a:r>
              <a:rPr sz="1400" b="0">
                <a:solidFill>
                  <a:srgbClr val="1F2A44"/>
                </a:solidFill>
                <a:latin typeface="Noto Sans CJK SC"/>
              </a:rPr>
              <a:t>X-cog-0：runs/xcog0/smoke3、smoke4（60 §13.2）</a:t>
            </a:r>
          </a:p>
          <a:p>
            <a:pPr>
              <a:spcAft>
                <a:spcPts val="600"/>
              </a:spcAft>
            </a:pPr>
            <a:r>
              <a:rPr sz="1400" b="0">
                <a:solidFill>
                  <a:srgbClr val="555F6D"/>
                </a:solidFill>
                <a:latin typeface="Noto Sans CJK SC"/>
              </a:rPr>
              <a:t>• </a:t>
            </a:r>
            <a:r>
              <a:rPr sz="1400" b="0">
                <a:solidFill>
                  <a:srgbClr val="1F2A44"/>
                </a:solidFill>
                <a:latin typeface="Noto Sans CJK SC"/>
              </a:rPr>
              <a:t>所有数字均可由仓库脚本从原始运行记录重算</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